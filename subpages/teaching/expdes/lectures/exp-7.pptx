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93" r:id="rId3"/>
    <p:sldId id="295" r:id="rId4"/>
    <p:sldId id="296" r:id="rId5"/>
    <p:sldId id="278" r:id="rId6"/>
    <p:sldId id="284" r:id="rId7"/>
    <p:sldId id="259" r:id="rId8"/>
    <p:sldId id="277" r:id="rId9"/>
    <p:sldId id="279" r:id="rId10"/>
    <p:sldId id="280" r:id="rId11"/>
    <p:sldId id="281" r:id="rId12"/>
    <p:sldId id="282" r:id="rId13"/>
    <p:sldId id="285" r:id="rId14"/>
    <p:sldId id="286" r:id="rId15"/>
    <p:sldId id="289" r:id="rId16"/>
    <p:sldId id="290" r:id="rId17"/>
    <p:sldId id="287" r:id="rId18"/>
    <p:sldId id="29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FF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3605"/>
  </p:normalViewPr>
  <p:slideViewPr>
    <p:cSldViewPr snapToGrid="0" snapToObjects="1">
      <p:cViewPr varScale="1">
        <p:scale>
          <a:sx n="100" d="100"/>
          <a:sy n="100" d="100"/>
        </p:scale>
        <p:origin x="18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54960-2FD2-2C48-A350-FA80853967F8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458265-9EB9-8B41-AC39-306DE9657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702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46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74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8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33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5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00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79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92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54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88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17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04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284" y="188499"/>
            <a:ext cx="10499463" cy="5958301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sz="4900" dirty="0"/>
            </a:br>
            <a:br>
              <a:rPr lang="en-US" sz="4900" dirty="0"/>
            </a:br>
            <a:r>
              <a:rPr lang="en-US" sz="6700" dirty="0"/>
              <a:t>Dimensionality Reduction</a:t>
            </a:r>
            <a:br>
              <a:rPr lang="en-US" sz="6700" dirty="0"/>
            </a:br>
            <a:r>
              <a:rPr lang="en-US" sz="4900" dirty="0"/>
              <a:t>Principal component analysis</a:t>
            </a:r>
            <a:br>
              <a:rPr lang="en-US" sz="4900" dirty="0"/>
            </a:br>
            <a:br>
              <a:rPr lang="en-US" sz="4900" dirty="0"/>
            </a:br>
            <a:r>
              <a:rPr lang="en-US" sz="4900" dirty="0"/>
              <a:t>Corrections for multiple tests  </a:t>
            </a:r>
            <a:br>
              <a:rPr lang="en-US" sz="4900" dirty="0"/>
            </a:br>
            <a:br>
              <a:rPr lang="en-US" sz="4900" dirty="0"/>
            </a:br>
            <a:r>
              <a:rPr lang="en-US" sz="4000" dirty="0"/>
              <a:t>Biology 683</a:t>
            </a: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r>
              <a:rPr lang="en-US" sz="2800" dirty="0"/>
              <a:t>Heath Blackmon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260" y="1345362"/>
            <a:ext cx="4993456" cy="427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31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What are multiple comparisons/testing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0923C46-C07B-6387-31EC-EAFFFB3BA6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70276"/>
              </p:ext>
            </p:extLst>
          </p:nvPr>
        </p:nvGraphicFramePr>
        <p:xfrm>
          <a:off x="2031999" y="1203960"/>
          <a:ext cx="812800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0141702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8672817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11825620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6122718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1248683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864378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Horsebean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Soybean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Sunflower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Meatmeal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Casein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017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181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051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47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934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34555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EC552B2-EEE3-A0D1-391E-9D5724B30C6A}"/>
              </a:ext>
            </a:extLst>
          </p:cNvPr>
          <p:cNvSpPr txBox="1"/>
          <p:nvPr/>
        </p:nvSpPr>
        <p:spPr>
          <a:xfrm>
            <a:off x="3957080" y="5176986"/>
            <a:ext cx="42778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FWER = 1-(1-0.05)</a:t>
            </a:r>
            <a:r>
              <a:rPr lang="en-US" sz="2800" baseline="30000" dirty="0"/>
              <a:t>15</a:t>
            </a:r>
          </a:p>
          <a:p>
            <a:pPr algn="ctr"/>
            <a:r>
              <a:rPr lang="en-US" sz="2800" dirty="0"/>
              <a:t>45% chance of false positive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C4FC7C-7DE7-9540-9344-74484D013478}"/>
              </a:ext>
            </a:extLst>
          </p:cNvPr>
          <p:cNvGrpSpPr/>
          <p:nvPr/>
        </p:nvGrpSpPr>
        <p:grpSpPr>
          <a:xfrm>
            <a:off x="1377537" y="3937000"/>
            <a:ext cx="6308801" cy="1087459"/>
            <a:chOff x="1377537" y="3937000"/>
            <a:chExt cx="6308801" cy="108745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0FF168E-597D-CCBB-F985-9D4240BC8B39}"/>
                </a:ext>
              </a:extLst>
            </p:cNvPr>
            <p:cNvSpPr txBox="1"/>
            <p:nvPr/>
          </p:nvSpPr>
          <p:spPr>
            <a:xfrm>
              <a:off x="4505659" y="3937000"/>
              <a:ext cx="31806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FWER = 1-(1-alpha)</a:t>
              </a:r>
              <a:r>
                <a:rPr lang="en-US" sz="2800" baseline="30000" dirty="0"/>
                <a:t>m</a:t>
              </a:r>
              <a:endParaRPr lang="en-US" sz="280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CC7B8F3-EE02-E40A-78CD-92B6CA250486}"/>
                </a:ext>
              </a:extLst>
            </p:cNvPr>
            <p:cNvSpPr txBox="1"/>
            <p:nvPr/>
          </p:nvSpPr>
          <p:spPr>
            <a:xfrm>
              <a:off x="1377537" y="4655127"/>
              <a:ext cx="22188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Family wise error rate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0863F82-2419-044D-F883-2628AE43354E}"/>
                </a:ext>
              </a:extLst>
            </p:cNvPr>
            <p:cNvCxnSpPr>
              <a:stCxn id="3" idx="3"/>
              <a:endCxn id="8" idx="1"/>
            </p:cNvCxnSpPr>
            <p:nvPr/>
          </p:nvCxnSpPr>
          <p:spPr>
            <a:xfrm flipV="1">
              <a:off x="3596350" y="4198610"/>
              <a:ext cx="909309" cy="64118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5312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Bonferroni Correction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C552B2-EEE3-A0D1-391E-9D5724B30C6A}"/>
              </a:ext>
            </a:extLst>
          </p:cNvPr>
          <p:cNvSpPr txBox="1"/>
          <p:nvPr/>
        </p:nvSpPr>
        <p:spPr>
          <a:xfrm>
            <a:off x="579704" y="3268687"/>
            <a:ext cx="42778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FWER = 1-(1-0.05)</a:t>
            </a:r>
            <a:r>
              <a:rPr lang="en-US" sz="2800" baseline="30000" dirty="0"/>
              <a:t>15</a:t>
            </a:r>
          </a:p>
          <a:p>
            <a:pPr algn="ctr"/>
            <a:r>
              <a:rPr lang="en-US" sz="2800" dirty="0"/>
              <a:t>45% chance of false positive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045FFA-0940-6F61-0067-D3ECA96B6562}"/>
              </a:ext>
            </a:extLst>
          </p:cNvPr>
          <p:cNvSpPr txBox="1"/>
          <p:nvPr/>
        </p:nvSpPr>
        <p:spPr>
          <a:xfrm>
            <a:off x="241300" y="1054100"/>
            <a:ext cx="10547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With the Bonferroni correctio method we divide alpha by number of comparisons being completed.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05016-14AE-1AC7-90CE-FA4E48380CD6}"/>
              </a:ext>
            </a:extLst>
          </p:cNvPr>
          <p:cNvSpPr txBox="1"/>
          <p:nvPr/>
        </p:nvSpPr>
        <p:spPr>
          <a:xfrm>
            <a:off x="6990912" y="3053242"/>
            <a:ext cx="409509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0.05/15 = 0.0033333</a:t>
            </a:r>
          </a:p>
          <a:p>
            <a:pPr algn="ctr"/>
            <a:r>
              <a:rPr lang="en-US" sz="2800" dirty="0"/>
              <a:t>FWER = 1-(1-0.00333)</a:t>
            </a:r>
            <a:r>
              <a:rPr lang="en-US" sz="2800" baseline="30000" dirty="0"/>
              <a:t>15</a:t>
            </a:r>
          </a:p>
          <a:p>
            <a:pPr algn="ctr"/>
            <a:r>
              <a:rPr lang="en-US" sz="2800" dirty="0"/>
              <a:t>5% chance of false positive</a:t>
            </a:r>
          </a:p>
        </p:txBody>
      </p:sp>
    </p:spTree>
    <p:extLst>
      <p:ext uri="{BB962C8B-B14F-4D97-AF65-F5344CB8AC3E}">
        <p14:creationId xmlns:p14="http://schemas.microsoft.com/office/powerpoint/2010/main" val="401308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False Discovery Rate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045FFA-0940-6F61-0067-D3ECA96B6562}"/>
              </a:ext>
            </a:extLst>
          </p:cNvPr>
          <p:cNvSpPr txBox="1"/>
          <p:nvPr/>
        </p:nvSpPr>
        <p:spPr>
          <a:xfrm>
            <a:off x="241300" y="1124442"/>
            <a:ext cx="11569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An alternative approach is to decide what proportion of positive results we are ok with having be false positives. This is a common approach in genetic scans (GWAS). The math is bit more complicated but FDR approaches and Bonferroni methods are available in the </a:t>
            </a:r>
            <a:r>
              <a:rPr lang="en-US" sz="2800" dirty="0" err="1"/>
              <a:t>p.adjust</a:t>
            </a:r>
            <a:r>
              <a:rPr lang="en-US" sz="2800" dirty="0"/>
              <a:t> function.</a:t>
            </a:r>
          </a:p>
        </p:txBody>
      </p:sp>
    </p:spTree>
    <p:extLst>
      <p:ext uri="{BB962C8B-B14F-4D97-AF65-F5344CB8AC3E}">
        <p14:creationId xmlns:p14="http://schemas.microsoft.com/office/powerpoint/2010/main" val="4182047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Why do we do dimensional reduction?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258184" y="1762460"/>
            <a:ext cx="1162901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4000" dirty="0"/>
              <a:t>Datasets are getting bigger and bigger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/>
              <a:t>Understanding our data is often the new bottleneck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/>
              <a:t>We can’t think well beyond 3-4 dimensions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dirty="0"/>
              <a:t>We can’t illustrate well beyond 2-3 dimensions</a:t>
            </a:r>
          </a:p>
          <a:p>
            <a:pPr marL="742950" indent="-742950">
              <a:buFont typeface="+mj-lt"/>
              <a:buAutoNum type="arabicPeriod"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89070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What is principal component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8184" y="1762460"/>
            <a:ext cx="1162901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/>
              <a:t>PCA is a dimensional reduction tool that takes many (possibly correlated) measurements and transforms it into a smaller set of uncorrelated </a:t>
            </a:r>
            <a:r>
              <a:rPr lang="en-US" sz="4000" dirty="0" err="1"/>
              <a:t>measuerments</a:t>
            </a:r>
            <a:r>
              <a:rPr lang="en-US" sz="4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68498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One dimensional data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175" y="1220549"/>
            <a:ext cx="5851927" cy="50945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81" y="1220549"/>
            <a:ext cx="1500305" cy="492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704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Two-dimensional data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788" y="1254125"/>
            <a:ext cx="2501900" cy="5118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226" y="1243037"/>
            <a:ext cx="5816768" cy="512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446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High dimensional data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88" y="1247776"/>
            <a:ext cx="6629400" cy="5105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43837" y="3215701"/>
            <a:ext cx="3937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What are our options?</a:t>
            </a:r>
          </a:p>
        </p:txBody>
      </p:sp>
    </p:spTree>
    <p:extLst>
      <p:ext uri="{BB962C8B-B14F-4D97-AF65-F5344CB8AC3E}">
        <p14:creationId xmlns:p14="http://schemas.microsoft.com/office/powerpoint/2010/main" val="587822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226" y="1243037"/>
            <a:ext cx="5816768" cy="51291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Dimensionality reduction - PCA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788" y="1254125"/>
            <a:ext cx="2501900" cy="5118100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557963" y="1650465"/>
            <a:ext cx="4272234" cy="3464460"/>
            <a:chOff x="6557963" y="1650465"/>
            <a:chExt cx="4272234" cy="3464460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6557963" y="1943200"/>
              <a:ext cx="3728495" cy="31717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10286458" y="1650465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PC1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593871" y="2540468"/>
            <a:ext cx="1292954" cy="1250763"/>
            <a:chOff x="7593871" y="2540468"/>
            <a:chExt cx="1292954" cy="1250763"/>
          </a:xfrm>
        </p:grpSpPr>
        <p:cxnSp>
          <p:nvCxnSpPr>
            <p:cNvPr id="8" name="Straight Arrow Connector 7"/>
            <p:cNvCxnSpPr/>
            <p:nvPr/>
          </p:nvCxnSpPr>
          <p:spPr>
            <a:xfrm flipH="1" flipV="1">
              <a:off x="8137610" y="2909800"/>
              <a:ext cx="749215" cy="88143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7593871" y="2540468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PC2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996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The math behind - PCA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0" y="935915"/>
            <a:ext cx="5186363" cy="1487538"/>
            <a:chOff x="0" y="935915"/>
            <a:chExt cx="6913902" cy="1983026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2668"/>
            <a:stretch/>
          </p:blipFill>
          <p:spPr>
            <a:xfrm>
              <a:off x="1365590" y="1751086"/>
              <a:ext cx="5548312" cy="1167855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0" y="2221250"/>
              <a:ext cx="1107369" cy="3692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 samples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736345" y="935915"/>
              <a:ext cx="1959072" cy="410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 measurements</a:t>
              </a:r>
            </a:p>
          </p:txBody>
        </p:sp>
        <p:sp>
          <p:nvSpPr>
            <p:cNvPr id="7" name="Left Brace 6"/>
            <p:cNvSpPr/>
            <p:nvPr/>
          </p:nvSpPr>
          <p:spPr>
            <a:xfrm>
              <a:off x="1151277" y="1892891"/>
              <a:ext cx="214313" cy="1026050"/>
            </a:xfrm>
            <a:prstGeom prst="leftBrac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Left Brace 7"/>
            <p:cNvSpPr/>
            <p:nvPr/>
          </p:nvSpPr>
          <p:spPr>
            <a:xfrm rot="5400000">
              <a:off x="4294454" y="-915952"/>
              <a:ext cx="381180" cy="4857716"/>
            </a:xfrm>
            <a:prstGeom prst="leftBrac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5193172" y="1684253"/>
            <a:ext cx="16597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= X</a:t>
            </a:r>
          </a:p>
          <a:p>
            <a:r>
              <a:rPr lang="en-US" dirty="0" err="1"/>
              <a:t>nxm</a:t>
            </a:r>
            <a:r>
              <a:rPr lang="en-US" dirty="0"/>
              <a:t> matrix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6412871" y="1438424"/>
            <a:ext cx="5649033" cy="1422349"/>
            <a:chOff x="6412871" y="1438424"/>
            <a:chExt cx="5649033" cy="1422349"/>
          </a:xfrm>
        </p:grpSpPr>
        <p:sp>
          <p:nvSpPr>
            <p:cNvPr id="9" name="Right Arrow 8"/>
            <p:cNvSpPr/>
            <p:nvPr/>
          </p:nvSpPr>
          <p:spPr>
            <a:xfrm>
              <a:off x="6412871" y="1801938"/>
              <a:ext cx="828675" cy="393900"/>
            </a:xfrm>
            <a:prstGeom prst="rightArrow">
              <a:avLst>
                <a:gd name="adj1" fmla="val 28237"/>
                <a:gd name="adj2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7278926" y="1438424"/>
                  <a:ext cx="2391489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/>
                    <a:t>PCA is an </a:t>
                  </a:r>
                </a:p>
                <a:p>
                  <a:pPr algn="ctr"/>
                  <a:r>
                    <a:rPr lang="en-US" dirty="0" err="1"/>
                    <a:t>Eigendecomposition</a:t>
                  </a:r>
                  <a:r>
                    <a:rPr lang="en-US" dirty="0"/>
                    <a:t> of 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8926" y="1438424"/>
                  <a:ext cx="2391489" cy="1200329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786" t="-3046" r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ight Arrow 12"/>
            <p:cNvSpPr/>
            <p:nvPr/>
          </p:nvSpPr>
          <p:spPr>
            <a:xfrm>
              <a:off x="9670415" y="1770865"/>
              <a:ext cx="828675" cy="393900"/>
            </a:xfrm>
            <a:prstGeom prst="rightArrow">
              <a:avLst>
                <a:gd name="adj1" fmla="val 28237"/>
                <a:gd name="adj2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10564698" y="1629274"/>
              <a:ext cx="1497206" cy="646331"/>
              <a:chOff x="10886070" y="1592456"/>
              <a:chExt cx="1497206" cy="64633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10886070" y="1653777"/>
                    <a:ext cx="28155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charset="0"/>
                            </a:rPr>
                            <m:t>𝑊</m:t>
                          </m:r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14" name="TextBox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86070" y="1653777"/>
                    <a:ext cx="281551" cy="276999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l="-19565" r="-17391" b="-869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" name="TextBox 14"/>
              <p:cNvSpPr txBox="1"/>
              <p:nvPr/>
            </p:nvSpPr>
            <p:spPr>
              <a:xfrm>
                <a:off x="11077406" y="1592456"/>
                <a:ext cx="130587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= loadings</a:t>
                </a:r>
              </a:p>
              <a:p>
                <a:r>
                  <a:rPr lang="en-US" dirty="0" err="1"/>
                  <a:t>mxm</a:t>
                </a:r>
                <a:r>
                  <a:rPr lang="en-US" dirty="0"/>
                  <a:t> matrix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10768105" y="2583774"/>
                  <a:ext cx="10488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∙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68105" y="2583774"/>
                  <a:ext cx="1048877" cy="27699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4651" r="-4651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/>
          <p:cNvGrpSpPr/>
          <p:nvPr/>
        </p:nvGrpSpPr>
        <p:grpSpPr>
          <a:xfrm>
            <a:off x="6852904" y="2905066"/>
            <a:ext cx="5271247" cy="1716736"/>
            <a:chOff x="6852904" y="2905066"/>
            <a:chExt cx="5271247" cy="1716736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0078" y="3580402"/>
              <a:ext cx="3136900" cy="1041400"/>
            </a:xfrm>
            <a:prstGeom prst="rect">
              <a:avLst/>
            </a:prstGeom>
          </p:spPr>
        </p:pic>
        <p:sp>
          <p:nvSpPr>
            <p:cNvPr id="20" name="Left Brace 19"/>
            <p:cNvSpPr/>
            <p:nvPr/>
          </p:nvSpPr>
          <p:spPr>
            <a:xfrm rot="16200000">
              <a:off x="9260660" y="497310"/>
              <a:ext cx="455736" cy="5271247"/>
            </a:xfrm>
            <a:prstGeom prst="leftBrac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852904" y="4441371"/>
            <a:ext cx="5160041" cy="2297871"/>
            <a:chOff x="6852904" y="4441371"/>
            <a:chExt cx="5160041" cy="2297871"/>
          </a:xfrm>
        </p:grpSpPr>
        <p:sp>
          <p:nvSpPr>
            <p:cNvPr id="21" name="TextBox 20"/>
            <p:cNvSpPr txBox="1"/>
            <p:nvPr/>
          </p:nvSpPr>
          <p:spPr>
            <a:xfrm>
              <a:off x="6852904" y="5169582"/>
              <a:ext cx="516004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This is T a </a:t>
              </a:r>
              <a:r>
                <a:rPr lang="en-US" sz="2400" dirty="0" err="1"/>
                <a:t>nxm</a:t>
              </a:r>
              <a:r>
                <a:rPr lang="en-US" sz="2400" dirty="0"/>
                <a:t> matrix that has our PC scores.  The first column of the matrix will be the one that captures the most variation.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 flipV="1">
              <a:off x="7728857" y="4441371"/>
              <a:ext cx="745813" cy="72821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1114082" y="4299758"/>
            <a:ext cx="5923234" cy="889349"/>
            <a:chOff x="1114082" y="4299758"/>
            <a:chExt cx="5923234" cy="889349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082" y="4299758"/>
              <a:ext cx="4072281" cy="889349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5377584" y="4429490"/>
              <a:ext cx="165973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= T</a:t>
              </a:r>
            </a:p>
            <a:p>
              <a:r>
                <a:rPr lang="en-US" dirty="0" err="1"/>
                <a:t>nxm</a:t>
              </a:r>
              <a:r>
                <a:rPr lang="en-US" dirty="0"/>
                <a:t> matrix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994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How do people use PCA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657" y="1784731"/>
            <a:ext cx="44631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data: 500,000 SNP genotypes for 3000 Europeans.</a:t>
            </a:r>
          </a:p>
          <a:p>
            <a:endParaRPr lang="en-US" dirty="0"/>
          </a:p>
          <a:p>
            <a:r>
              <a:rPr lang="en-US" dirty="0"/>
              <a:t>3000 rows</a:t>
            </a:r>
          </a:p>
          <a:p>
            <a:r>
              <a:rPr lang="en-US" dirty="0"/>
              <a:t>500,000 columns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are PC1 and PC2?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695" y="1371074"/>
            <a:ext cx="6552361" cy="485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782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How do people use PCA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657" y="1784731"/>
            <a:ext cx="44631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data: </a:t>
            </a:r>
          </a:p>
          <a:p>
            <a:r>
              <a:rPr lang="en-US" dirty="0"/>
              <a:t>Expression level for 1000s of genes</a:t>
            </a:r>
          </a:p>
          <a:p>
            <a:r>
              <a:rPr lang="en-US" dirty="0"/>
              <a:t>In 100s of cells (color indicates type of cell)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are the PCs here?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657" y="1110083"/>
            <a:ext cx="5856514" cy="559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02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How do people use PCA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1885" y="1457274"/>
            <a:ext cx="4310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data: </a:t>
            </a:r>
          </a:p>
          <a:p>
            <a:r>
              <a:rPr lang="en-US" dirty="0" err="1"/>
              <a:t>Radseq</a:t>
            </a:r>
            <a:r>
              <a:rPr lang="en-US" dirty="0"/>
              <a:t> data (genotypes at 100s of loci)</a:t>
            </a:r>
          </a:p>
          <a:p>
            <a:r>
              <a:rPr lang="en-US" dirty="0"/>
              <a:t>For a large number of species or strains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12" t="21795" b="6410"/>
          <a:stretch/>
        </p:blipFill>
        <p:spPr>
          <a:xfrm>
            <a:off x="4702625" y="1313804"/>
            <a:ext cx="7302953" cy="421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702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How do people use PCA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1885" y="1457274"/>
            <a:ext cx="4310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data: </a:t>
            </a:r>
          </a:p>
          <a:p>
            <a:r>
              <a:rPr lang="en-US" dirty="0" err="1"/>
              <a:t>Radseq</a:t>
            </a:r>
            <a:r>
              <a:rPr lang="en-US" dirty="0"/>
              <a:t> data (genotypes at 100s of loci)</a:t>
            </a:r>
          </a:p>
          <a:p>
            <a:r>
              <a:rPr lang="en-US" dirty="0"/>
              <a:t>For a large number of species or strains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12" t="21795" b="6410"/>
          <a:stretch/>
        </p:blipFill>
        <p:spPr>
          <a:xfrm>
            <a:off x="4702627" y="1313803"/>
            <a:ext cx="7302955" cy="421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970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How informative is your PCA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714" y="1317401"/>
            <a:ext cx="519974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Scree Plot: A plot that illustrates the proportion of total variance that is captured by each principal component.</a:t>
            </a:r>
          </a:p>
          <a:p>
            <a:endParaRPr lang="en-US" sz="3200" dirty="0"/>
          </a:p>
          <a:p>
            <a:r>
              <a:rPr lang="en-US" sz="3200" dirty="0"/>
              <a:t>Steep means you can greatly reduce dimensionality without losing information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7" b="12381"/>
          <a:stretch/>
        </p:blipFill>
        <p:spPr>
          <a:xfrm>
            <a:off x="5591628" y="1132115"/>
            <a:ext cx="5533757" cy="572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655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Alternatives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657" y="1784731"/>
            <a:ext cx="111905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Discriminate function analysis</a:t>
            </a:r>
            <a:r>
              <a:rPr lang="en-US" sz="2400" dirty="0"/>
              <a:t>: This is similar to PCA but you assign groupings to the data first and the discriminating components best parse your assigned groups from one another.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05713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5915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Doing PCA in 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DB565C-D571-DC4C-AEBB-42C41B7C6351}"/>
              </a:ext>
            </a:extLst>
          </p:cNvPr>
          <p:cNvSpPr txBox="1"/>
          <p:nvPr/>
        </p:nvSpPr>
        <p:spPr>
          <a:xfrm>
            <a:off x="445477" y="1219200"/>
            <a:ext cx="9841861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Standard Packages</a:t>
            </a:r>
          </a:p>
          <a:p>
            <a:r>
              <a:rPr lang="en-US" sz="2800" dirty="0"/>
              <a:t>stats – this is part of the base install and has the function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prcomp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dirty="0"/>
          </a:p>
          <a:p>
            <a:r>
              <a:rPr lang="en-US" sz="3600" b="1" dirty="0"/>
              <a:t>New Packages</a:t>
            </a:r>
          </a:p>
          <a:p>
            <a:r>
              <a:rPr lang="en-US" sz="2800" dirty="0"/>
              <a:t>car –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data.ellipse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/>
              <a:t>function</a:t>
            </a:r>
          </a:p>
          <a:p>
            <a:r>
              <a:rPr lang="en-US" sz="2800" dirty="0" err="1"/>
              <a:t>FactoMineR</a:t>
            </a:r>
            <a:r>
              <a:rPr lang="en-US" sz="2800" dirty="0"/>
              <a:t> –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PCA</a:t>
            </a:r>
            <a:r>
              <a:rPr lang="en-US" sz="2800" dirty="0"/>
              <a:t> function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18297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tx1"/>
          </a:solidFill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12247</TotalTime>
  <Words>540</Words>
  <Application>Microsoft Macintosh PowerPoint</Application>
  <PresentationFormat>Widescreen</PresentationFormat>
  <Paragraphs>118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Courier New</vt:lpstr>
      <vt:lpstr>Office Theme</vt:lpstr>
      <vt:lpstr>      Dimensionality Reduction Principal component analysis  Corrections for multiple tests    Biology 683    Heath Blackmon</vt:lpstr>
      <vt:lpstr>What are multiple comparisons/testing</vt:lpstr>
      <vt:lpstr>Bonferroni Correction</vt:lpstr>
      <vt:lpstr>False Discovery Rate</vt:lpstr>
      <vt:lpstr>Why do we do dimensional reduction?</vt:lpstr>
      <vt:lpstr>What is principal component analysis</vt:lpstr>
      <vt:lpstr>One dimensional data</vt:lpstr>
      <vt:lpstr>Two-dimensional data</vt:lpstr>
      <vt:lpstr>High dimensional data</vt:lpstr>
      <vt:lpstr>Dimensionality reduction - PCA</vt:lpstr>
      <vt:lpstr>The math behind - PCA</vt:lpstr>
      <vt:lpstr>How do people use PCA</vt:lpstr>
      <vt:lpstr>How do people use PCA</vt:lpstr>
      <vt:lpstr>How do people use PCA</vt:lpstr>
      <vt:lpstr>How do people use PCA</vt:lpstr>
      <vt:lpstr>How informative is your PCA</vt:lpstr>
      <vt:lpstr>Alternatives</vt:lpstr>
      <vt:lpstr>Doing PCA in 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and Bayes Theorem Biology 683  Lecture 3   Heath Blackmon</dc:title>
  <dc:creator>Heath Blackmon</dc:creator>
  <cp:lastModifiedBy>Blackmon, Heath L</cp:lastModifiedBy>
  <cp:revision>194</cp:revision>
  <cp:lastPrinted>2018-04-10T20:19:29Z</cp:lastPrinted>
  <dcterms:created xsi:type="dcterms:W3CDTF">2018-01-03T17:15:04Z</dcterms:created>
  <dcterms:modified xsi:type="dcterms:W3CDTF">2025-11-04T13:19:49Z</dcterms:modified>
</cp:coreProperties>
</file>