
<file path=[Content_Types].xml><?xml version="1.0" encoding="utf-8"?>
<ns0:Types xmlns:ns0="http://schemas.openxmlformats.org/package/2006/content-types">
  <ns0:Default Extension="xml" ContentType="application/vnd.openxmlformats-package.core-properties+xml"/>
  <ns0:Default Extension="tiff" ContentType="image/tiff"/>
  <ns0:Default Extension="png" ContentType="image/png"/>
  <ns0:Default Extension="rels" ContentType="application/vnd.openxmlformats-package.relationships+xml"/>
  <ns0:Override PartName="/docProps/app.xml" ContentType="application/vnd.openxmlformats-officedocument.extended-properties+xml"/>
  <ns0:Override PartName="/ppt/presentation.xml" ContentType="application/vnd.openxmlformats-officedocument.presentationml.presentation.main+xml"/>
  <ns0:Override PartName="/ppt/theme/theme1.xml" ContentType="application/vnd.openxmlformats-officedocument.theme+xml"/>
  <ns0:Override PartName="/ppt/slideMasters/slideMaster1.xml" ContentType="application/vnd.openxmlformats-officedocument.presentationml.slideMaster+xml"/>
  <ns0:Override PartName="/ppt/theme/theme2.xml" ContentType="application/vnd.openxmlformats-officedocument.theme+xml"/>
  <ns0:Override PartName="/ppt/slideLayouts/slideLayout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notesMasters/notesMaster1.xml" ContentType="application/vnd.openxmlformats-officedocument.presentationml.notesMaster+xml"/>
  <ns0:Override PartName="/ppt/theme/theme3.xml" ContentType="application/vnd.openxmlformats-officedocument.theme+xml"/>
  <ns0:Override PartName="/ppt/presProps.xml" ContentType="application/vnd.openxmlformats-officedocument.presentationml.presProps+xml"/>
  <ns0:Override PartName="/ppt/viewProps.xml" ContentType="application/vnd.openxmlformats-officedocument.presentationml.viewProps+xml"/>
  <ns0:Override PartName="/ppt/tableStyles.xml" ContentType="application/vnd.openxmlformats-officedocument.presentationml.tableStyles+xml"/>
  <ns0:Override PartName="/ppt/slides/slide1.xml" ContentType="application/vnd.openxmlformats-officedocument.presentationml.slide+xml"/>
  <ns0:Override PartName="/ppt/notesSlides/notesSlide1.xml" ContentType="application/vnd.openxmlformats-officedocument.presentationml.notesSlide+xml"/>
  <ns0:Override PartName="/ppt/slides/slide2.xml" ContentType="application/vnd.openxmlformats-officedocument.presentationml.slide+xml"/>
  <ns0:Override PartName="/ppt/notesSlides/notesSlide2.xml" ContentType="application/vnd.openxmlformats-officedocument.presentationml.notesSlide+xml"/>
  <ns0:Override PartName="/ppt/slides/slide3.xml" ContentType="application/vnd.openxmlformats-officedocument.presentationml.slide+xml"/>
  <ns0:Override PartName="/ppt/notesSlides/notesSlide3.xml" ContentType="application/vnd.openxmlformats-officedocument.presentationml.notesSlide+xml"/>
  <ns0:Override PartName="/ppt/slides/slide4.xml" ContentType="application/vnd.openxmlformats-officedocument.presentationml.slide+xml"/>
  <ns0:Override PartName="/ppt/notesSlides/notesSlide4.xml" ContentType="application/vnd.openxmlformats-officedocument.presentationml.notesSlide+xml"/>
  <ns0:Override PartName="/ppt/slides/slide5.xml" ContentType="application/vnd.openxmlformats-officedocument.presentationml.slide+xml"/>
  <ns0:Override PartName="/ppt/notesSlides/notesSlide5.xml" ContentType="application/vnd.openxmlformats-officedocument.presentationml.notesSlide+xml"/>
  <ns0:Override PartName="/ppt/slides/slide6.xml" ContentType="application/vnd.openxmlformats-officedocument.presentationml.slide+xml"/>
  <ns0:Override PartName="/ppt/notesSlides/notesSlide6.xml" ContentType="application/vnd.openxmlformats-officedocument.presentationml.notesSlide+xml"/>
  <ns0:Override PartName="/ppt/slides/slide7.xml" ContentType="application/vnd.openxmlformats-officedocument.presentationml.slide+xml"/>
  <ns0:Override PartName="/ppt/notesSlides/notesSlide7.xml" ContentType="application/vnd.openxmlformats-officedocument.presentationml.notesSlide+xml"/>
  <ns0:Override PartName="/ppt/slides/slide8.xml" ContentType="application/vnd.openxmlformats-officedocument.presentationml.slide+xml"/>
  <ns0:Override PartName="/ppt/notesSlides/notesSlide8.xml" ContentType="application/vnd.openxmlformats-officedocument.presentationml.notesSlide+xml"/>
  <ns0:Override PartName="/ppt/slides/slide9.xml" ContentType="application/vnd.openxmlformats-officedocument.presentationml.slide+xml"/>
  <ns0:Override PartName="/ppt/notesSlides/notesSlide9.xml" ContentType="application/vnd.openxmlformats-officedocument.presentationml.notesSlide+xml"/>
  <ns0:Override PartName="/ppt/slides/slide10.xml" ContentType="application/vnd.openxmlformats-officedocument.presentationml.slide+xml"/>
  <ns0:Override PartName="/ppt/notesSlides/notesSlide10.xml" ContentType="application/vnd.openxmlformats-officedocument.presentationml.notesSlide+xml"/>
  <ns0:Override PartName="/ppt/slides/slide11.xml" ContentType="application/vnd.openxmlformats-officedocument.presentationml.slide+xml"/>
  <ns0:Override PartName="/ppt/notesSlides/notesSlide11.xml" ContentType="application/vnd.openxmlformats-officedocument.presentationml.notesSlide+xml"/>
  <ns0:Override PartName="/ppt/slides/slide12.xml" ContentType="application/vnd.openxmlformats-officedocument.presentationml.slide+xml"/>
  <ns0:Override PartName="/ppt/notesSlides/notesSlide12.xml" ContentType="application/vnd.openxmlformats-officedocument.presentationml.notesSlide+xml"/>
  <ns0:Override PartName="/ppt/slides/slide13.xml" ContentType="application/vnd.openxmlformats-officedocument.presentationml.slide+xml"/>
  <ns0:Override PartName="/ppt/notesSlides/notesSlide13.xml" ContentType="application/vnd.openxmlformats-officedocument.presentationml.notesSlide+xml"/>
  <ns0:Override PartName="/ppt/slides/slide14.xml" ContentType="application/vnd.openxmlformats-officedocument.presentationml.slide+xml"/>
  <ns0:Override PartName="/ppt/notesSlides/notesSlide14.xml" ContentType="application/vnd.openxmlformats-officedocument.presentationml.notesSlide+xml"/>
  <ns0:Override PartName="/ppt/slides/slide15.xml" ContentType="application/vnd.openxmlformats-officedocument.presentationml.slide+xml"/>
  <ns0:Override PartName="/ppt/notesSlides/notesSlide15.xml" ContentType="application/vnd.openxmlformats-officedocument.presentationml.notesSlide+xml"/>
  <ns0:Override PartName="/ppt/slides/slide16.xml" ContentType="application/vnd.openxmlformats-officedocument.presentationml.slide+xml"/>
  <ns0:Override PartName="/ppt/notesSlides/notesSlide16.xml" ContentType="application/vnd.openxmlformats-officedocument.presentationml.notesSlide+xml"/>
  <ns0:Override PartName="/ppt/slides/slide17.xml" ContentType="application/vnd.openxmlformats-officedocument.presentationml.slide+xml"/>
  <ns0:Override PartName="/ppt/notesSlides/notesSlide17.xml" ContentType="application/vnd.openxmlformats-officedocument.presentationml.notesSlide+xml"/>
  <ns0:Override PartName="/ppt/slides/slide18.xml" ContentType="application/vnd.openxmlformats-officedocument.presentationml.slide+xml"/>
  <ns0:Override PartName="/ppt/notesSlides/notesSlide18.xml" ContentType="application/vnd.openxmlformats-officedocument.presentationml.notesSlide+xml"/>
  <ns0:Override PartName="/ppt/slides/slide19.xml" ContentType="application/vnd.openxmlformats-officedocument.presentationml.slide+xml"/>
  <ns0:Override PartName="/ppt/notesSlides/notesSlide19.xml" ContentType="application/vnd.openxmlformats-officedocument.presentationml.notesSlide+xml"/>
  <ns0:Override PartName="/ppt/slides/slide20.xml" ContentType="application/vnd.openxmlformats-officedocument.presentationml.slide+xml"/>
  <ns0:Override PartName="/ppt/notesSlides/notesSlide20.xml" ContentType="application/vnd.openxmlformats-officedocument.presentationml.notesSlide+xml"/>
  <ns0:Override PartName="/ppt/slides/slide21.xml" ContentType="application/vnd.openxmlformats-officedocument.presentationml.slide+xml"/>
  <ns0:Override PartName="/ppt/notesSlides/notesSlide21.xml" ContentType="application/vnd.openxmlformats-officedocument.presentationml.notesSlide+xml"/>
  <ns0:Override PartName="/ppt/slides/slide22.xml" ContentType="application/vnd.openxmlformats-officedocument.presentationml.slide+xml"/>
  <ns0:Override PartName="/ppt/notesSlides/notesSlide22.xml" ContentType="application/vnd.openxmlformats-officedocument.presentationml.notesSlide+xml"/>
  <ns0:Override PartName="/ppt/slides/slide23.xml" ContentType="application/vnd.openxmlformats-officedocument.presentationml.slide+xml"/>
  <ns0:Override PartName="/ppt/notesSlides/notesSlide23.xml" ContentType="application/vnd.openxmlformats-officedocument.presentationml.notesSlide+xml"/>
  <ns0:Override PartName="/ppt/slides/slide24.xml" ContentType="application/vnd.openxmlformats-officedocument.presentationml.slide+xml"/>
  <ns0:Override PartName="/ppt/notesSlides/notesSlide24.xml" ContentType="application/vnd.openxmlformats-officedocument.presentationml.notesSlide+xml"/>
  <ns0:Override PartName="/ppt/slides/slide25.xml" ContentType="application/vnd.openxmlformats-officedocument.presentationml.slide+xml"/>
  <ns0:Override PartName="/ppt/notesSlides/notesSlide25.xml" ContentType="application/vnd.openxmlformats-officedocument.presentationml.notesSlide+xml"/>
  <ns0:Override PartName="/ppt/slides/slide26.xml" ContentType="application/vnd.openxmlformats-officedocument.presentationml.slide+xml"/>
  <ns0:Override PartName="/ppt/notesSlides/notesSlide26.xml" ContentType="application/vnd.openxmlformats-officedocument.presentationml.notesSlide+xml"/>
  <ns0:Override PartName="/ppt/slides/slide27.xml" ContentType="application/vnd.openxmlformats-officedocument.presentationml.slide+xml"/>
  <ns0:Override PartName="/ppt/notesSlides/notesSlide27.xml" ContentType="application/vnd.openxmlformats-officedocument.presentationml.notesSlide+xml"/>
  <ns0:Override PartName="/ppt/slides/slide28.xml" ContentType="application/vnd.openxmlformats-officedocument.presentationml.slide+xml"/>
  <ns0:Override PartName="/ppt/notesSlides/notesSlide28.xml" ContentType="application/vnd.openxmlformats-officedocument.presentationml.notesSlide+xml"/>
  <ns0:Override PartName="/ppt/slides/slide29.xml" ContentType="application/vnd.openxmlformats-officedocument.presentationml.slide+xml"/>
  <ns0:Override PartName="/ppt/notesSlides/notesSlide29.xml" ContentType="application/vnd.openxmlformats-officedocument.presentationml.notesSlide+xml"/>
  <ns0:Override PartName="/ppt/slides/slide30.xml" ContentType="application/vnd.openxmlformats-officedocument.presentationml.slide+xml"/>
  <ns0:Override PartName="/ppt/notesSlides/notesSlide30.xml" ContentType="application/vnd.openxmlformats-officedocument.presentationml.notesSlide+xml"/>
  <ns0:Override PartName="/ppt/slides/slide31.xml" ContentType="application/vnd.openxmlformats-officedocument.presentationml.slide+xml"/>
  <ns0:Override PartName="/ppt/notesSlides/notesSlide31.xml" ContentType="application/vnd.openxmlformats-officedocument.presentationml.notesSlide+xml"/>
  <ns0:Override PartName="/ppt/slides/slide32.xml" ContentType="application/vnd.openxmlformats-officedocument.presentationml.slide+xml"/>
  <ns0:Override PartName="/ppt/notesSlides/notesSlide32.xml" ContentType="application/vnd.openxmlformats-officedocument.presentationml.notesSlide+xml"/>
  <ns0:Override PartName="/ppt/slides/slide33.xml" ContentType="application/vnd.openxmlformats-officedocument.presentationml.slide+xml"/>
  <ns0:Override PartName="/ppt/notesSlides/notesSlide33.xml" ContentType="application/vnd.openxmlformats-officedocument.presentationml.notesSlide+xml"/>
  <ns0:Override PartName="/ppt/slides/slide34.xml" ContentType="application/vnd.openxmlformats-officedocument.presentationml.slide+xml"/>
  <ns0:Override PartName="/ppt/notesSlides/notesSlide34.xml" ContentType="application/vnd.openxmlformats-officedocument.presentationml.notesSlide+xml"/>
  <ns0:Override PartName="/ppt/slides/slide35.xml" ContentType="application/vnd.openxmlformats-officedocument.presentationml.slide+xml"/>
  <ns0:Override PartName="/ppt/notesSlides/notesSlide35.xml" ContentType="application/vnd.openxmlformats-officedocument.presentationml.notesSlide+xml"/>
  <ns0:Override PartName="/ppt/slides/slide36.xml" ContentType="application/vnd.openxmlformats-officedocument.presentationml.slide+xml"/>
  <ns0:Override PartName="/ppt/notesSlides/notesSlide36.xml" ContentType="application/vnd.openxmlformats-officedocument.presentationml.notesSlide+xml"/>
  <ns0:Override PartName="/ppt/slides/slide37.xml" ContentType="application/vnd.openxmlformats-officedocument.presentationml.slide+xml"/>
  <ns0:Override PartName="/ppt/notesSlides/notesSlide37.xml" ContentType="application/vnd.openxmlformats-officedocument.presentationml.notesSlide+xml"/>
  <ns0:Override PartName="/ppt/slides/slide38.xml" ContentType="application/vnd.openxmlformats-officedocument.presentationml.slide+xml"/>
  <ns0:Override PartName="/ppt/notesSlides/notesSlide38.xml" ContentType="application/vnd.openxmlformats-officedocument.presentationml.notesSlide+xml"/>
  <ns0:Override PartName="/ppt/slides/slide39.xml" ContentType="application/vnd.openxmlformats-officedocument.presentationml.slide+xml"/>
  <ns0:Override PartName="/ppt/notesSlides/notesSlide39.xml" ContentType="application/vnd.openxmlformats-officedocument.presentationml.notesSlide+xml"/>
</ns0:Types>
</file>

<file path=_rels/.rels><?xml version='1.0' encoding='utf-8'?>
<ns0:Relationships xmlns:ns0="http://schemas.openxmlformats.org/package/2006/relationships"><ns0:Relationship Type="http://schemas.openxmlformats.org/package/2006/relationships/metadata/core-properties" Target="../docProps/core.xml" Id="rId1" /><ns0:Relationship Type="http://schemas.openxmlformats.org/officeDocument/2006/relationships/extended-properties" Target="../docProps/app.xml" Id="rId2" /><ns0:Relationship Type="http://schemas.openxmlformats.org/officeDocument/2006/relationships/officeDocument" Target="../ppt/presentation.xml" Id="rId3" /></ns0:Relationships>
</file>

<file path=ppt/presentation.xml><?xml version="1.0" encoding="utf-8"?>
<p:presentation xmlns:p="http://schemas.openxmlformats.org/presentationml/2006/main" xmlns:r="http://schemas.openxmlformats.org/officeDocument/2006/relationships">
  <p:sldMasterIdLst>
    <p:sldMasterId id="2147483648" r:id="rId2"/>
  </p:sldMasterIdLst>
  <p:notesMasterIdLst>
    <p:notesMasterId r:id="rId3"/>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2000" cy="6858000"/>
  <p:notesSz cx="6858000" cy="9144000"/>
</p:presentation>
</file>

<file path=ppt/presProps.xml><?xml version="1.0" encoding="utf-8"?>
<p:presentationPr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p="http://schemas.openxmlformats.org/presentationml/2006/main">
  <p:slideViewPr>
    <p:cSldViewPr snapToGrid="0" snapToObjects="1">
      <p:cViewPr>
        <p:scale>
          <a:sx n="1" d="1"/>
          <a:sy n="1" d="1"/>
        </p:scale>
        <p:origin x="0" y="0"/>
      </p:cViewPr>
      <p:guideLst/>
    </p:cSldViewPr>
  </p:slideViewPr>
  <p:gridSpacing cx="76200" cy="76200"/>
</p:viewPr>
</file>

<file path=ppt/_rels/presentation.xml.rels><?xml version='1.0' encoding='utf-8'?>
<ns0:Relationships xmlns:ns0="http://schemas.openxmlformats.org/package/2006/relationships"><ns0:Relationship Type="http://schemas.openxmlformats.org/officeDocument/2006/relationships/theme" Target="theme/theme1.xml" Id="rId1" /><ns0:Relationship Type="http://schemas.openxmlformats.org/officeDocument/2006/relationships/slideMaster" Target="slideMasters/slideMaster1.xml" Id="rId2" /><ns0:Relationship Type="http://schemas.openxmlformats.org/officeDocument/2006/relationships/notesMaster" Target="notesMasters/notesMaster1.xml" Id="rId3" /><ns0:Relationship Type="http://schemas.openxmlformats.org/officeDocument/2006/relationships/presProps" Target="presProps.xml" Id="rId4" /><ns0:Relationship Type="http://schemas.openxmlformats.org/officeDocument/2006/relationships/viewProps" Target="viewProps.xml" Id="rId5" /><ns0:Relationship Type="http://schemas.openxmlformats.org/officeDocument/2006/relationships/tableStyles" Target="tableStyles.xml" Id="rId6" /><ns0:Relationship Type="http://schemas.openxmlformats.org/officeDocument/2006/relationships/slide" Target="slides/slide1.xml" Id="rId7" /><ns0:Relationship Type="http://schemas.openxmlformats.org/officeDocument/2006/relationships/slide" Target="slides/slide2.xml" Id="rId8" /><ns0:Relationship Type="http://schemas.openxmlformats.org/officeDocument/2006/relationships/slide" Target="slides/slide3.xml" Id="rId9" /><ns0:Relationship Type="http://schemas.openxmlformats.org/officeDocument/2006/relationships/slide" Target="slides/slide4.xml" Id="rId10" /><ns0:Relationship Type="http://schemas.openxmlformats.org/officeDocument/2006/relationships/slide" Target="slides/slide5.xml" Id="rId11" /><ns0:Relationship Type="http://schemas.openxmlformats.org/officeDocument/2006/relationships/slide" Target="slides/slide6.xml" Id="rId12" /><ns0:Relationship Type="http://schemas.openxmlformats.org/officeDocument/2006/relationships/slide" Target="slides/slide7.xml" Id="rId13" /><ns0:Relationship Type="http://schemas.openxmlformats.org/officeDocument/2006/relationships/slide" Target="slides/slide8.xml" Id="rId14" /><ns0:Relationship Type="http://schemas.openxmlformats.org/officeDocument/2006/relationships/slide" Target="slides/slide9.xml" Id="rId15" /><ns0:Relationship Type="http://schemas.openxmlformats.org/officeDocument/2006/relationships/slide" Target="slides/slide10.xml" Id="rId16" /><ns0:Relationship Type="http://schemas.openxmlformats.org/officeDocument/2006/relationships/slide" Target="slides/slide11.xml" Id="rId17" /><ns0:Relationship Type="http://schemas.openxmlformats.org/officeDocument/2006/relationships/slide" Target="slides/slide12.xml" Id="rId18" /><ns0:Relationship Type="http://schemas.openxmlformats.org/officeDocument/2006/relationships/slide" Target="slides/slide13.xml" Id="rId19" /><ns0:Relationship Type="http://schemas.openxmlformats.org/officeDocument/2006/relationships/slide" Target="slides/slide14.xml" Id="rId20" /><ns0:Relationship Type="http://schemas.openxmlformats.org/officeDocument/2006/relationships/slide" Target="slides/slide15.xml" Id="rId21" /><ns0:Relationship Type="http://schemas.openxmlformats.org/officeDocument/2006/relationships/slide" Target="slides/slide16.xml" Id="rId22" /><ns0:Relationship Type="http://schemas.openxmlformats.org/officeDocument/2006/relationships/slide" Target="slides/slide17.xml" Id="rId23" /><ns0:Relationship Type="http://schemas.openxmlformats.org/officeDocument/2006/relationships/slide" Target="slides/slide18.xml" Id="rId24" /><ns0:Relationship Type="http://schemas.openxmlformats.org/officeDocument/2006/relationships/slide" Target="slides/slide19.xml" Id="rId25" /><ns0:Relationship Type="http://schemas.openxmlformats.org/officeDocument/2006/relationships/slide" Target="slides/slide20.xml" Id="rId26" /><ns0:Relationship Type="http://schemas.openxmlformats.org/officeDocument/2006/relationships/slide" Target="slides/slide21.xml" Id="rId27" /><ns0:Relationship Type="http://schemas.openxmlformats.org/officeDocument/2006/relationships/slide" Target="slides/slide22.xml" Id="rId28" /><ns0:Relationship Type="http://schemas.openxmlformats.org/officeDocument/2006/relationships/slide" Target="slides/slide23.xml" Id="rId29" /><ns0:Relationship Type="http://schemas.openxmlformats.org/officeDocument/2006/relationships/slide" Target="slides/slide24.xml" Id="rId30" /><ns0:Relationship Type="http://schemas.openxmlformats.org/officeDocument/2006/relationships/slide" Target="slides/slide25.xml" Id="rId31" /><ns0:Relationship Type="http://schemas.openxmlformats.org/officeDocument/2006/relationships/slide" Target="slides/slide26.xml" Id="rId32" /><ns0:Relationship Type="http://schemas.openxmlformats.org/officeDocument/2006/relationships/slide" Target="slides/slide27.xml" Id="rId33" /><ns0:Relationship Type="http://schemas.openxmlformats.org/officeDocument/2006/relationships/slide" Target="slides/slide28.xml" Id="rId34" /><ns0:Relationship Type="http://schemas.openxmlformats.org/officeDocument/2006/relationships/slide" Target="slides/slide29.xml" Id="rId35" /><ns0:Relationship Type="http://schemas.openxmlformats.org/officeDocument/2006/relationships/slide" Target="slides/slide30.xml" Id="rId36" /><ns0:Relationship Type="http://schemas.openxmlformats.org/officeDocument/2006/relationships/slide" Target="slides/slide31.xml" Id="rId37" /><ns0:Relationship Type="http://schemas.openxmlformats.org/officeDocument/2006/relationships/slide" Target="slides/slide32.xml" Id="rId38" /><ns0:Relationship Type="http://schemas.openxmlformats.org/officeDocument/2006/relationships/slide" Target="slides/slide33.xml" Id="rId39" /><ns0:Relationship Type="http://schemas.openxmlformats.org/officeDocument/2006/relationships/slide" Target="slides/slide34.xml" Id="rId40" /><ns0:Relationship Type="http://schemas.openxmlformats.org/officeDocument/2006/relationships/slide" Target="slides/slide35.xml" Id="rId41" /><ns0:Relationship Type="http://schemas.openxmlformats.org/officeDocument/2006/relationships/slide" Target="slides/slide36.xml" Id="rId42" /><ns0:Relationship Type="http://schemas.openxmlformats.org/officeDocument/2006/relationships/slide" Target="slides/slide37.xml" Id="rId43" /><ns0:Relationship Type="http://schemas.openxmlformats.org/officeDocument/2006/relationships/slide" Target="slides/slide38.xml" Id="rId44" /><ns0:Relationship Type="http://schemas.openxmlformats.org/officeDocument/2006/relationships/slide" Target="slides/slide39.xml" Id="rId45" /></ns0:Relationships>
</file>

<file path=ppt/notesMasters/_rels/notesMaster1.xml.rels><?xml version='1.0' encoding='utf-8'?>
<ns0:Relationships xmlns:ns0="http://schemas.openxmlformats.org/package/2006/relationships"><ns0:Relationship Type="http://schemas.openxmlformats.org/officeDocument/2006/relationships/theme" Target="../theme/theme3.xml" Id="rId1" /></ns0:Relationships>
</file>

<file path=ppt/notesMasters/notesMaster1.xml><?xml version="1.0" encoding="utf-8"?>
<p:notesMaster xmlns:a="http://schemas.openxmlformats.org/drawingml/2006/main"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ns0:Relationships xmlns:ns0="http://schemas.openxmlformats.org/package/2006/relationships"><ns0:Relationship Type="http://schemas.openxmlformats.org/officeDocument/2006/relationships/slide" Target="../slides/slide1.xml" Id="rId1" /><ns0:Relationship Type="http://schemas.openxmlformats.org/officeDocument/2006/relationships/notesMaster" Target="../notesMasters/notesMaster1.xml" Id="rId2" /></ns0:Relationships>
</file>

<file path=ppt/notesSlides/_rels/notesSlide2.xml.rels><?xml version='1.0' encoding='utf-8'?>
<ns0:Relationships xmlns:ns0="http://schemas.openxmlformats.org/package/2006/relationships"><ns0:Relationship Type="http://schemas.openxmlformats.org/officeDocument/2006/relationships/slide" Target="../slides/slide2.xml" Id="rId1" /><ns0:Relationship Type="http://schemas.openxmlformats.org/officeDocument/2006/relationships/notesMaster" Target="../notesMasters/notesMaster1.xml" Id="rId2" /></ns0:Relationships>
</file>

<file path=ppt/notesSlides/_rels/notesSlide3.xml.rels><?xml version='1.0' encoding='utf-8'?>
<ns0:Relationships xmlns:ns0="http://schemas.openxmlformats.org/package/2006/relationships"><ns0:Relationship Type="http://schemas.openxmlformats.org/officeDocument/2006/relationships/slide" Target="../slides/slide3.xml" Id="rId1" /><ns0:Relationship Type="http://schemas.openxmlformats.org/officeDocument/2006/relationships/notesMaster" Target="../notesMasters/notesMaster1.xml" Id="rId2" /></ns0:Relationships>
</file>

<file path=ppt/notesSlides/_rels/notesSlide4.xml.rels><?xml version='1.0' encoding='utf-8'?>
<ns0:Relationships xmlns:ns0="http://schemas.openxmlformats.org/package/2006/relationships"><ns0:Relationship Type="http://schemas.openxmlformats.org/officeDocument/2006/relationships/slide" Target="../slides/slide4.xml" Id="rId1" /><ns0:Relationship Type="http://schemas.openxmlformats.org/officeDocument/2006/relationships/notesMaster" Target="../notesMasters/notesMaster1.xml" Id="rId2" /></ns0:Relationships>
</file>

<file path=ppt/notesSlides/_rels/notesSlide5.xml.rels><?xml version='1.0' encoding='utf-8'?>
<ns0:Relationships xmlns:ns0="http://schemas.openxmlformats.org/package/2006/relationships"><ns0:Relationship Type="http://schemas.openxmlformats.org/officeDocument/2006/relationships/slide" Target="../slides/slide5.xml" Id="rId1" /><ns0:Relationship Type="http://schemas.openxmlformats.org/officeDocument/2006/relationships/notesMaster" Target="../notesMasters/notesMaster1.xml" Id="rId2" /></ns0:Relationships>
</file>

<file path=ppt/notesSlides/_rels/notesSlide6.xml.rels><?xml version='1.0' encoding='utf-8'?>
<ns0:Relationships xmlns:ns0="http://schemas.openxmlformats.org/package/2006/relationships"><ns0:Relationship Type="http://schemas.openxmlformats.org/officeDocument/2006/relationships/slide" Target="../slides/slide6.xml" Id="rId1" /><ns0:Relationship Type="http://schemas.openxmlformats.org/officeDocument/2006/relationships/notesMaster" Target="../notesMasters/notesMaster1.xml" Id="rId2" /></ns0:Relationships>
</file>

<file path=ppt/notesSlides/_rels/notesSlide7.xml.rels><?xml version='1.0' encoding='utf-8'?>
<ns0:Relationships xmlns:ns0="http://schemas.openxmlformats.org/package/2006/relationships"><ns0:Relationship Type="http://schemas.openxmlformats.org/officeDocument/2006/relationships/slide" Target="../slides/slide7.xml" Id="rId1" /><ns0:Relationship Type="http://schemas.openxmlformats.org/officeDocument/2006/relationships/notesMaster" Target="../notesMasters/notesMaster1.xml" Id="rId2" /></ns0:Relationships>
</file>

<file path=ppt/notesSlides/_rels/notesSlide8.xml.rels><?xml version='1.0' encoding='utf-8'?>
<ns0:Relationships xmlns:ns0="http://schemas.openxmlformats.org/package/2006/relationships"><ns0:Relationship Type="http://schemas.openxmlformats.org/officeDocument/2006/relationships/slide" Target="../slides/slide8.xml" Id="rId1" /><ns0:Relationship Type="http://schemas.openxmlformats.org/officeDocument/2006/relationships/notesMaster" Target="../notesMasters/notesMaster1.xml" Id="rId2" /></ns0:Relationships>
</file>

<file path=ppt/notesSlides/_rels/notesSlide9.xml.rels><?xml version='1.0' encoding='utf-8'?>
<ns0:Relationships xmlns:ns0="http://schemas.openxmlformats.org/package/2006/relationships"><ns0:Relationship Type="http://schemas.openxmlformats.org/officeDocument/2006/relationships/slide" Target="../slides/slide9.xml" Id="rId1" /><ns0:Relationship Type="http://schemas.openxmlformats.org/officeDocument/2006/relationships/notesMaster" Target="../notesMasters/notesMaster1.xml" Id="rId2" /></ns0:Relationships>
</file>

<file path=ppt/notesSlides/_rels/notesSlide10.xml.rels><?xml version='1.0' encoding='utf-8'?>
<ns0:Relationships xmlns:ns0="http://schemas.openxmlformats.org/package/2006/relationships"><ns0:Relationship Type="http://schemas.openxmlformats.org/officeDocument/2006/relationships/slide" Target="../slides/slide10.xml" Id="rId1" /><ns0:Relationship Type="http://schemas.openxmlformats.org/officeDocument/2006/relationships/notesMaster" Target="../notesMasters/notesMaster1.xml" Id="rId2" /></ns0:Relationships>
</file>

<file path=ppt/notesSlides/_rels/notesSlide11.xml.rels><?xml version='1.0' encoding='utf-8'?>
<ns0:Relationships xmlns:ns0="http://schemas.openxmlformats.org/package/2006/relationships"><ns0:Relationship Type="http://schemas.openxmlformats.org/officeDocument/2006/relationships/slide" Target="../slides/slide11.xml" Id="rId1" /><ns0:Relationship Type="http://schemas.openxmlformats.org/officeDocument/2006/relationships/notesMaster" Target="../notesMasters/notesMaster1.xml" Id="rId2" /></ns0:Relationships>
</file>

<file path=ppt/notesSlides/_rels/notesSlide12.xml.rels><?xml version='1.0' encoding='utf-8'?>
<ns0:Relationships xmlns:ns0="http://schemas.openxmlformats.org/package/2006/relationships"><ns0:Relationship Type="http://schemas.openxmlformats.org/officeDocument/2006/relationships/slide" Target="../slides/slide12.xml" Id="rId1" /><ns0:Relationship Type="http://schemas.openxmlformats.org/officeDocument/2006/relationships/notesMaster" Target="../notesMasters/notesMaster1.xml" Id="rId2" /></ns0:Relationships>
</file>

<file path=ppt/notesSlides/_rels/notesSlide13.xml.rels><?xml version='1.0' encoding='utf-8'?>
<ns0:Relationships xmlns:ns0="http://schemas.openxmlformats.org/package/2006/relationships"><ns0:Relationship Type="http://schemas.openxmlformats.org/officeDocument/2006/relationships/slide" Target="../slides/slide13.xml" Id="rId1" /><ns0:Relationship Type="http://schemas.openxmlformats.org/officeDocument/2006/relationships/notesMaster" Target="../notesMasters/notesMaster1.xml" Id="rId2" /></ns0:Relationships>
</file>

<file path=ppt/notesSlides/_rels/notesSlide14.xml.rels><?xml version='1.0' encoding='utf-8'?>
<ns0:Relationships xmlns:ns0="http://schemas.openxmlformats.org/package/2006/relationships"><ns0:Relationship Type="http://schemas.openxmlformats.org/officeDocument/2006/relationships/slide" Target="../slides/slide14.xml" Id="rId1" /><ns0:Relationship Type="http://schemas.openxmlformats.org/officeDocument/2006/relationships/notesMaster" Target="../notesMasters/notesMaster1.xml" Id="rId2" /></ns0:Relationships>
</file>

<file path=ppt/notesSlides/_rels/notesSlide15.xml.rels><?xml version='1.0' encoding='utf-8'?>
<ns0:Relationships xmlns:ns0="http://schemas.openxmlformats.org/package/2006/relationships"><ns0:Relationship Type="http://schemas.openxmlformats.org/officeDocument/2006/relationships/slide" Target="../slides/slide15.xml" Id="rId1" /><ns0:Relationship Type="http://schemas.openxmlformats.org/officeDocument/2006/relationships/notesMaster" Target="../notesMasters/notesMaster1.xml" Id="rId2" /></ns0:Relationships>
</file>

<file path=ppt/notesSlides/_rels/notesSlide16.xml.rels><?xml version='1.0' encoding='utf-8'?>
<ns0:Relationships xmlns:ns0="http://schemas.openxmlformats.org/package/2006/relationships"><ns0:Relationship Type="http://schemas.openxmlformats.org/officeDocument/2006/relationships/slide" Target="../slides/slide16.xml" Id="rId1" /><ns0:Relationship Type="http://schemas.openxmlformats.org/officeDocument/2006/relationships/notesMaster" Target="../notesMasters/notesMaster1.xml" Id="rId2" /></ns0:Relationships>
</file>

<file path=ppt/notesSlides/_rels/notesSlide17.xml.rels><?xml version='1.0' encoding='utf-8'?>
<ns0:Relationships xmlns:ns0="http://schemas.openxmlformats.org/package/2006/relationships"><ns0:Relationship Type="http://schemas.openxmlformats.org/officeDocument/2006/relationships/slide" Target="../slides/slide17.xml" Id="rId1" /><ns0:Relationship Type="http://schemas.openxmlformats.org/officeDocument/2006/relationships/notesMaster" Target="../notesMasters/notesMaster1.xml" Id="rId2" /></ns0:Relationships>
</file>

<file path=ppt/notesSlides/_rels/notesSlide18.xml.rels><?xml version='1.0' encoding='utf-8'?>
<ns0:Relationships xmlns:ns0="http://schemas.openxmlformats.org/package/2006/relationships"><ns0:Relationship Type="http://schemas.openxmlformats.org/officeDocument/2006/relationships/slide" Target="../slides/slide18.xml" Id="rId1" /><ns0:Relationship Type="http://schemas.openxmlformats.org/officeDocument/2006/relationships/notesMaster" Target="../notesMasters/notesMaster1.xml" Id="rId2" /></ns0:Relationships>
</file>

<file path=ppt/notesSlides/_rels/notesSlide19.xml.rels><?xml version='1.0' encoding='utf-8'?>
<ns0:Relationships xmlns:ns0="http://schemas.openxmlformats.org/package/2006/relationships"><ns0:Relationship Type="http://schemas.openxmlformats.org/officeDocument/2006/relationships/slide" Target="../slides/slide19.xml" Id="rId1" /><ns0:Relationship Type="http://schemas.openxmlformats.org/officeDocument/2006/relationships/notesMaster" Target="../notesMasters/notesMaster1.xml" Id="rId2" /></ns0:Relationships>
</file>

<file path=ppt/notesSlides/_rels/notesSlide20.xml.rels><?xml version='1.0' encoding='utf-8'?>
<ns0:Relationships xmlns:ns0="http://schemas.openxmlformats.org/package/2006/relationships"><ns0:Relationship Type="http://schemas.openxmlformats.org/officeDocument/2006/relationships/slide" Target="../slides/slide20.xml" Id="rId1" /><ns0:Relationship Type="http://schemas.openxmlformats.org/officeDocument/2006/relationships/notesMaster" Target="../notesMasters/notesMaster1.xml" Id="rId2" /></ns0:Relationships>
</file>

<file path=ppt/notesSlides/_rels/notesSlide21.xml.rels><?xml version='1.0' encoding='utf-8'?>
<ns0:Relationships xmlns:ns0="http://schemas.openxmlformats.org/package/2006/relationships"><ns0:Relationship Type="http://schemas.openxmlformats.org/officeDocument/2006/relationships/slide" Target="../slides/slide21.xml" Id="rId1" /><ns0:Relationship Type="http://schemas.openxmlformats.org/officeDocument/2006/relationships/notesMaster" Target="../notesMasters/notesMaster1.xml" Id="rId2" /></ns0:Relationships>
</file>

<file path=ppt/notesSlides/_rels/notesSlide22.xml.rels><?xml version='1.0' encoding='utf-8'?>
<ns0:Relationships xmlns:ns0="http://schemas.openxmlformats.org/package/2006/relationships"><ns0:Relationship Type="http://schemas.openxmlformats.org/officeDocument/2006/relationships/slide" Target="../slides/slide22.xml" Id="rId1" /><ns0:Relationship Type="http://schemas.openxmlformats.org/officeDocument/2006/relationships/notesMaster" Target="../notesMasters/notesMaster1.xml" Id="rId2" /></ns0:Relationships>
</file>

<file path=ppt/notesSlides/_rels/notesSlide23.xml.rels><?xml version='1.0' encoding='utf-8'?>
<ns0:Relationships xmlns:ns0="http://schemas.openxmlformats.org/package/2006/relationships"><ns0:Relationship Type="http://schemas.openxmlformats.org/officeDocument/2006/relationships/slide" Target="../slides/slide23.xml" Id="rId1" /><ns0:Relationship Type="http://schemas.openxmlformats.org/officeDocument/2006/relationships/notesMaster" Target="../notesMasters/notesMaster1.xml" Id="rId2" /></ns0:Relationships>
</file>

<file path=ppt/notesSlides/_rels/notesSlide24.xml.rels><?xml version='1.0' encoding='utf-8'?>
<ns0:Relationships xmlns:ns0="http://schemas.openxmlformats.org/package/2006/relationships"><ns0:Relationship Type="http://schemas.openxmlformats.org/officeDocument/2006/relationships/slide" Target="../slides/slide24.xml" Id="rId1" /><ns0:Relationship Type="http://schemas.openxmlformats.org/officeDocument/2006/relationships/notesMaster" Target="../notesMasters/notesMaster1.xml" Id="rId2" /></ns0:Relationships>
</file>

<file path=ppt/notesSlides/_rels/notesSlide25.xml.rels><?xml version='1.0' encoding='utf-8'?>
<ns0:Relationships xmlns:ns0="http://schemas.openxmlformats.org/package/2006/relationships"><ns0:Relationship Type="http://schemas.openxmlformats.org/officeDocument/2006/relationships/slide" Target="../slides/slide25.xml" Id="rId1" /><ns0:Relationship Type="http://schemas.openxmlformats.org/officeDocument/2006/relationships/notesMaster" Target="../notesMasters/notesMaster1.xml" Id="rId2" /></ns0:Relationships>
</file>

<file path=ppt/notesSlides/_rels/notesSlide26.xml.rels><?xml version='1.0' encoding='utf-8'?>
<ns0:Relationships xmlns:ns0="http://schemas.openxmlformats.org/package/2006/relationships"><ns0:Relationship Type="http://schemas.openxmlformats.org/officeDocument/2006/relationships/slide" Target="../slides/slide26.xml" Id="rId1" /><ns0:Relationship Type="http://schemas.openxmlformats.org/officeDocument/2006/relationships/notesMaster" Target="../notesMasters/notesMaster1.xml" Id="rId2" /></ns0:Relationships>
</file>

<file path=ppt/notesSlides/_rels/notesSlide27.xml.rels><?xml version='1.0' encoding='utf-8'?>
<ns0:Relationships xmlns:ns0="http://schemas.openxmlformats.org/package/2006/relationships"><ns0:Relationship Type="http://schemas.openxmlformats.org/officeDocument/2006/relationships/slide" Target="../slides/slide27.xml" Id="rId1" /><ns0:Relationship Type="http://schemas.openxmlformats.org/officeDocument/2006/relationships/notesMaster" Target="../notesMasters/notesMaster1.xml" Id="rId2" /></ns0:Relationships>
</file>

<file path=ppt/notesSlides/_rels/notesSlide28.xml.rels><?xml version='1.0' encoding='utf-8'?>
<ns0:Relationships xmlns:ns0="http://schemas.openxmlformats.org/package/2006/relationships"><ns0:Relationship Type="http://schemas.openxmlformats.org/officeDocument/2006/relationships/slide" Target="../slides/slide28.xml" Id="rId1" /><ns0:Relationship Type="http://schemas.openxmlformats.org/officeDocument/2006/relationships/notesMaster" Target="../notesMasters/notesMaster1.xml" Id="rId2" /></ns0:Relationships>
</file>

<file path=ppt/notesSlides/_rels/notesSlide29.xml.rels><?xml version='1.0' encoding='utf-8'?>
<ns0:Relationships xmlns:ns0="http://schemas.openxmlformats.org/package/2006/relationships"><ns0:Relationship Type="http://schemas.openxmlformats.org/officeDocument/2006/relationships/slide" Target="../slides/slide29.xml" Id="rId1" /><ns0:Relationship Type="http://schemas.openxmlformats.org/officeDocument/2006/relationships/notesMaster" Target="../notesMasters/notesMaster1.xml" Id="rId2" /></ns0:Relationships>
</file>

<file path=ppt/notesSlides/_rels/notesSlide30.xml.rels><?xml version='1.0' encoding='utf-8'?>
<ns0:Relationships xmlns:ns0="http://schemas.openxmlformats.org/package/2006/relationships"><ns0:Relationship Type="http://schemas.openxmlformats.org/officeDocument/2006/relationships/slide" Target="../slides/slide30.xml" Id="rId1" /><ns0:Relationship Type="http://schemas.openxmlformats.org/officeDocument/2006/relationships/notesMaster" Target="../notesMasters/notesMaster1.xml" Id="rId2" /></ns0:Relationships>
</file>

<file path=ppt/notesSlides/_rels/notesSlide31.xml.rels><?xml version='1.0' encoding='utf-8'?>
<ns0:Relationships xmlns:ns0="http://schemas.openxmlformats.org/package/2006/relationships"><ns0:Relationship Type="http://schemas.openxmlformats.org/officeDocument/2006/relationships/slide" Target="../slides/slide31.xml" Id="rId1" /><ns0:Relationship Type="http://schemas.openxmlformats.org/officeDocument/2006/relationships/notesMaster" Target="../notesMasters/notesMaster1.xml" Id="rId2" /></ns0:Relationships>
</file>

<file path=ppt/notesSlides/_rels/notesSlide32.xml.rels><?xml version='1.0' encoding='utf-8'?>
<ns0:Relationships xmlns:ns0="http://schemas.openxmlformats.org/package/2006/relationships"><ns0:Relationship Type="http://schemas.openxmlformats.org/officeDocument/2006/relationships/slide" Target="../slides/slide32.xml" Id="rId1" /><ns0:Relationship Type="http://schemas.openxmlformats.org/officeDocument/2006/relationships/notesMaster" Target="../notesMasters/notesMaster1.xml" Id="rId2" /></ns0:Relationships>
</file>

<file path=ppt/notesSlides/_rels/notesSlide33.xml.rels><?xml version='1.0' encoding='utf-8'?>
<ns0:Relationships xmlns:ns0="http://schemas.openxmlformats.org/package/2006/relationships"><ns0:Relationship Type="http://schemas.openxmlformats.org/officeDocument/2006/relationships/slide" Target="../slides/slide33.xml" Id="rId1" /><ns0:Relationship Type="http://schemas.openxmlformats.org/officeDocument/2006/relationships/notesMaster" Target="../notesMasters/notesMaster1.xml" Id="rId2" /></ns0:Relationships>
</file>

<file path=ppt/notesSlides/_rels/notesSlide34.xml.rels><?xml version='1.0' encoding='utf-8'?>
<ns0:Relationships xmlns:ns0="http://schemas.openxmlformats.org/package/2006/relationships"><ns0:Relationship Type="http://schemas.openxmlformats.org/officeDocument/2006/relationships/slide" Target="../slides/slide34.xml" Id="rId1" /><ns0:Relationship Type="http://schemas.openxmlformats.org/officeDocument/2006/relationships/notesMaster" Target="../notesMasters/notesMaster1.xml" Id="rId2" /></ns0:Relationships>
</file>

<file path=ppt/notesSlides/_rels/notesSlide35.xml.rels><?xml version='1.0' encoding='utf-8'?>
<ns0:Relationships xmlns:ns0="http://schemas.openxmlformats.org/package/2006/relationships"><ns0:Relationship Type="http://schemas.openxmlformats.org/officeDocument/2006/relationships/slide" Target="../slides/slide35.xml" Id="rId1" /><ns0:Relationship Type="http://schemas.openxmlformats.org/officeDocument/2006/relationships/notesMaster" Target="../notesMasters/notesMaster1.xml" Id="rId2" /></ns0:Relationships>
</file>

<file path=ppt/notesSlides/_rels/notesSlide36.xml.rels><?xml version='1.0' encoding='utf-8'?>
<ns0:Relationships xmlns:ns0="http://schemas.openxmlformats.org/package/2006/relationships"><ns0:Relationship Type="http://schemas.openxmlformats.org/officeDocument/2006/relationships/slide" Target="../slides/slide36.xml" Id="rId1" /><ns0:Relationship Type="http://schemas.openxmlformats.org/officeDocument/2006/relationships/notesMaster" Target="../notesMasters/notesMaster1.xml" Id="rId2" /></ns0:Relationships>
</file>

<file path=ppt/notesSlides/_rels/notesSlide37.xml.rels><?xml version='1.0' encoding='utf-8'?>
<ns0:Relationships xmlns:ns0="http://schemas.openxmlformats.org/package/2006/relationships"><ns0:Relationship Type="http://schemas.openxmlformats.org/officeDocument/2006/relationships/slide" Target="../slides/slide37.xml" Id="rId1" /><ns0:Relationship Type="http://schemas.openxmlformats.org/officeDocument/2006/relationships/notesMaster" Target="../notesMasters/notesMaster1.xml" Id="rId2" /></ns0:Relationships>
</file>

<file path=ppt/notesSlides/_rels/notesSlide38.xml.rels><?xml version='1.0' encoding='utf-8'?>
<ns0:Relationships xmlns:ns0="http://schemas.openxmlformats.org/package/2006/relationships"><ns0:Relationship Type="http://schemas.openxmlformats.org/officeDocument/2006/relationships/slide" Target="../slides/slide38.xml" Id="rId1" /><ns0:Relationship Type="http://schemas.openxmlformats.org/officeDocument/2006/relationships/notesMaster" Target="../notesMasters/notesMaster1.xml" Id="rId2" /></ns0:Relationships>
</file>

<file path=ppt/notesSlides/_rels/notesSlide39.xml.rels><?xml version='1.0' encoding='utf-8'?>
<ns0:Relationships xmlns:ns0="http://schemas.openxmlformats.org/package/2006/relationships"><ns0:Relationship Type="http://schemas.openxmlformats.org/officeDocument/2006/relationships/slide" Target="../slides/slide39.xml" Id="rId1" /><ns0:Relationship Type="http://schemas.openxmlformats.org/officeDocument/2006/relationships/notesMaster" Target="../notesMasters/notesMaster1.xml" Id="rId2" /></ns0:Relationships>
</file>

<file path=ppt/notesSlides/notesSlide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0.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1.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a:r>
              <a:t>Galton invented term eugenics</a:t>
            </a:r>
            <a:r>
              <a:t> cousins with </a:t>
            </a:r>
            <a:r>
              <a:t>darwin</a:t>
            </a:r>
            <a:r>
              <a:t> mention regression to the mean</a:t>
            </a:r>
          </a:p>
          <a:p>
            <a:r>
              <a:t>Pearson invented modern concept of and widely applied to r.  Also eugenicist and racist</a:t>
            </a:r>
            <a:endParaRP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2.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3.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4.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5.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6.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7.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8.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9.xml><?xml version="1.0" encoding="utf-8"?>
<p:notes xmlns:a="http://schemas.openxmlformats.org/drawingml/2006/main" xmlns:p="http://schemas.openxmlformats.org/presentationml/2006/main">
  <p:cSld>
    <p:spTree>
      <p:nvGrpSpPr>
        <p:cNvPr id="1" name=""/>
        <p:cNvGrpSpPr/>
        <p:nvPr/>
      </p:nvGrpSpPr>
      <p:grpSpPr>
        <a:xfrm/>
      </p:grpSpPr>
      <p:sp>
        <p:nvSpPr>
          <p:cNvPr id="2" name="Slide Image Placeholder 1"/>
          <p:cNvSpPr>
            <a:spLocks noGrp="1"/>
          </p:cNvSpPr>
          <p:nvPr>
            <p:ph type="sldImg" idx="0"/>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2.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3.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4.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5.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6.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7.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8.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9.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10.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_rels/slideLayout11.xml.rels><?xml version='1.0' encoding='utf-8'?>
<ns0:Relationships xmlns:ns0="http://schemas.openxmlformats.org/package/2006/relationships"><ns0:Relationship Type="http://schemas.openxmlformats.org/officeDocument/2006/relationships/slideMaster" Target="../slideMasters/slideMaster1.xml" Id="rId1" /></ns0:Relationships>
</file>

<file path=ppt/slideLayouts/slideLayout1.xml><?xml version="1.0" encoding="utf-8"?>
<p:sldLayout xmlns:a="http://schemas.openxmlformats.org/drawingml/2006/main" xmlns:p="http://schemas.openxmlformats.org/presentationml/2006/main" type="title" preserve="1">
  <p:cSld name="Title Slide">
    <p:bg>
      <p:bgPr>
        <a:solidFill>
          <a:srgbClr val="F2F2F2"/>
        </a:solidFill>
      </p:bgPr>
    </p:bg>
    <p:spTree>
      <p:nvGrpSpPr>
        <p:cNvPr id="1" name=""/>
        <p:cNvGrpSpPr/>
        <p:nvPr/>
      </p:nvGrpSpPr>
      <p:grpSpPr>
        <a:xfrm/>
      </p:grpSpPr>
      <p:sp>
        <p:nvSpPr>
          <p:cNvPr id="2" name="Title 1"/>
          <p:cNvSpPr>
            <a:spLocks noGrp="1"/>
          </p:cNvSpPr>
          <p:nvPr>
            <p:ph type="ctr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Subtitle 2"/>
          <p:cNvSpPr>
            <a:spLocks noGrp="1"/>
          </p:cNvSpPr>
          <p:nvPr>
            <p:ph type="subTitle" idx="1"/>
          </p:nvPr>
        </p:nvSpPr>
        <p:spPr>
          <a:xfrm>
            <a:off x="609600" y="2095500"/>
            <a:ext cx="10972800" cy="36195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a:defRPr sz="2100">
                <a:solidFill>
                  <a:srgbClr val="171717"/>
                </a:solidFill>
                <a:latin typeface="Arial"/>
                <a:ea typeface="Arial"/>
                <a:cs typeface="Arial"/>
              </a:defRPr>
            </a:pPr>
            <a:r>
              <a:rPr sz="2100">
                <a:solidFill>
                  <a:srgbClr val="171717"/>
                </a:solidFill>
                <a:latin typeface="Arial"/>
                <a:ea typeface="Arial"/>
                <a:cs typeface="Arial"/>
              </a:rPr>
              <a:t>Click to edit Master subtitle style</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2.xml><?xml version="1.0" encoding="utf-8"?>
<p:sldLayout xmlns:a="http://schemas.openxmlformats.org/drawingml/2006/main" xmlns:p="http://schemas.openxmlformats.org/presentationml/2006/main" type="obj" preserve="1">
  <p:cSld name="Title and Content">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Content Placeholder 2"/>
          <p:cNvSpPr>
            <a:spLocks noGrp="1"/>
          </p:cNvSpPr>
          <p:nvPr>
            <p:ph idx="1"/>
          </p:nvPr>
        </p:nvSpPr>
        <p:spPr>
          <a:xfrm>
            <a:off x="457200" y="1352550"/>
            <a:ext cx="11277600"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3.xml><?xml version="1.0" encoding="utf-8"?>
<p:sldLayout xmlns:a="http://schemas.openxmlformats.org/drawingml/2006/main" xmlns:p="http://schemas.openxmlformats.org/presentationml/2006/main" type="secHead" preserve="1">
  <p:cSld name="Section Header">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Text Placeholder 2"/>
          <p:cNvSpPr>
            <a:spLocks noGrp="1"/>
          </p:cNvSpPr>
          <p:nvPr>
            <p:ph type="body" idx="1"/>
          </p:nvPr>
        </p:nvSpPr>
        <p:spPr>
          <a:xfrm>
            <a:off x="609600" y="2095500"/>
            <a:ext cx="10972800" cy="36195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4.xml><?xml version="1.0" encoding="utf-8"?>
<p:sldLayout xmlns:a="http://schemas.openxmlformats.org/drawingml/2006/main" xmlns:p="http://schemas.openxmlformats.org/presentationml/2006/main" type="twoObj" preserve="1">
  <p:cSld name="Two Content">
    <p:bg>
      <p:bgPr>
        <a:solidFill>
          <a:srgbClr val="F2F2F2"/>
        </a:solidFill>
      </p:bgPr>
    </p:bg>
    <p:spTree>
      <p:nvGrpSpPr>
        <p:cNvPr id="1" name=""/>
        <p:cNvGrpSpPr/>
        <p:nvPr/>
      </p:nvGrpSpPr>
      <p:grpSpPr>
        <a:xfrm/>
      </p:grpSpPr>
      <p:sp>
        <p:nvSpPr>
          <p:cNvPr id="99" name="Argument and options card"/>
          <p:cNvSpPr/>
          <p:nvPr/>
        </p:nvSpPr>
        <p:spPr>
          <a:xfrm>
            <a:off x="7667625" y="1266825"/>
            <a:ext cx="4229100" cy="4953000"/>
          </a:xfrm>
          <a:prstGeom prst="rect">
            <a:avLst/>
          </a:prstGeom>
          <a:solidFill>
            <a:srgbClr val="FFFFFF"/>
          </a:solidFill>
          <a:ln w="12700">
            <a:solidFill>
              <a:srgbClr val="DDDDDD"/>
            </a:solidFill>
          </a:ln>
        </p:spPr>
      </p:sp>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Content Placeholder 2"/>
          <p:cNvSpPr>
            <a:spLocks noGrp="1"/>
          </p:cNvSpPr>
          <p:nvPr>
            <p:ph idx="1"/>
          </p:nvPr>
        </p:nvSpPr>
        <p:spPr>
          <a:xfrm>
            <a:off x="457200" y="1362075"/>
            <a:ext cx="6810375"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Content Placeholder 3"/>
          <p:cNvSpPr>
            <a:spLocks noGrp="1"/>
          </p:cNvSpPr>
          <p:nvPr>
            <p:ph idx="2"/>
          </p:nvPr>
        </p:nvSpPr>
        <p:spPr>
          <a:xfrm>
            <a:off x="7762875" y="1362075"/>
            <a:ext cx="3971925"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5" name="Date Placeholder 4"/>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6" name="Footer Placeholder 5"/>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7" name="Slide Number Placeholder 6"/>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5.xml><?xml version="1.0" encoding="utf-8"?>
<p:sldLayout xmlns:a="http://schemas.openxmlformats.org/drawingml/2006/main" xmlns:p="http://schemas.openxmlformats.org/presentationml/2006/main" type="twoTxTwoObj" preserve="1">
  <p:cSld name="Comparison">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Text Placeholder 2"/>
          <p:cNvSpPr>
            <a:spLocks noGrp="1"/>
          </p:cNvSpPr>
          <p:nvPr>
            <p:ph type="body" idx="1"/>
          </p:nvPr>
        </p:nvSpPr>
        <p:spPr>
          <a:xfrm>
            <a:off x="457200" y="1238250"/>
            <a:ext cx="6810375" cy="5334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4" name="Content Placeholder 3"/>
          <p:cNvSpPr>
            <a:spLocks noGrp="1"/>
          </p:cNvSpPr>
          <p:nvPr>
            <p:ph idx="2"/>
          </p:nvPr>
        </p:nvSpPr>
        <p:spPr>
          <a:xfrm>
            <a:off x="457200" y="1857375"/>
            <a:ext cx="6810375" cy="41433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5" name="Text Placeholder 4"/>
          <p:cNvSpPr>
            <a:spLocks noGrp="1"/>
          </p:cNvSpPr>
          <p:nvPr>
            <p:ph type="body" idx="3"/>
          </p:nvPr>
        </p:nvSpPr>
        <p:spPr>
          <a:xfrm>
            <a:off x="7762875" y="1238250"/>
            <a:ext cx="3971925" cy="5334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6" name="Content Placeholder 5"/>
          <p:cNvSpPr>
            <a:spLocks noGrp="1"/>
          </p:cNvSpPr>
          <p:nvPr>
            <p:ph idx="4"/>
          </p:nvPr>
        </p:nvSpPr>
        <p:spPr>
          <a:xfrm>
            <a:off x="7762875" y="1857375"/>
            <a:ext cx="3971925" cy="41433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7" name="Date Placeholder 6"/>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8" name="Footer Placeholder 7"/>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9" name="Slide Number Placeholder 8"/>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6.xml><?xml version="1.0" encoding="utf-8"?>
<p:sldLayout xmlns:a="http://schemas.openxmlformats.org/drawingml/2006/main" xmlns:p="http://schemas.openxmlformats.org/presentationml/2006/main" type="titleOnly" preserve="1">
  <p:cSld name="Title Only">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Date Placeholder 2"/>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4" name="Footer Placeholder 3"/>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5" name="Slide Number Placeholder 4"/>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7.xml><?xml version="1.0" encoding="utf-8"?>
<p:sldLayout xmlns:a="http://schemas.openxmlformats.org/drawingml/2006/main" xmlns:p="http://schemas.openxmlformats.org/presentationml/2006/main" type="blank" preserve="1">
  <p:cSld name="Blank">
    <p:bg>
      <p:bgPr>
        <a:solidFill>
          <a:srgbClr val="F2F2F2"/>
        </a:solidFill>
      </p:bgPr>
    </p:bg>
    <p:spTree>
      <p:nvGrpSpPr>
        <p:cNvPr id="1" name=""/>
        <p:cNvGrpSpPr/>
        <p:nvPr/>
      </p:nvGrpSpPr>
      <p:grpSpPr>
        <a:xfrm/>
      </p:grpSpPr>
      <p:sp>
        <p:nvSpPr>
          <p:cNvPr id="2" name="Date Placeholder 1"/>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3" name="Footer Placeholder 2"/>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4" name="Slide Number Placeholder 3"/>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8.xml><?xml version="1.0" encoding="utf-8"?>
<p:sldLayout xmlns:a="http://schemas.openxmlformats.org/drawingml/2006/main" xmlns:p="http://schemas.openxmlformats.org/presentationml/2006/main" type="objTx" preserve="1">
  <p:cSld name="Content with Caption">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Content Placeholder 2"/>
          <p:cNvSpPr>
            <a:spLocks noGrp="1"/>
          </p:cNvSpPr>
          <p:nvPr>
            <p:ph idx="1"/>
          </p:nvPr>
        </p:nvSpPr>
        <p:spPr>
          <a:xfrm>
            <a:off x="457200" y="1333500"/>
            <a:ext cx="7334250" cy="47625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Text Placeholder 3"/>
          <p:cNvSpPr>
            <a:spLocks noGrp="1"/>
          </p:cNvSpPr>
          <p:nvPr>
            <p:ph type="body" idx="2"/>
          </p:nvPr>
        </p:nvSpPr>
        <p:spPr>
          <a:xfrm>
            <a:off x="8191500" y="1333500"/>
            <a:ext cx="3524250" cy="4762500"/>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5" name="Date Placeholder 4"/>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6" name="Footer Placeholder 5"/>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7" name="Slide Number Placeholder 6"/>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9.xml><?xml version="1.0" encoding="utf-8"?>
<p:sldLayout xmlns:a="http://schemas.openxmlformats.org/drawingml/2006/main" xmlns:p="http://schemas.openxmlformats.org/presentationml/2006/main" type="picTx" preserve="1">
  <p:cSld name="Picture with Caption">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Picture Placeholder 2"/>
          <p:cNvSpPr>
            <a:spLocks noGrp="1"/>
          </p:cNvSpPr>
          <p:nvPr>
            <p:ph type="pic" idx="1"/>
          </p:nvPr>
        </p:nvSpPr>
        <p:spPr>
          <a:xfrm>
            <a:off x="457200" y="1352550"/>
            <a:ext cx="11277600"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endParaRPr/>
          </a:p>
        </p:txBody>
      </p:sp>
      <p:sp>
        <p:nvSpPr>
          <p:cNvPr id="4" name="Text Placeholder 3"/>
          <p:cNvSpPr>
            <a:spLocks noGrp="1"/>
          </p:cNvSpPr>
          <p:nvPr>
            <p:ph type="body" idx="2"/>
          </p:nvPr>
        </p:nvSpPr>
        <p:spPr>
          <a:xfrm>
            <a:off x="457200" y="1352550"/>
            <a:ext cx="11277600" cy="4714875"/>
          </a:xfrm>
        </p:spPr>
        <p:txBody>
          <a:bodyPr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p:txBody>
      </p:sp>
      <p:sp>
        <p:nvSpPr>
          <p:cNvPr id="5" name="Date Placeholder 4"/>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6" name="Footer Placeholder 5"/>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7" name="Slide Number Placeholder 6"/>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10.xml><?xml version="1.0" encoding="utf-8"?>
<p:sldLayout xmlns:a="http://schemas.openxmlformats.org/drawingml/2006/main" xmlns:p="http://schemas.openxmlformats.org/presentationml/2006/main" type="vertTx" preserve="1">
  <p:cSld name="Title and Vertical Text">
    <p:bg>
      <p:bgPr>
        <a:solidFill>
          <a:srgbClr val="F2F2F2"/>
        </a:solidFill>
      </p:bgPr>
    </p:bg>
    <p:spTree>
      <p:nvGrpSpPr>
        <p:cNvPr id="1" name=""/>
        <p:cNvGrpSpPr/>
        <p:nvPr/>
      </p:nvGrpSpPr>
      <p:grpSpPr>
        <a:xfrm/>
      </p:grpSpPr>
      <p:sp>
        <p:nvSpPr>
          <p:cNvPr id="2" name="Title 1"/>
          <p:cNvSpPr>
            <a:spLocks noGrp="1"/>
          </p:cNvSpPr>
          <p:nvPr>
            <p:ph type="title" idx="0"/>
          </p:nvPr>
        </p:nvSpPr>
        <p:spPr>
          <a:xfrm>
            <a:off x="0" y="0"/>
            <a:ext cx="12192000" cy="952500"/>
          </a:xfrm>
          <a:solidFill>
            <a:srgbClr val="000000"/>
          </a:solidFill>
        </p:spPr>
        <p:txBody>
          <a:bodyPr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Vertical Text Placeholder 2"/>
          <p:cNvSpPr>
            <a:spLocks noGrp="1"/>
          </p:cNvSpPr>
          <p:nvPr>
            <p:ph type="body" idx="1"/>
          </p:nvPr>
        </p:nvSpPr>
        <p:spPr>
          <a:xfrm>
            <a:off x="457200" y="1352550"/>
            <a:ext cx="11277600" cy="4714875"/>
          </a:xfrm>
        </p:spPr>
        <p:txBody>
          <a:bodyPr vert="eaVert"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Layouts/slideLayout11.xml><?xml version="1.0" encoding="utf-8"?>
<p:sldLayout xmlns:a="http://schemas.openxmlformats.org/drawingml/2006/main" xmlns:p="http://schemas.openxmlformats.org/presentationml/2006/main" type="vertTitleAndTx" preserve="1">
  <p:cSld name="Vertical Title and Text">
    <p:bg>
      <p:bgPr>
        <a:solidFill>
          <a:srgbClr val="F2F2F2"/>
        </a:solidFill>
      </p:bgPr>
    </p:bg>
    <p:spTree>
      <p:nvGrpSpPr>
        <p:cNvPr id="1" name=""/>
        <p:cNvGrpSpPr/>
        <p:nvPr/>
      </p:nvGrpSpPr>
      <p:grpSpPr>
        <a:xfrm/>
      </p:grpSpPr>
      <p:sp>
        <p:nvSpPr>
          <p:cNvPr id="2" name="Vertical Title 1"/>
          <p:cNvSpPr>
            <a:spLocks noGrp="1"/>
          </p:cNvSpPr>
          <p:nvPr>
            <p:ph type="title" idx="0"/>
          </p:nvPr>
        </p:nvSpPr>
        <p:spPr>
          <a:xfrm>
            <a:off x="0" y="0"/>
            <a:ext cx="12192000" cy="952500"/>
          </a:xfrm>
          <a:solidFill>
            <a:srgbClr val="000000"/>
          </a:solidFill>
        </p:spPr>
        <p:txBody>
          <a:bodyPr vert="eaVert"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Vertical Text Placeholder 2"/>
          <p:cNvSpPr>
            <a:spLocks noGrp="1"/>
          </p:cNvSpPr>
          <p:nvPr>
            <p:ph type="body" idx="1"/>
          </p:nvPr>
        </p:nvSpPr>
        <p:spPr>
          <a:xfrm>
            <a:off x="457200" y="1352550"/>
            <a:ext cx="11277600" cy="4714875"/>
          </a:xfrm>
        </p:spPr>
        <p:txBody>
          <a:bodyPr vert="eaVert"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Date Placeholder 3"/>
          <p:cNvSpPr>
            <a:spLocks noGrp="1"/>
          </p:cNvSpPr>
          <p:nvPr>
            <p:ph type="dt" idx="10"/>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11"/>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12"/>
          </p:nvPr>
        </p:nvSpPr>
        <p:spPr/>
        <p:txBody>
          <a:bodyPr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sldLayout>
</file>

<file path=ppt/slideMasters/_rels/slideMaster1.xml.rels><?xml version='1.0' encoding='utf-8'?>
<ns0:Relationships xmlns:ns0="http://schemas.openxmlformats.org/package/2006/relationships"><ns0:Relationship Type="http://schemas.openxmlformats.org/officeDocument/2006/relationships/theme" Target="../theme/theme2.xml" Id="rId1" /><ns0:Relationship Type="http://schemas.openxmlformats.org/officeDocument/2006/relationships/slideLayout" Target="../slideLayouts/slideLayout1.xml" Id="rId2" /><ns0:Relationship Type="http://schemas.openxmlformats.org/officeDocument/2006/relationships/slideLayout" Target="../slideLayouts/slideLayout2.xml" Id="rId3" /><ns0:Relationship Type="http://schemas.openxmlformats.org/officeDocument/2006/relationships/slideLayout" Target="../slideLayouts/slideLayout3.xml" Id="rId4" /><ns0:Relationship Type="http://schemas.openxmlformats.org/officeDocument/2006/relationships/slideLayout" Target="../slideLayouts/slideLayout4.xml" Id="rId5" /><ns0:Relationship Type="http://schemas.openxmlformats.org/officeDocument/2006/relationships/slideLayout" Target="../slideLayouts/slideLayout5.xml" Id="rId6" /><ns0:Relationship Type="http://schemas.openxmlformats.org/officeDocument/2006/relationships/slideLayout" Target="../slideLayouts/slideLayout6.xml" Id="rId7" /><ns0:Relationship Type="http://schemas.openxmlformats.org/officeDocument/2006/relationships/slideLayout" Target="../slideLayouts/slideLayout7.xml" Id="rId8" /><ns0:Relationship Type="http://schemas.openxmlformats.org/officeDocument/2006/relationships/slideLayout" Target="../slideLayouts/slideLayout8.xml" Id="rId9" /><ns0:Relationship Type="http://schemas.openxmlformats.org/officeDocument/2006/relationships/slideLayout" Target="../slideLayouts/slideLayout9.xml" Id="rId10" /><ns0:Relationship Type="http://schemas.openxmlformats.org/officeDocument/2006/relationships/slideLayout" Target="../slideLayouts/slideLayout10.xml" Id="rId11" /><ns0:Relationship Type="http://schemas.openxmlformats.org/officeDocument/2006/relationships/slideLayout" Target="../slideLayouts/slideLayout11.xml" Id="rId12" /></ns0: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2F2F2"/>
        </a:solidFill>
      </p:bgPr>
    </p:bg>
    <p:spTree>
      <p:nvGrpSpPr>
        <p:cNvPr id="1" name=""/>
        <p:cNvGrpSpPr/>
        <p:nvPr/>
      </p:nvGrpSpPr>
      <p:grpSpPr>
        <a:xfrm/>
      </p:grpSpPr>
      <p:sp>
        <p:nvSpPr>
          <p:cNvPr id="2" name="Title Placeholder 1"/>
          <p:cNvSpPr>
            <a:spLocks noGrp="1"/>
          </p:cNvSpPr>
          <p:nvPr>
            <p:ph type="title" idx="0"/>
          </p:nvPr>
        </p:nvSpPr>
        <p:spPr>
          <a:xfrm>
            <a:off x="0" y="0"/>
            <a:ext cx="12192000" cy="952500"/>
          </a:xfrm>
          <a:prstGeom prst="rect">
            <a:avLst/>
          </a:prstGeom>
          <a:solidFill>
            <a:srgbClr val="000000"/>
          </a:solidFill>
        </p:spPr>
        <p:txBody>
          <a:bodyPr vert="horz" lIns="91440" tIns="45720" rIns="91440" bIns="45720" anchor="ctr">
            <a:noAutofit/>
          </a:bodyPr>
          <a:lstStyle>
            <a:lvl1pPr algn="ctr">
              <a:defRPr sz="3400" b="1">
                <a:solidFill>
                  <a:srgbClr val="FFFFFF"/>
                </a:solidFill>
                <a:latin typeface="Arial"/>
              </a:defRPr>
            </a:lvl1pPr>
            <a:lvl2pPr algn="ctr">
              <a:defRPr sz="3400" b="1">
                <a:solidFill>
                  <a:srgbClr val="FFFFFF"/>
                </a:solidFill>
                <a:latin typeface="Arial"/>
              </a:defRPr>
            </a:lvl2pPr>
            <a:lvl3pPr algn="ctr">
              <a:defRPr sz="3400" b="1">
                <a:solidFill>
                  <a:srgbClr val="FFFFFF"/>
                </a:solidFill>
                <a:latin typeface="Arial"/>
              </a:defRPr>
            </a:lvl3pPr>
            <a:lvl4pPr algn="ctr">
              <a:defRPr sz="3400" b="1">
                <a:solidFill>
                  <a:srgbClr val="FFFFFF"/>
                </a:solidFill>
                <a:latin typeface="Arial"/>
              </a:defRPr>
            </a:lvl4pPr>
            <a:lvl5pPr algn="ctr">
              <a:defRPr sz="3400" b="1">
                <a:solidFill>
                  <a:srgbClr val="FFFFFF"/>
                </a:solidFill>
                <a:latin typeface="Arial"/>
              </a:defRPr>
            </a:lvl5pPr>
            <a:lvl6pPr algn="ctr">
              <a:defRPr sz="3400" b="1">
                <a:solidFill>
                  <a:srgbClr val="FFFFFF"/>
                </a:solidFill>
                <a:latin typeface="Arial"/>
              </a:defRPr>
            </a:lvl6pPr>
            <a:lvl7pPr algn="ctr">
              <a:defRPr sz="3400" b="1">
                <a:solidFill>
                  <a:srgbClr val="FFFFFF"/>
                </a:solidFill>
                <a:latin typeface="Arial"/>
              </a:defRPr>
            </a:lvl7pPr>
            <a:lvl8pPr algn="ctr">
              <a:defRPr sz="3400" b="1">
                <a:solidFill>
                  <a:srgbClr val="FFFFFF"/>
                </a:solidFill>
                <a:latin typeface="Arial"/>
              </a:defRPr>
            </a:lvl8pPr>
            <a:lvl9pPr algn="ctr">
              <a:defRPr sz="3400" b="1">
                <a:solidFill>
                  <a:srgbClr val="FFFFFF"/>
                </a:solidFill>
                <a:latin typeface="Arial"/>
              </a:defRPr>
            </a:lvl9pPr>
          </a:lstStyle>
          <a:p>
            <a:pPr algn="ctr">
              <a:defRPr sz="3600" b="1">
                <a:solidFill>
                  <a:srgbClr val="FFFFFF"/>
                </a:solidFill>
                <a:latin typeface="Arial"/>
                <a:ea typeface="Arial"/>
                <a:cs typeface="Arial"/>
              </a:defRPr>
            </a:pPr>
            <a:r>
              <a:rPr sz="3600" b="1">
                <a:solidFill>
                  <a:srgbClr val="FFFFFF"/>
                </a:solidFill>
                <a:latin typeface="Arial"/>
                <a:ea typeface="Arial"/>
                <a:cs typeface="Arial"/>
              </a:rPr>
              <a:t>Click to edit Master title style</a:t>
            </a:r>
          </a:p>
        </p:txBody>
      </p:sp>
      <p:sp>
        <p:nvSpPr>
          <p:cNvPr id="3" name="Text Placeholder 2"/>
          <p:cNvSpPr>
            <a:spLocks noGrp="1"/>
          </p:cNvSpPr>
          <p:nvPr>
            <p:ph type="body" idx="1"/>
          </p:nvPr>
        </p:nvSpPr>
        <p:spPr>
          <a:xfrm>
            <a:off x="457200" y="1352550"/>
            <a:ext cx="11277600" cy="4714875"/>
          </a:xfrm>
          <a:prstGeom prst="rect">
            <a:avLst/>
          </a:prstGeom>
        </p:spPr>
        <p:txBody>
          <a:bodyPr vert="horz" lIns="91440" tIns="45720" rIns="91440" bIns="45720" anchor="t">
            <a:noAutofit/>
          </a:bodyPr>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pPr lvl="0">
              <a:buNone/>
              <a:defRPr sz="2100">
                <a:solidFill>
                  <a:srgbClr val="171717"/>
                </a:solidFill>
                <a:latin typeface="Arial"/>
                <a:ea typeface="Arial"/>
                <a:cs typeface="Arial"/>
              </a:defRPr>
            </a:pPr>
            <a:r>
              <a:rPr sz="2100">
                <a:solidFill>
                  <a:srgbClr val="171717"/>
                </a:solidFill>
                <a:latin typeface="Arial"/>
                <a:ea typeface="Arial"/>
                <a:cs typeface="Arial"/>
              </a:rPr>
              <a:t>Click to edit Master text styles</a:t>
            </a:r>
          </a:p>
          <a:p>
            <a:pPr lvl="1">
              <a:buNone/>
              <a:defRPr sz="2100">
                <a:solidFill>
                  <a:srgbClr val="171717"/>
                </a:solidFill>
                <a:latin typeface="Arial"/>
                <a:ea typeface="Arial"/>
                <a:cs typeface="Arial"/>
              </a:defRPr>
            </a:pPr>
            <a:r>
              <a:rPr sz="2100">
                <a:solidFill>
                  <a:srgbClr val="171717"/>
                </a:solidFill>
                <a:latin typeface="Arial"/>
                <a:ea typeface="Arial"/>
                <a:cs typeface="Arial"/>
              </a:rPr>
              <a:t>Second level</a:t>
            </a:r>
          </a:p>
          <a:p>
            <a:pPr lvl="2">
              <a:buNone/>
              <a:defRPr sz="2100">
                <a:solidFill>
                  <a:srgbClr val="171717"/>
                </a:solidFill>
                <a:latin typeface="Arial"/>
                <a:ea typeface="Arial"/>
                <a:cs typeface="Arial"/>
              </a:defRPr>
            </a:pPr>
            <a:r>
              <a:rPr sz="2100">
                <a:solidFill>
                  <a:srgbClr val="171717"/>
                </a:solidFill>
                <a:latin typeface="Arial"/>
                <a:ea typeface="Arial"/>
                <a:cs typeface="Arial"/>
              </a:rPr>
              <a:t>Third level</a:t>
            </a:r>
          </a:p>
          <a:p>
            <a:pPr lvl="3">
              <a:buNone/>
              <a:defRPr sz="2100">
                <a:solidFill>
                  <a:srgbClr val="171717"/>
                </a:solidFill>
                <a:latin typeface="Arial"/>
                <a:ea typeface="Arial"/>
                <a:cs typeface="Arial"/>
              </a:defRPr>
            </a:pPr>
            <a:r>
              <a:rPr sz="2100">
                <a:solidFill>
                  <a:srgbClr val="171717"/>
                </a:solidFill>
                <a:latin typeface="Arial"/>
                <a:ea typeface="Arial"/>
                <a:cs typeface="Arial"/>
              </a:rPr>
              <a:t>Fourth level</a:t>
            </a:r>
          </a:p>
          <a:p>
            <a:pPr lvl="4">
              <a:buNone/>
              <a:defRPr sz="2100">
                <a:solidFill>
                  <a:srgbClr val="171717"/>
                </a:solidFill>
                <a:latin typeface="Arial"/>
                <a:ea typeface="Arial"/>
                <a:cs typeface="Arial"/>
              </a:defRPr>
            </a:pPr>
            <a:r>
              <a:rPr sz="2100">
                <a:solidFill>
                  <a:srgbClr val="171717"/>
                </a:solidFill>
                <a:latin typeface="Arial"/>
                <a:ea typeface="Arial"/>
                <a:cs typeface="Arial"/>
              </a:rP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BA12E2B-5798-15BD-1E8D-CC63C2A86A67}" type="datetimeFigureOut">
              <a:t/>
            </a:fld>
            <a:endParaRPr/>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r>
              <a:t/>
            </a:r>
            <a:endParaRPr/>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t"/>
          <a:lstStyle>
            <a:lvl1pPr algn="l">
              <a:defRPr sz="1900" b="0">
                <a:solidFill>
                  <a:srgbClr val="171717"/>
                </a:solidFill>
                <a:latin typeface="Arial"/>
              </a:defRPr>
            </a:lvl1pPr>
            <a:lvl2pPr algn="l">
              <a:defRPr sz="1900" b="0">
                <a:solidFill>
                  <a:srgbClr val="171717"/>
                </a:solidFill>
                <a:latin typeface="Arial"/>
              </a:defRPr>
            </a:lvl2pPr>
            <a:lvl3pPr algn="l">
              <a:defRPr sz="1900" b="0">
                <a:solidFill>
                  <a:srgbClr val="171717"/>
                </a:solidFill>
                <a:latin typeface="Arial"/>
              </a:defRPr>
            </a:lvl3pPr>
            <a:lvl4pPr algn="l">
              <a:defRPr sz="1900" b="0">
                <a:solidFill>
                  <a:srgbClr val="171717"/>
                </a:solidFill>
                <a:latin typeface="Arial"/>
              </a:defRPr>
            </a:lvl4pPr>
            <a:lvl5pPr algn="l">
              <a:defRPr sz="1900" b="0">
                <a:solidFill>
                  <a:srgbClr val="171717"/>
                </a:solidFill>
                <a:latin typeface="Arial"/>
              </a:defRPr>
            </a:lvl5pPr>
            <a:lvl6pPr algn="l">
              <a:defRPr sz="1900" b="0">
                <a:solidFill>
                  <a:srgbClr val="171717"/>
                </a:solidFill>
                <a:latin typeface="Arial"/>
              </a:defRPr>
            </a:lvl6pPr>
            <a:lvl7pPr algn="l">
              <a:defRPr sz="1900" b="0">
                <a:solidFill>
                  <a:srgbClr val="171717"/>
                </a:solidFill>
                <a:latin typeface="Arial"/>
              </a:defRPr>
            </a:lvl7pPr>
            <a:lvl8pPr algn="l">
              <a:defRPr sz="1900" b="0">
                <a:solidFill>
                  <a:srgbClr val="171717"/>
                </a:solidFill>
                <a:latin typeface="Arial"/>
              </a:defRPr>
            </a:lvl8pPr>
            <a:lvl9pPr algn="l">
              <a:defRPr sz="1900" b="0">
                <a:solidFill>
                  <a:srgbClr val="171717"/>
                </a:solidFill>
                <a:latin typeface="Arial"/>
              </a:defRPr>
            </a:lvl9pPr>
          </a:lstStyle>
          <a:p>
            <a:fld id="{69ADA83D-DF77-AA76-6DA0-7A70CD7A4D20}" type="slidenum">
              <a:t/>
            </a:fld>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ns0:Relationships xmlns:ns0="http://schemas.openxmlformats.org/package/2006/relationships"><ns0:Relationship Type="http://schemas.openxmlformats.org/officeDocument/2006/relationships/slideLayout" Target="../slideLayouts/slideLayout1.xml" Id="rId1" /><ns0:Relationship Type="http://schemas.openxmlformats.org/officeDocument/2006/relationships/image" Target="../media/image.tiff" Id="rId2" /><ns0:Relationship Type="http://schemas.openxmlformats.org/officeDocument/2006/relationships/notesSlide" Target="../notesSlides/notesSlide1.xml" Id="rId3" /></ns0:Relationships>
</file>

<file path=ppt/slides/_rels/slide2.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2.xml" Id="rId2" /></ns0:Relationships>
</file>

<file path=ppt/slides/_rels/slide3.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3.xml" Id="rId2" /></ns0:Relationships>
</file>

<file path=ppt/slides/_rels/slide4.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png" Id="rId2" /><ns0:Relationship Type="http://schemas.openxmlformats.org/officeDocument/2006/relationships/notesSlide" Target="../notesSlides/notesSlide4.xml" Id="rId3" /></ns0:Relationships>
</file>

<file path=ppt/slides/_rels/slide5.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png" Id="rId2" /><ns0:Relationship Type="http://schemas.openxmlformats.org/officeDocument/2006/relationships/image" Target="../media/image3.png" Id="rId3" /><ns0:Relationship Type="http://schemas.openxmlformats.org/officeDocument/2006/relationships/image" Target="../media/image4.png" Id="rId4" /><ns0:Relationship Type="http://schemas.openxmlformats.org/officeDocument/2006/relationships/notesSlide" Target="../notesSlides/notesSlide5.xml" Id="rId5" /></ns0:Relationships>
</file>

<file path=ppt/slides/_rels/slide6.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png" Id="rId2" /><ns0:Relationship Type="http://schemas.openxmlformats.org/officeDocument/2006/relationships/image" Target="../media/image3.png" Id="rId3" /><ns0:Relationship Type="http://schemas.openxmlformats.org/officeDocument/2006/relationships/image" Target="../media/image4.png" Id="rId4" /><ns0:Relationship Type="http://schemas.openxmlformats.org/officeDocument/2006/relationships/notesSlide" Target="../notesSlides/notesSlide6.xml" Id="rId5" /></ns0:Relationships>
</file>

<file path=ppt/slides/_rels/slide7.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5.png" Id="rId2" /><ns0:Relationship Type="http://schemas.openxmlformats.org/officeDocument/2006/relationships/image" Target="../media/image6.png" Id="rId3" /><ns0:Relationship Type="http://schemas.openxmlformats.org/officeDocument/2006/relationships/notesSlide" Target="../notesSlides/notesSlide7.xml" Id="rId4" /></ns0:Relationships>
</file>

<file path=ppt/slides/_rels/slide8.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6.png" Id="rId2" /><ns0:Relationship Type="http://schemas.openxmlformats.org/officeDocument/2006/relationships/image" Target="../media/image7.png" Id="rId3" /><ns0:Relationship Type="http://schemas.openxmlformats.org/officeDocument/2006/relationships/image" Target="../media/image8.png" Id="rId4" /><ns0:Relationship Type="http://schemas.openxmlformats.org/officeDocument/2006/relationships/notesSlide" Target="../notesSlides/notesSlide8.xml" Id="rId5" /></ns0:Relationships>
</file>

<file path=ppt/slides/_rels/slide9.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9.png" Id="rId2" /><ns0:Relationship Type="http://schemas.openxmlformats.org/officeDocument/2006/relationships/image" Target="../media/image10.png" Id="rId3" /><ns0:Relationship Type="http://schemas.openxmlformats.org/officeDocument/2006/relationships/notesSlide" Target="../notesSlides/notesSlide9.xml" Id="rId4" /></ns0:Relationships>
</file>

<file path=ppt/slides/_rels/slide10.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11.png" Id="rId2" /><ns0:Relationship Type="http://schemas.openxmlformats.org/officeDocument/2006/relationships/image" Target="../media/image12.png" Id="rId3" /><ns0:Relationship Type="http://schemas.openxmlformats.org/officeDocument/2006/relationships/notesSlide" Target="../notesSlides/notesSlide10.xml" Id="rId4" /></ns0:Relationships>
</file>

<file path=ppt/slides/_rels/slide11.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13.png" Id="rId2" /><ns0:Relationship Type="http://schemas.openxmlformats.org/officeDocument/2006/relationships/image" Target="../media/image14.png" Id="rId3" /><ns0:Relationship Type="http://schemas.openxmlformats.org/officeDocument/2006/relationships/notesSlide" Target="../notesSlides/notesSlide11.xml" Id="rId4" /></ns0:Relationships>
</file>

<file path=ppt/slides/_rels/slide12.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15.png" Id="rId2" /><ns0:Relationship Type="http://schemas.openxmlformats.org/officeDocument/2006/relationships/notesSlide" Target="../notesSlides/notesSlide12.xml" Id="rId3" /></ns0:Relationships>
</file>

<file path=ppt/slides/_rels/slide13.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16.png" Id="rId2" /><ns0:Relationship Type="http://schemas.openxmlformats.org/officeDocument/2006/relationships/notesSlide" Target="../notesSlides/notesSlide13.xml" Id="rId3" /></ns0:Relationships>
</file>

<file path=ppt/slides/_rels/slide14.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16.png" Id="rId2" /><ns0:Relationship Type="http://schemas.openxmlformats.org/officeDocument/2006/relationships/image" Target="../media/image17.png" Id="rId3" /><ns0:Relationship Type="http://schemas.openxmlformats.org/officeDocument/2006/relationships/image" Target="../media/image18.png" Id="rId4" /><ns0:Relationship Type="http://schemas.openxmlformats.org/officeDocument/2006/relationships/notesSlide" Target="../notesSlides/notesSlide14.xml" Id="rId5" /></ns0:Relationships>
</file>

<file path=ppt/slides/_rels/slide15.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15.xml" Id="rId2" /></ns0:Relationships>
</file>

<file path=ppt/slides/_rels/slide16.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19.png" Id="rId2" /><ns0:Relationship Type="http://schemas.openxmlformats.org/officeDocument/2006/relationships/notesSlide" Target="../notesSlides/notesSlide16.xml" Id="rId3" /></ns0:Relationships>
</file>

<file path=ppt/slides/_rels/slide17.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0.png" Id="rId2" /><ns0:Relationship Type="http://schemas.openxmlformats.org/officeDocument/2006/relationships/notesSlide" Target="../notesSlides/notesSlide17.xml" Id="rId3" /></ns0:Relationships>
</file>

<file path=ppt/slides/_rels/slide18.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1.png" Id="rId2" /><ns0:Relationship Type="http://schemas.openxmlformats.org/officeDocument/2006/relationships/notesSlide" Target="../notesSlides/notesSlide18.xml" Id="rId3" /></ns0:Relationships>
</file>

<file path=ppt/slides/_rels/slide19.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2.png" Id="rId2" /><ns0:Relationship Type="http://schemas.openxmlformats.org/officeDocument/2006/relationships/image" Target="../media/image23.png" Id="rId3" /><ns0:Relationship Type="http://schemas.openxmlformats.org/officeDocument/2006/relationships/image" Target="../media/image24.png" Id="rId4" /><ns0:Relationship Type="http://schemas.openxmlformats.org/officeDocument/2006/relationships/notesSlide" Target="../notesSlides/notesSlide19.xml" Id="rId5" /></ns0:Relationships>
</file>

<file path=ppt/slides/_rels/slide20.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20.xml" Id="rId2" /></ns0:Relationships>
</file>

<file path=ppt/slides/_rels/slide21.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5.png" Id="rId2" /><ns0:Relationship Type="http://schemas.openxmlformats.org/officeDocument/2006/relationships/image" Target="../media/image26.png" Id="rId3" /><ns0:Relationship Type="http://schemas.openxmlformats.org/officeDocument/2006/relationships/image" Target="../media/image27.png" Id="rId4" /><ns0:Relationship Type="http://schemas.openxmlformats.org/officeDocument/2006/relationships/notesSlide" Target="../notesSlides/notesSlide21.xml" Id="rId5" /></ns0:Relationships>
</file>

<file path=ppt/slides/_rels/slide22.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22.xml" Id="rId2" /></ns0:Relationships>
</file>

<file path=ppt/slides/_rels/slide23.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23.xml" Id="rId2" /></ns0:Relationships>
</file>

<file path=ppt/slides/_rels/slide24.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8.png" Id="rId2" /><ns0:Relationship Type="http://schemas.openxmlformats.org/officeDocument/2006/relationships/notesSlide" Target="../notesSlides/notesSlide24.xml" Id="rId3" /></ns0:Relationships>
</file>

<file path=ppt/slides/_rels/slide25.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9.png" Id="rId2" /><ns0:Relationship Type="http://schemas.openxmlformats.org/officeDocument/2006/relationships/image" Target="../media/image30.png" Id="rId3" /><ns0:Relationship Type="http://schemas.openxmlformats.org/officeDocument/2006/relationships/image" Target="../media/image31.png" Id="rId4" /><ns0:Relationship Type="http://schemas.openxmlformats.org/officeDocument/2006/relationships/notesSlide" Target="../notesSlides/notesSlide25.xml" Id="rId5" /></ns0:Relationships>
</file>

<file path=ppt/slides/_rels/slide26.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32.png" Id="rId2" /><ns0:Relationship Type="http://schemas.openxmlformats.org/officeDocument/2006/relationships/notesSlide" Target="../notesSlides/notesSlide26.xml" Id="rId3" /></ns0:Relationships>
</file>

<file path=ppt/slides/_rels/slide27.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33.png" Id="rId2" /><ns0:Relationship Type="http://schemas.openxmlformats.org/officeDocument/2006/relationships/image" Target="../media/image34.png" Id="rId3" /><ns0:Relationship Type="http://schemas.openxmlformats.org/officeDocument/2006/relationships/image" Target="../media/image35.png" Id="rId4" /><ns0:Relationship Type="http://schemas.openxmlformats.org/officeDocument/2006/relationships/image" Target="../media/image36.png" Id="rId5" /><ns0:Relationship Type="http://schemas.openxmlformats.org/officeDocument/2006/relationships/image" Target="../media/image37.png" Id="rId6" /><ns0:Relationship Type="http://schemas.openxmlformats.org/officeDocument/2006/relationships/notesSlide" Target="../notesSlides/notesSlide27.xml" Id="rId7" /></ns0:Relationships>
</file>

<file path=ppt/slides/_rels/slide28.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28.xml" Id="rId2" /></ns0:Relationships>
</file>

<file path=ppt/slides/_rels/slide29.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29.xml" Id="rId2" /></ns0:Relationships>
</file>

<file path=ppt/slides/_rels/slide30.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38.png" Id="rId2" /><ns0:Relationship Type="http://schemas.openxmlformats.org/officeDocument/2006/relationships/image" Target="../media/image39.png" Id="rId3" /><ns0:Relationship Type="http://schemas.openxmlformats.org/officeDocument/2006/relationships/notesSlide" Target="../notesSlides/notesSlide30.xml" Id="rId4" /></ns0:Relationships>
</file>

<file path=ppt/slides/_rels/slide31.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40.png" Id="rId2" /><ns0:Relationship Type="http://schemas.openxmlformats.org/officeDocument/2006/relationships/image" Target="../media/image41.png" Id="rId3" /><ns0:Relationship Type="http://schemas.openxmlformats.org/officeDocument/2006/relationships/notesSlide" Target="../notesSlides/notesSlide31.xml" Id="rId4" /></ns0:Relationships>
</file>

<file path=ppt/slides/_rels/slide32.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42.png" Id="rId2" /><ns0:Relationship Type="http://schemas.openxmlformats.org/officeDocument/2006/relationships/notesSlide" Target="../notesSlides/notesSlide32.xml" Id="rId3" /></ns0:Relationships>
</file>

<file path=ppt/slides/_rels/slide33.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42.png" Id="rId2" /><ns0:Relationship Type="http://schemas.openxmlformats.org/officeDocument/2006/relationships/notesSlide" Target="../notesSlides/notesSlide33.xml" Id="rId3" /></ns0:Relationships>
</file>

<file path=ppt/slides/_rels/slide34.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34.xml" Id="rId2" /></ns0:Relationships>
</file>

<file path=ppt/slides/_rels/slide35.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43.png" Id="rId2" /><ns0:Relationship Type="http://schemas.openxmlformats.org/officeDocument/2006/relationships/notesSlide" Target="../notesSlides/notesSlide35.xml" Id="rId3" /></ns0:Relationships>
</file>

<file path=ppt/slides/_rels/slide36.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44.png" Id="rId2" /><ns0:Relationship Type="http://schemas.openxmlformats.org/officeDocument/2006/relationships/hyperlink" Target="https://evobir.shinyapps.io/covariance/?_ga=2.1648753.1545471456.1664283065-121466020.1663025168" TargetMode="External" Id="rId3" /><ns0:Relationship Type="http://schemas.openxmlformats.org/officeDocument/2006/relationships/notesSlide" Target="../notesSlides/notesSlide36.xml" Id="rId4" /></ns0:Relationships>
</file>

<file path=ppt/slides/_rels/slide37.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45.png" Id="rId2" /><ns0:Relationship Type="http://schemas.openxmlformats.org/officeDocument/2006/relationships/notesSlide" Target="../notesSlides/notesSlide37.xml" Id="rId3" /></ns0:Relationships>
</file>

<file path=ppt/slides/_rels/slide38.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notesSlide" Target="../notesSlides/notesSlide38.xml" Id="rId2" /></ns0:Relationships>
</file>

<file path=ppt/slides/_rels/slide39.xml.rels><?xml version='1.0' encoding='utf-8'?>
<ns0:Relationships xmlns:ns0="http://schemas.openxmlformats.org/package/2006/relationships"><ns0:Relationship Type="http://schemas.openxmlformats.org/officeDocument/2006/relationships/slideLayout" Target="../slideLayouts/slideLayout2.xml" Id="rId1" /><ns0:Relationship Type="http://schemas.openxmlformats.org/officeDocument/2006/relationships/image" Target="../media/image2.tiff" Id="rId2" /><ns0:Relationship Type="http://schemas.openxmlformats.org/officeDocument/2006/relationships/image" Target="../media/image46.png" Id="rId3" /><ns0:Relationship Type="http://schemas.openxmlformats.org/officeDocument/2006/relationships/notesSlide" Target="../notesSlides/notesSlide39.xml" Id="rId4" /></ns0: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ctrTitle" idx="0"/>
          </p:nvPr>
        </p:nvSpPr>
        <p:spPr>
          <a:xfrm>
            <a:off x="0" y="399348"/>
            <a:ext cx="8612372" cy="5968593"/>
          </a:xfrm>
        </p:spPr>
        <p:txBody>
          <a:bodyPr>
            <a:normAutofit/>
          </a:bodyPr>
          <a:lstStyle/>
          <a:p>
            <a:pPr algn="l">
              <a:buNone/>
            </a:pPr>
            <a:r>
              <a:t>Continuous Variables</a:t>
            </a:r>
            <a:br/>
            <a:r>
              <a:rPr sz="4000"/>
              <a:t>Biology 683</a:t>
            </a:r>
            <a:br/>
            <a:r>
              <a:rPr sz="2800"/>
              <a:t>Heath Blackmon</a:t>
            </a:r>
            <a:br/>
            <a:br/>
            <a:r>
              <a:rPr sz="2800" b="1"/>
              <a:t>Coding Session:	Saturday 14</a:t>
            </a:r>
            <a:br/>
            <a:r>
              <a:rPr sz="2800" b="1"/>
              <a:t>			9-12 BSBE 115</a:t>
            </a:r>
            <a:br/>
            <a:br/>
            <a:r>
              <a:rPr sz="2800" b="1"/>
              <a:t>Size is often exponentially distributed in populations. Imagine that you sample a population and get the mean size in your sample. You then repeat this process many times; what will the distribution of your means look like?</a:t>
            </a:r>
            <a:br/>
            <a:br/>
            <a:r>
              <a:rPr sz="2800" b="1"/>
              <a:t>What is </a:t>
            </a:r>
            <a:r>
              <a:rPr sz="2800" b="1"/>
              <a:t>the definition of a p-value?  </a:t>
            </a:r>
          </a:p>
        </p:txBody>
      </p:sp>
      <p:pic>
        <p:nvPicPr>
          <p:cNvPr id="5" name="Picture 2"/>
          <p:cNvPicPr>
            <a:picLocks noChangeAspect="1"/>
          </p:cNvPicPr>
          <p:nvPr/>
        </p:nvPicPr>
        <p:blipFill>
          <a:blip r:embed="rId2"/>
          <a:stretch>
            <a:fillRect l="0" t="0" r="0" b="0"/>
          </a:stretch>
        </p:blipFill>
        <p:spPr>
          <a:xfrm>
            <a:off x="8700233" y="707692"/>
            <a:ext cx="3300381" cy="4651117"/>
          </a:xfrm>
          <a:prstGeom prst="rect">
            <a:avLst/>
          </a:prstGeom>
        </p:spPr>
      </p:pic>
    </p:spTree>
  </p:cSld>
</p:sld>
</file>

<file path=ppt/slides/slide2.xml><?xml version="1.0" encoding="utf-8"?>
<p:sld xmlns:a="http://schemas.openxmlformats.org/drawingml/2006/main" xmlns:p="http://schemas.openxmlformats.org/presentationml/2006/main">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lstStyle/>
          <a:p>
            <a:pPr algn="ctr">
              <a:buNone/>
            </a:pPr>
            <a:r>
              <a:rPr b="1">
                <a:solidFill>
                  <a:schemeClr val="bg1"/>
                </a:solidFill>
              </a:rPr>
              <a:t>Today</a:t>
            </a:r>
          </a:p>
        </p:txBody>
      </p:sp>
      <p:sp>
        <p:nvSpPr>
          <p:cNvPr id="3" name="Rectangle 2"/>
          <p:cNvSpPr>
            <a:spLocks noGrp="1"/>
          </p:cNvSpPr>
          <p:nvPr/>
        </p:nvSpPr>
        <p:spPr>
          <a:xfrm>
            <a:off x="214641" y="1109317"/>
            <a:ext cx="8595359" cy="5016758"/>
          </a:xfrm>
          <a:prstGeom prst="rect">
            <a:avLst/>
          </a:prstGeom>
        </p:spPr>
        <p:txBody>
          <a:bodyPr wrap="square">
            <a:spAutoFit/>
          </a:bodyPr>
          <a:lstStyle/>
          <a:p>
            <a:pPr marL="742950" indent="-742950">
              <a:buFont typeface="+mj-lt"/>
              <a:buAutoNum type="arabicParenR"/>
            </a:pPr>
            <a:r>
              <a:rPr sz="2800"/>
              <a:t>Comparing means</a:t>
            </a:r>
          </a:p>
          <a:p>
            <a:pPr marL="1200150" lvl="1" indent="-742950">
              <a:buFont typeface="+mj-lt"/>
              <a:buAutoNum type="alphaLcParenR"/>
            </a:pPr>
            <a:r>
              <a:rPr sz="2400"/>
              <a:t>One sample t-test</a:t>
            </a:r>
          </a:p>
          <a:p>
            <a:pPr marL="1200150" lvl="1" indent="-742950">
              <a:buFont typeface="+mj-lt"/>
              <a:buAutoNum type="alphaLcParenR"/>
            </a:pPr>
            <a:r>
              <a:rPr sz="2400"/>
              <a:t>Two sample t-test</a:t>
            </a:r>
          </a:p>
          <a:p>
            <a:pPr marL="1200150" lvl="1" indent="-742950">
              <a:buFont typeface="+mj-lt"/>
              <a:buAutoNum type="alphaLcParenR"/>
            </a:pPr>
            <a:r>
              <a:rPr sz="2400"/>
              <a:t>Paired value t-test</a:t>
            </a:r>
          </a:p>
          <a:p>
            <a:pPr marL="742950" indent="-742950">
              <a:buFont typeface="+mj-lt"/>
              <a:buAutoNum type="arabicParenR"/>
            </a:pPr>
            <a:r>
              <a:rPr sz="2800"/>
              <a:t>Comparing Variances</a:t>
            </a:r>
          </a:p>
          <a:p>
            <a:pPr marL="1200150" lvl="1" indent="-742950">
              <a:buFont typeface="+mj-lt"/>
              <a:buAutoNum type="alphaLcParenR"/>
            </a:pPr>
            <a:r>
              <a:rPr sz="2400"/>
              <a:t>Levene’s</a:t>
            </a:r>
            <a:r>
              <a:rPr sz="2400"/>
              <a:t> test</a:t>
            </a:r>
          </a:p>
          <a:p>
            <a:pPr marL="742950" indent="-742950">
              <a:buFont typeface="+mj-lt"/>
              <a:buAutoNum type="arabicParenR"/>
            </a:pPr>
            <a:r>
              <a:rPr sz="2800"/>
              <a:t>Assumptions</a:t>
            </a:r>
          </a:p>
          <a:p>
            <a:pPr marL="742950" indent="-742950">
              <a:buFont typeface="+mj-lt"/>
              <a:buAutoNum type="arabicParenR"/>
            </a:pPr>
            <a:r>
              <a:rPr sz="2800"/>
              <a:t>Transformations</a:t>
            </a:r>
          </a:p>
          <a:p>
            <a:pPr marL="742950" indent="-742950">
              <a:buFont typeface="+mj-lt"/>
              <a:buAutoNum type="arabicParenR"/>
            </a:pPr>
            <a:r>
              <a:rPr sz="2800"/>
              <a:t>Non-parametric tests</a:t>
            </a:r>
          </a:p>
          <a:p>
            <a:pPr marL="1200150" lvl="1" indent="-742950">
              <a:buFont typeface="+mj-lt"/>
              <a:buAutoNum type="alphaLcParenR"/>
            </a:pPr>
            <a:r>
              <a:rPr sz="2400"/>
              <a:t>Sign test</a:t>
            </a:r>
          </a:p>
          <a:p>
            <a:pPr marL="1200150" lvl="1" indent="-742950">
              <a:buFont typeface="+mj-lt"/>
              <a:buAutoNum type="alphaLcParenR"/>
            </a:pPr>
            <a:r>
              <a:rPr sz="2400"/>
              <a:t>Mann-Whitney / Wilcoxon Rank</a:t>
            </a:r>
          </a:p>
          <a:p>
            <a:pPr marL="1200150" lvl="1" indent="-742950">
              <a:buFont typeface="+mj-lt"/>
              <a:buAutoNum type="alphaLcParenR"/>
            </a:pPr>
            <a:r>
              <a:rPr sz="2400"/>
              <a:t>Permutation test</a:t>
            </a:r>
          </a:p>
        </p:txBody>
      </p:sp>
    </p:spTree>
  </p:cSld>
</p:sld>
</file>

<file path=ppt/slides/slide3.xml><?xml version="1.0" encoding="utf-8"?>
<p:sld xmlns:a="http://schemas.openxmlformats.org/drawingml/2006/main" xmlns:p="http://schemas.openxmlformats.org/presentationml/2006/main">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lstStyle/>
          <a:p>
            <a:pPr algn="ctr">
              <a:buNone/>
            </a:pPr>
            <a:r>
              <a:rPr b="1">
                <a:solidFill>
                  <a:schemeClr val="bg1"/>
                </a:solidFill>
              </a:rPr>
              <a:t>Continuous Data (more or less)</a:t>
            </a:r>
          </a:p>
        </p:txBody>
      </p:sp>
      <p:sp>
        <p:nvSpPr>
          <p:cNvPr id="4" name="Rectangle 3"/>
          <p:cNvSpPr>
            <a:spLocks noGrp="1"/>
          </p:cNvSpPr>
          <p:nvPr/>
        </p:nvSpPr>
        <p:spPr>
          <a:xfrm>
            <a:off x="195431" y="1149293"/>
            <a:ext cx="10450798" cy="3416320"/>
          </a:xfrm>
          <a:prstGeom prst="rect">
            <a:avLst/>
          </a:prstGeom>
        </p:spPr>
        <p:txBody>
          <a:bodyPr wrap="square">
            <a:spAutoFit/>
          </a:bodyPr>
          <a:lstStyle/>
          <a:p>
            <a:r>
              <a:rPr sz="2400" b="1"/>
              <a:t>Many datasets are technically categorical but can be treated as continuous.</a:t>
            </a:r>
          </a:p>
          <a:p>
            <a:r>
              <a:rPr sz="2400" b="1"/>
              <a:t>	- count data</a:t>
            </a:r>
          </a:p>
          <a:p>
            <a:r>
              <a:rPr sz="2400" b="1"/>
              <a:t>		chromosomes</a:t>
            </a:r>
          </a:p>
          <a:p>
            <a:r>
              <a:rPr sz="2400" b="1"/>
              <a:t>		offspring</a:t>
            </a:r>
          </a:p>
          <a:p>
            <a:r>
              <a:rPr sz="2400" b="1"/>
              <a:t>		species</a:t>
            </a:r>
          </a:p>
          <a:p>
            <a:r>
              <a:rPr sz="2400" b="1"/>
              <a:t>		gene copy number</a:t>
            </a:r>
          </a:p>
          <a:p>
            <a:endParaRPr sz="2400" b="1"/>
          </a:p>
          <a:p>
            <a:endParaRPr sz="2400" b="1"/>
          </a:p>
          <a:p>
            <a:endParaRPr sz="2400" b="1"/>
          </a:p>
        </p:txBody>
      </p:sp>
    </p:spTree>
  </p:cSld>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T distribution</a:t>
            </a:r>
          </a:p>
        </p:txBody>
      </p:sp>
      <p:pic>
        <p:nvPicPr>
          <p:cNvPr id="8" name="Picture 2"/>
          <p:cNvPicPr>
            <a:picLocks noChangeAspect="1"/>
          </p:cNvPicPr>
          <p:nvPr/>
        </p:nvPicPr>
        <p:blipFill>
          <a:blip r:embed="rId2"/>
          <a:stretch>
            <a:fillRect l="0" t="0" r="0" b="0"/>
          </a:stretch>
        </p:blipFill>
        <p:spPr>
          <a:xfrm>
            <a:off x="207818" y="1125034"/>
            <a:ext cx="7237181" cy="5545930"/>
          </a:xfrm>
          <a:prstGeom prst="rect">
            <a:avLst/>
          </a:prstGeom>
        </p:spPr>
      </p:pic>
      <p:sp>
        <p:nvSpPr>
          <p:cNvPr id="5" name="TextBox 4"/>
          <p:cNvSpPr>
            <a:spLocks noGrp="1"/>
          </p:cNvSpPr>
          <p:nvPr/>
        </p:nvSpPr>
        <p:spPr>
          <a:xfrm>
            <a:off x="8167255" y="1125034"/>
            <a:ext cx="3138055" cy="646331"/>
          </a:xfrm>
          <a:prstGeom prst="rect">
            <a:avLst/>
          </a:prstGeom>
          <a:noFill/>
        </p:spPr>
        <p:txBody>
          <a:bodyPr wrap="square">
            <a:spAutoFit/>
          </a:bodyPr>
          <a:lstStyle/>
          <a:p>
            <a:r>
              <a:t>Power increases dramatically for the first few samples</a:t>
            </a:r>
          </a:p>
        </p:txBody>
      </p:sp>
      <p:sp>
        <p:nvSpPr>
          <p:cNvPr id="4" name="Rectangle 3"/>
          <p:cNvSpPr>
            <a:spLocks noGrp="1"/>
          </p:cNvSpPr>
          <p:nvPr/>
        </p:nvSpPr>
        <p:spPr>
          <a:xfrm>
            <a:off x="5334000" y="2114550"/>
            <a:ext cx="1028700" cy="3238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sld>
</file>

<file path=ppt/slides/slide5.xml><?xml version="1.0" encoding="utf-8"?>
<p:sld xmlns:a="http://schemas.openxmlformats.org/drawingml/2006/main" xmlns:ns3="http://schemas.microsoft.com/office/drawing/2010/main" xmlns:ns4="http://schemas.openxmlformats.org/officeDocument/2006/math"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One-sample t-test</a:t>
            </a:r>
          </a:p>
        </p:txBody>
      </p:sp>
      <p:sp>
        <p:nvSpPr>
          <p:cNvPr id="4" name="Rectangle 3"/>
          <p:cNvSpPr>
            <a:spLocks noGrp="1"/>
          </p:cNvSpPr>
          <p:nvPr/>
        </p:nvSpPr>
        <p:spPr>
          <a:xfrm>
            <a:off x="243922" y="1357113"/>
            <a:ext cx="5852078" cy="3416320"/>
          </a:xfrm>
          <a:prstGeom prst="rect">
            <a:avLst/>
          </a:prstGeom>
        </p:spPr>
        <p:txBody>
          <a:bodyPr wrap="square">
            <a:spAutoFit/>
          </a:bodyPr>
          <a:lstStyle/>
          <a:p>
            <a:r>
              <a:rPr sz="2400"/>
              <a:t>The one sample T-test compares a sample to a hypothesis</a:t>
            </a:r>
          </a:p>
          <a:p>
            <a:endParaRPr sz="2400"/>
          </a:p>
          <a:p>
            <a:r>
              <a:rPr sz="2400"/>
              <a:t>Assumptions: </a:t>
            </a:r>
          </a:p>
          <a:p>
            <a:pPr marL="342900" indent="-342900">
              <a:buFont typeface="Arial"/>
              <a:buChar char="•"/>
            </a:pPr>
            <a:r>
              <a:rPr sz="2400"/>
              <a:t>The variable is normally distributed in the population </a:t>
            </a:r>
          </a:p>
          <a:p>
            <a:pPr marL="342900" indent="-342900">
              <a:buFont typeface="Arial"/>
              <a:buChar char="•"/>
            </a:pPr>
            <a:endParaRPr sz="2400"/>
          </a:p>
          <a:p>
            <a:r>
              <a:rPr sz="2400"/>
              <a:t>Implementation</a:t>
            </a:r>
          </a:p>
          <a:p>
            <a:endParaRPr sz="2400" b="1"/>
          </a:p>
        </p:txBody>
      </p:sp>
      <p:pic>
        <p:nvPicPr>
          <p:cNvPr id="16" name="Picture 2"/>
          <p:cNvPicPr>
            <a:picLocks noChangeAspect="1"/>
          </p:cNvPicPr>
          <p:nvPr/>
        </p:nvPicPr>
        <p:blipFill rotWithShape="1">
          <a:blip r:embed="rId2"/>
          <a:srcRect l="0" t="32614" r="0" b="0"/>
          <a:stretch/>
        </p:blipFill>
        <p:spPr>
          <a:xfrm>
            <a:off x="243922" y="4825299"/>
            <a:ext cx="4927600" cy="1651700"/>
          </a:xfrm>
          <a:prstGeom prst="rect">
            <a:avLst/>
          </a:prstGeom>
        </p:spPr>
      </p:pic>
      <p:sp>
        <p:nvSpPr>
          <p:cNvPr id="5" name="Right Arrow 4"/>
          <p:cNvSpPr>
            <a:spLocks noGrp="1"/>
          </p:cNvSpPr>
          <p:nvPr/>
        </p:nvSpPr>
        <p:spPr>
          <a:xfrm>
            <a:off x="5444836" y="4883727"/>
            <a:ext cx="768927" cy="561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Picture 5"/>
          <p:cNvPicPr>
            <a:picLocks noChangeAspect="1"/>
          </p:cNvPicPr>
          <p:nvPr/>
        </p:nvPicPr>
        <p:blipFill>
          <a:blip r:embed="rId3"/>
          <a:stretch>
            <a:fillRect l="0" t="0" r="0" b="0"/>
          </a:stretch>
        </p:blipFill>
        <p:spPr>
          <a:xfrm>
            <a:off x="6410877" y="3936997"/>
            <a:ext cx="5636383" cy="2540001"/>
          </a:xfrm>
          <a:prstGeom prst="rect">
            <a:avLst/>
          </a:prstGeom>
        </p:spPr>
      </p:pic>
      <p:sp>
        <p:nvSpPr>
          <p:cNvPr id="8" name="TextBox 7"/>
          <p:cNvSpPr>
            <a:spLocks noGrp="1"/>
          </p:cNvSpPr>
          <p:nvPr/>
        </p:nvSpPr>
        <p:spPr>
          <a:xfrm>
            <a:off x="7523053" y="1551821"/>
            <a:ext cx="2918748" cy="1358000"/>
          </a:xfrm>
          <a:prstGeom prst="rect">
            <a:avLst/>
          </a:prstGeom>
          <a:noFill/>
        </p:spPr>
        <p:txBody>
          <a:bodyPr wrap="none" lIns="0" tIns="0" rIns="0" bIns="0">
            <a:spAutoFit/>
          </a:bodyPr>
          <a:lstStyle/>
          <a:p>
            <a:pPr>
              <a:buNone/>
            </a:pPr>
            <ns3:m>
              <ns4:oMathPara>
                <ns4:oMathParaPr>
                  <ns4:jc ns4:val="centerGroup"/>
                </ns4:oMathParaPr>
                <ns4:oMath>
                  <ns4:r>
                    <a:rPr lang="en-US" sz="4400" b="0" i="1">
                      <a:latin typeface="Cambria Math"/>
                      <a:ea typeface="Cambria Math"/>
                      <a:cs typeface="Cambria Math"/>
                    </a:rPr>
                    <ns4:t>𝑡</ns4:t>
                  </ns4:r>
                  <ns4:r>
                    <a:rPr lang="en-US" sz="4400" b="0" i="1">
                      <a:latin typeface="Cambria Math"/>
                      <a:ea typeface="Cambria Math"/>
                      <a:cs typeface="Cambria Math"/>
                    </a:rPr>
                    <ns4:t>=</ns4:t>
                  </ns4:r>
                  <ns4:f>
                    <ns4:num>
                      <ns4:d>
                        <ns4:dPr>
                          <ns4:grow ns4:val="off"/>
                        </ns4:dPr>
                        <ns4:e>
                          <ns4:acc>
                            <ns4:accPr>
                              <ns4:chr ns4:val="̅"/>
                            </ns4:accPr>
                            <ns4:e>
                              <ns4:r>
                                <a:rPr lang="en-US" sz="4400" b="0" i="1">
                                  <a:latin typeface="Cambria Math"/>
                                  <a:ea typeface="Cambria Math"/>
                                  <a:cs typeface="Cambria Math"/>
                                </a:rPr>
                                <ns4:t>𝑌</ns4:t>
                              </ns4:r>
                            </ns4:e>
                          </ns4:acc>
                          <ns4:r>
                            <a:rPr lang="en-US" sz="4400" b="0" i="1">
                              <a:latin typeface="Cambria Math"/>
                              <a:ea typeface="Cambria Math"/>
                              <a:cs typeface="Cambria Math"/>
                            </a:rPr>
                            <ns4:t>−</ns4:t>
                          </ns4:r>
                          <ns4:r>
                            <a:rPr lang="en-US" sz="4400" b="0" i="1">
                              <a:latin typeface="Cambria Math"/>
                              <a:ea typeface="Cambria Math"/>
                              <a:cs typeface="Cambria Math"/>
                            </a:rPr>
                            <ns4:t>𝜇</ns4:t>
                          </ns4:r>
                        </ns4:e>
                      </ns4:d>
                    </ns4:num>
                    <ns4:den>
                      <ns4:r>
                        <a:rPr lang="en-US" sz="4400" b="0" i="1">
                          <a:latin typeface="Cambria Math"/>
                          <a:ea typeface="Cambria Math"/>
                          <a:cs typeface="Cambria Math"/>
                        </a:rPr>
                        <ns4:t>𝑆𝐸𝑀</ns4:t>
                      </ns4:r>
                    </ns4:den>
                  </ns4:f>
                </ns4:oMath>
              </ns4:oMathPara>
            </ns3:m>
            <a:endParaRPr sz="4400"/>
          </a:p>
        </p:txBody>
      </p:sp>
      <p:pic>
        <p:nvPicPr>
          <p:cNvPr id="20" name="Picture 12"/>
          <p:cNvPicPr>
            <a:picLocks noChangeAspect="1"/>
          </p:cNvPicPr>
          <p:nvPr/>
        </p:nvPicPr>
        <p:blipFill>
          <a:blip r:embed="rId4"/>
          <a:stretch>
            <a:fillRect l="0" t="0" r="0" b="0"/>
          </a:stretch>
        </p:blipFill>
        <p:spPr>
          <a:xfrm>
            <a:off x="11066444" y="2692400"/>
            <a:ext cx="881634" cy="1130300"/>
          </a:xfrm>
          <a:prstGeom prst="rect">
            <a:avLst/>
          </a:prstGeom>
        </p:spPr>
      </p:pic>
      <p:cxnSp>
        <p:nvCxnSpPr>
          <p:cNvPr id="21" name="Straight Arrow Connector 9"/>
          <p:cNvCxnSpPr>
            <a:stCxn id="13" idx="1"/>
          </p:cNvCxnSpPr>
          <p:nvPr/>
        </p:nvCxnSpPr>
        <p:spPr>
          <a:xfrm flipH="1" flipV="1">
            <a:off x="10096500" y="2909821"/>
            <a:ext cx="969944" cy="3477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sld>
</file>

<file path=ppt/slides/slide6.xml><?xml version="1.0" encoding="utf-8"?>
<p:sld xmlns:a="http://schemas.openxmlformats.org/drawingml/2006/main" xmlns:ns3="http://schemas.microsoft.com/office/drawing/2010/main" xmlns:ns4="http://schemas.openxmlformats.org/officeDocument/2006/math"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One-sample t-test</a:t>
            </a:r>
          </a:p>
        </p:txBody>
      </p:sp>
      <p:sp>
        <p:nvSpPr>
          <p:cNvPr id="4" name="Rectangle 3"/>
          <p:cNvSpPr>
            <a:spLocks noGrp="1"/>
          </p:cNvSpPr>
          <p:nvPr/>
        </p:nvSpPr>
        <p:spPr>
          <a:xfrm>
            <a:off x="243922" y="1357113"/>
            <a:ext cx="5852078" cy="3416320"/>
          </a:xfrm>
          <a:prstGeom prst="rect">
            <a:avLst/>
          </a:prstGeom>
        </p:spPr>
        <p:txBody>
          <a:bodyPr wrap="square">
            <a:spAutoFit/>
          </a:bodyPr>
          <a:lstStyle/>
          <a:p>
            <a:r>
              <a:rPr sz="2400"/>
              <a:t>The one sample T-test compares a sample to a hypothesis</a:t>
            </a:r>
          </a:p>
          <a:p>
            <a:endParaRPr sz="2400"/>
          </a:p>
          <a:p>
            <a:r>
              <a:rPr sz="2400"/>
              <a:t>Assumptions: </a:t>
            </a:r>
          </a:p>
          <a:p>
            <a:pPr marL="342900" indent="-342900">
              <a:buFont typeface="Arial"/>
              <a:buChar char="•"/>
            </a:pPr>
            <a:r>
              <a:rPr sz="2400"/>
              <a:t>The variable is normally distributed in the population </a:t>
            </a:r>
          </a:p>
          <a:p>
            <a:pPr marL="342900" indent="-342900">
              <a:buFont typeface="Arial"/>
              <a:buChar char="•"/>
            </a:pPr>
            <a:endParaRPr sz="2400"/>
          </a:p>
          <a:p>
            <a:r>
              <a:rPr sz="2400"/>
              <a:t>Implementation</a:t>
            </a:r>
          </a:p>
          <a:p>
            <a:endParaRPr sz="2400" b="1"/>
          </a:p>
        </p:txBody>
      </p:sp>
      <p:pic>
        <p:nvPicPr>
          <p:cNvPr id="16" name="Picture 2"/>
          <p:cNvPicPr>
            <a:picLocks noChangeAspect="1"/>
          </p:cNvPicPr>
          <p:nvPr/>
        </p:nvPicPr>
        <p:blipFill rotWithShape="1">
          <a:blip r:embed="rId2"/>
          <a:srcRect l="0" t="32614" r="0" b="0"/>
          <a:stretch/>
        </p:blipFill>
        <p:spPr>
          <a:xfrm>
            <a:off x="243922" y="4825299"/>
            <a:ext cx="4927600" cy="1651700"/>
          </a:xfrm>
          <a:prstGeom prst="rect">
            <a:avLst/>
          </a:prstGeom>
        </p:spPr>
      </p:pic>
      <p:sp>
        <p:nvSpPr>
          <p:cNvPr id="5" name="Right Arrow 4"/>
          <p:cNvSpPr>
            <a:spLocks noGrp="1"/>
          </p:cNvSpPr>
          <p:nvPr/>
        </p:nvSpPr>
        <p:spPr>
          <a:xfrm>
            <a:off x="5444836" y="4883727"/>
            <a:ext cx="768927" cy="561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Picture 5"/>
          <p:cNvPicPr>
            <a:picLocks noChangeAspect="1"/>
          </p:cNvPicPr>
          <p:nvPr/>
        </p:nvPicPr>
        <p:blipFill>
          <a:blip r:embed="rId3"/>
          <a:stretch>
            <a:fillRect l="0" t="0" r="0" b="0"/>
          </a:stretch>
        </p:blipFill>
        <p:spPr>
          <a:xfrm>
            <a:off x="6410877" y="3936997"/>
            <a:ext cx="5636383" cy="2540001"/>
          </a:xfrm>
          <a:prstGeom prst="rect">
            <a:avLst/>
          </a:prstGeom>
        </p:spPr>
      </p:pic>
      <p:sp>
        <p:nvSpPr>
          <p:cNvPr id="8" name="TextBox 7"/>
          <p:cNvSpPr>
            <a:spLocks noGrp="1"/>
          </p:cNvSpPr>
          <p:nvPr/>
        </p:nvSpPr>
        <p:spPr>
          <a:xfrm>
            <a:off x="7523053" y="1551821"/>
            <a:ext cx="2918748" cy="1358000"/>
          </a:xfrm>
          <a:prstGeom prst="rect">
            <a:avLst/>
          </a:prstGeom>
          <a:noFill/>
        </p:spPr>
        <p:txBody>
          <a:bodyPr wrap="none" lIns="0" tIns="0" rIns="0" bIns="0">
            <a:spAutoFit/>
          </a:bodyPr>
          <a:lstStyle/>
          <a:p>
            <a:pPr>
              <a:buNone/>
            </a:pPr>
            <ns3:m>
              <ns4:oMathPara>
                <ns4:oMathParaPr>
                  <ns4:jc ns4:val="centerGroup"/>
                </ns4:oMathParaPr>
                <ns4:oMath>
                  <ns4:r>
                    <a:rPr lang="en-US" sz="4400" b="0" i="1">
                      <a:latin typeface="Cambria Math"/>
                      <a:ea typeface="Cambria Math"/>
                      <a:cs typeface="Cambria Math"/>
                    </a:rPr>
                    <ns4:t>𝑡</ns4:t>
                  </ns4:r>
                  <ns4:r>
                    <a:rPr lang="en-US" sz="4400" b="0" i="1">
                      <a:latin typeface="Cambria Math"/>
                      <a:ea typeface="Cambria Math"/>
                      <a:cs typeface="Cambria Math"/>
                    </a:rPr>
                    <ns4:t>=</ns4:t>
                  </ns4:r>
                  <ns4:f>
                    <ns4:num>
                      <ns4:d>
                        <ns4:dPr>
                          <ns4:grow ns4:val="off"/>
                        </ns4:dPr>
                        <ns4:e>
                          <ns4:acc>
                            <ns4:accPr>
                              <ns4:chr ns4:val="̅"/>
                            </ns4:accPr>
                            <ns4:e>
                              <ns4:r>
                                <a:rPr lang="en-US" sz="4400" b="0" i="1">
                                  <a:latin typeface="Cambria Math"/>
                                  <a:ea typeface="Cambria Math"/>
                                  <a:cs typeface="Cambria Math"/>
                                </a:rPr>
                                <ns4:t>𝑌</ns4:t>
                              </ns4:r>
                            </ns4:e>
                          </ns4:acc>
                          <ns4:r>
                            <a:rPr lang="en-US" sz="4400" b="0" i="1">
                              <a:latin typeface="Cambria Math"/>
                              <a:ea typeface="Cambria Math"/>
                              <a:cs typeface="Cambria Math"/>
                            </a:rPr>
                            <ns4:t>−</ns4:t>
                          </ns4:r>
                          <ns4:r>
                            <a:rPr lang="en-US" sz="4400" b="0" i="1">
                              <a:latin typeface="Cambria Math"/>
                              <a:ea typeface="Cambria Math"/>
                              <a:cs typeface="Cambria Math"/>
                            </a:rPr>
                            <ns4:t>𝜇</ns4:t>
                          </ns4:r>
                        </ns4:e>
                      </ns4:d>
                    </ns4:num>
                    <ns4:den>
                      <ns4:r>
                        <a:rPr lang="en-US" sz="4400" b="0" i="1">
                          <a:latin typeface="Cambria Math"/>
                          <a:ea typeface="Cambria Math"/>
                          <a:cs typeface="Cambria Math"/>
                        </a:rPr>
                        <ns4:t>𝑆𝐸𝑀</ns4:t>
                      </ns4:r>
                    </ns4:den>
                  </ns4:f>
                </ns4:oMath>
              </ns4:oMathPara>
            </ns3:m>
            <a:endParaRPr sz="4400"/>
          </a:p>
        </p:txBody>
      </p:sp>
      <p:pic>
        <p:nvPicPr>
          <p:cNvPr id="20" name="Picture 12"/>
          <p:cNvPicPr>
            <a:picLocks noChangeAspect="1"/>
          </p:cNvPicPr>
          <p:nvPr/>
        </p:nvPicPr>
        <p:blipFill>
          <a:blip r:embed="rId4"/>
          <a:stretch>
            <a:fillRect l="0" t="0" r="0" b="0"/>
          </a:stretch>
        </p:blipFill>
        <p:spPr>
          <a:xfrm>
            <a:off x="11066444" y="2692400"/>
            <a:ext cx="881634" cy="1130300"/>
          </a:xfrm>
          <a:prstGeom prst="rect">
            <a:avLst/>
          </a:prstGeom>
        </p:spPr>
      </p:pic>
      <p:cxnSp>
        <p:nvCxnSpPr>
          <p:cNvPr id="21" name="Straight Arrow Connector 9"/>
          <p:cNvCxnSpPr>
            <a:stCxn id="13" idx="1"/>
          </p:cNvCxnSpPr>
          <p:nvPr/>
        </p:nvCxnSpPr>
        <p:spPr>
          <a:xfrm flipH="1" flipV="1">
            <a:off x="10096500" y="2909821"/>
            <a:ext cx="969944" cy="34772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sld>
</file>

<file path=ppt/slides/slide7.xml><?xml version="1.0" encoding="utf-8"?>
<p:sld xmlns:a="http://schemas.openxmlformats.org/drawingml/2006/main" xmlns:ns2="http://schemas.microsoft.com/office/drawing/2010/main" xmlns:ns3="http://schemas.openxmlformats.org/officeDocument/2006/math"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One-sample t-test</a:t>
            </a:r>
          </a:p>
        </p:txBody>
      </p:sp>
      <p:sp>
        <p:nvSpPr>
          <p:cNvPr id="4" name="Rectangle 3"/>
          <p:cNvSpPr>
            <a:spLocks noGrp="1"/>
          </p:cNvSpPr>
          <p:nvPr/>
        </p:nvSpPr>
        <p:spPr>
          <a:xfrm>
            <a:off x="540572" y="1792944"/>
            <a:ext cx="5852078" cy="1569660"/>
          </a:xfrm>
          <a:prstGeom prst="rect">
            <a:avLst/>
          </a:prstGeom>
        </p:spPr>
        <p:txBody>
          <a:bodyPr wrap="square">
            <a:spAutoFit/>
          </a:bodyPr>
          <a:lstStyle/>
          <a:p>
            <a:r>
              <a:rPr sz="2400"/>
              <a:t>Arcsine is the standard transformation for proportion data. Lets see how our answer changes.</a:t>
            </a:r>
          </a:p>
          <a:p>
            <a:endParaRPr sz="2400" b="1"/>
          </a:p>
        </p:txBody>
      </p:sp>
      <p:sp>
        <p:nvSpPr>
          <p:cNvPr id="5" name="Right Arrow 4"/>
          <p:cNvSpPr>
            <a:spLocks noGrp="1"/>
          </p:cNvSpPr>
          <p:nvPr/>
        </p:nvSpPr>
        <p:spPr>
          <a:xfrm>
            <a:off x="5444836" y="4883727"/>
            <a:ext cx="768927" cy="561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TextBox 7"/>
          <p:cNvSpPr>
            <a:spLocks noGrp="1"/>
          </p:cNvSpPr>
          <p:nvPr/>
        </p:nvSpPr>
        <p:spPr>
          <a:xfrm>
            <a:off x="7523053" y="1551821"/>
            <a:ext cx="2918748" cy="1358000"/>
          </a:xfrm>
          <a:prstGeom prst="rect">
            <a:avLst/>
          </a:prstGeom>
          <a:noFill/>
        </p:spPr>
        <p:txBody>
          <a:bodyPr wrap="none" lIns="0" tIns="0" rIns="0" bIns="0">
            <a:spAutoFit/>
          </a:bodyPr>
          <a:lstStyle/>
          <a:p>
            <a:pPr>
              <a:buNone/>
            </a:pPr>
            <ns2:m>
              <ns3:oMathPara>
                <ns3:oMathParaPr>
                  <ns3:jc ns3:val="centerGroup"/>
                </ns3:oMathParaPr>
                <ns3:oMath>
                  <ns3:r>
                    <a:rPr lang="en-US" sz="4400" b="0" i="1">
                      <a:latin typeface="Cambria Math"/>
                      <a:ea typeface="Cambria Math"/>
                      <a:cs typeface="Cambria Math"/>
                    </a:rPr>
                    <ns3:t>𝑡</ns3:t>
                  </ns3:r>
                  <ns3:r>
                    <a:rPr lang="en-US" sz="4400" b="0" i="1">
                      <a:latin typeface="Cambria Math"/>
                      <a:ea typeface="Cambria Math"/>
                      <a:cs typeface="Cambria Math"/>
                    </a:rPr>
                    <ns3:t>=</ns3:t>
                  </ns3:r>
                  <ns3:f>
                    <ns3:num>
                      <ns3:d>
                        <ns3:dPr>
                          <ns3:grow ns3:val="off"/>
                        </ns3:dPr>
                        <ns3:e>
                          <ns3:acc>
                            <ns3:accPr>
                              <ns3:chr ns3:val="̅"/>
                            </ns3:accPr>
                            <ns3:e>
                              <ns3:r>
                                <a:rPr lang="en-US" sz="4400" b="0" i="1">
                                  <a:latin typeface="Cambria Math"/>
                                  <a:ea typeface="Cambria Math"/>
                                  <a:cs typeface="Cambria Math"/>
                                </a:rPr>
                                <ns3:t>𝑌</ns3:t>
                              </ns3:r>
                            </ns3:e>
                          </ns3:acc>
                          <ns3:r>
                            <a:rPr lang="en-US" sz="4400" b="0" i="1">
                              <a:latin typeface="Cambria Math"/>
                              <a:ea typeface="Cambria Math"/>
                              <a:cs typeface="Cambria Math"/>
                            </a:rPr>
                            <ns3:t>−</ns3:t>
                          </ns3:r>
                          <ns3:r>
                            <a:rPr lang="en-US" sz="4400" b="0" i="1">
                              <a:latin typeface="Cambria Math"/>
                              <a:ea typeface="Cambria Math"/>
                              <a:cs typeface="Cambria Math"/>
                            </a:rPr>
                            <ns3:t>𝜇</ns3:t>
                          </ns3:r>
                        </ns3:e>
                      </ns3:d>
                    </ns3:num>
                    <ns3:den>
                      <ns3:r>
                        <a:rPr lang="en-US" sz="4400" b="0" i="1">
                          <a:latin typeface="Cambria Math"/>
                          <a:ea typeface="Cambria Math"/>
                          <a:cs typeface="Cambria Math"/>
                        </a:rPr>
                        <ns3:t>𝑆𝐸𝑀</ns3:t>
                      </ns3:r>
                    </ns3:den>
                  </ns3:f>
                </ns3:oMath>
              </ns3:oMathPara>
            </ns2:m>
            <a:endParaRPr sz="4400"/>
          </a:p>
        </p:txBody>
      </p:sp>
      <p:pic>
        <p:nvPicPr>
          <p:cNvPr id="20" name="Picture 10"/>
          <p:cNvPicPr>
            <a:picLocks noChangeAspect="1"/>
          </p:cNvPicPr>
          <p:nvPr/>
        </p:nvPicPr>
        <p:blipFill>
          <a:blip r:embed="rId2"/>
          <a:stretch>
            <a:fillRect l="0" t="0" r="0" b="0"/>
          </a:stretch>
        </p:blipFill>
        <p:spPr>
          <a:xfrm>
            <a:off x="540572" y="4311419"/>
            <a:ext cx="4717228" cy="1478065"/>
          </a:xfrm>
          <a:prstGeom prst="rect">
            <a:avLst/>
          </a:prstGeom>
        </p:spPr>
      </p:pic>
      <p:pic>
        <p:nvPicPr>
          <p:cNvPr id="21" name="Picture 11"/>
          <p:cNvPicPr>
            <a:picLocks noChangeAspect="1"/>
          </p:cNvPicPr>
          <p:nvPr/>
        </p:nvPicPr>
        <p:blipFill>
          <a:blip r:embed="rId3"/>
          <a:stretch>
            <a:fillRect l="0" t="0" r="0" b="0"/>
          </a:stretch>
        </p:blipFill>
        <p:spPr>
          <a:xfrm>
            <a:off x="6392650" y="3962060"/>
            <a:ext cx="5526140" cy="2176782"/>
          </a:xfrm>
          <a:prstGeom prst="rect">
            <a:avLst/>
          </a:prstGeom>
        </p:spPr>
      </p:pic>
      <p:sp>
        <p:nvSpPr>
          <p:cNvPr id="13" name="Rectangle 12"/>
          <p:cNvSpPr>
            <a:spLocks noGrp="1"/>
          </p:cNvSpPr>
          <p:nvPr/>
        </p:nvSpPr>
        <p:spPr>
          <a:xfrm>
            <a:off x="6400799" y="5221431"/>
            <a:ext cx="1905001" cy="280555"/>
          </a:xfrm>
          <a:prstGeom prst="rect">
            <a:avLst/>
          </a:prstGeom>
          <a:solidFill>
            <a:srgbClr val="FFFF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sld>
</file>

<file path=ppt/slides/slide8.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If you transform don’t forget to back transform</a:t>
            </a:r>
          </a:p>
        </p:txBody>
      </p:sp>
      <p:pic>
        <p:nvPicPr>
          <p:cNvPr id="18" name="Picture 11"/>
          <p:cNvPicPr>
            <a:picLocks noChangeAspect="1"/>
          </p:cNvPicPr>
          <p:nvPr/>
        </p:nvPicPr>
        <p:blipFill>
          <a:blip r:embed="rId2"/>
          <a:stretch>
            <a:fillRect l="0" t="0" r="0" b="0"/>
          </a:stretch>
        </p:blipFill>
        <p:spPr>
          <a:xfrm>
            <a:off x="258550" y="1237910"/>
            <a:ext cx="5526140" cy="2176782"/>
          </a:xfrm>
          <a:prstGeom prst="rect">
            <a:avLst/>
          </a:prstGeom>
        </p:spPr>
      </p:pic>
      <p:sp>
        <p:nvSpPr>
          <p:cNvPr id="13" name="Rectangle 12"/>
          <p:cNvSpPr>
            <a:spLocks noGrp="1"/>
          </p:cNvSpPr>
          <p:nvPr/>
        </p:nvSpPr>
        <p:spPr>
          <a:xfrm>
            <a:off x="266699" y="2497281"/>
            <a:ext cx="1905001" cy="280555"/>
          </a:xfrm>
          <a:prstGeom prst="rect">
            <a:avLst/>
          </a:prstGeom>
          <a:solidFill>
            <a:srgbClr val="FFFF00">
              <a:alpha val="3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 name="Picture 2"/>
          <p:cNvPicPr>
            <a:picLocks noChangeAspect="1"/>
          </p:cNvPicPr>
          <p:nvPr/>
        </p:nvPicPr>
        <p:blipFill>
          <a:blip r:embed="rId3"/>
          <a:stretch>
            <a:fillRect l="0" t="0" r="0" b="0"/>
          </a:stretch>
        </p:blipFill>
        <p:spPr>
          <a:xfrm>
            <a:off x="6312976" y="1237910"/>
            <a:ext cx="5485323" cy="1752940"/>
          </a:xfrm>
          <a:prstGeom prst="rect">
            <a:avLst/>
          </a:prstGeom>
        </p:spPr>
      </p:pic>
      <p:pic>
        <p:nvPicPr>
          <p:cNvPr id="21" name="Picture 5"/>
          <p:cNvPicPr>
            <a:picLocks noChangeAspect="1"/>
          </p:cNvPicPr>
          <p:nvPr/>
        </p:nvPicPr>
        <p:blipFill>
          <a:blip r:embed="rId4"/>
          <a:stretch>
            <a:fillRect l="0" t="0" r="0" b="0"/>
          </a:stretch>
        </p:blipFill>
        <p:spPr>
          <a:xfrm>
            <a:off x="6312976" y="2990850"/>
            <a:ext cx="3345374" cy="392474"/>
          </a:xfrm>
          <a:prstGeom prst="rect">
            <a:avLst/>
          </a:prstGeom>
        </p:spPr>
      </p:pic>
    </p:spTree>
  </p:cSld>
</p:sld>
</file>

<file path=ppt/slides/slide9.xml><?xml version="1.0" encoding="utf-8"?>
<p:sld xmlns:a="http://schemas.openxmlformats.org/drawingml/2006/main" xmlns:ns2="http://schemas.microsoft.com/office/drawing/2010/main" xmlns:ns3="http://schemas.openxmlformats.org/officeDocument/2006/math"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Two-sample t-test</a:t>
            </a:r>
          </a:p>
        </p:txBody>
      </p:sp>
      <p:sp>
        <p:nvSpPr>
          <p:cNvPr id="4" name="Rectangle 3"/>
          <p:cNvSpPr>
            <a:spLocks noGrp="1"/>
          </p:cNvSpPr>
          <p:nvPr/>
        </p:nvSpPr>
        <p:spPr>
          <a:xfrm>
            <a:off x="243922" y="1357113"/>
            <a:ext cx="5852078" cy="2308324"/>
          </a:xfrm>
          <a:prstGeom prst="rect">
            <a:avLst/>
          </a:prstGeom>
        </p:spPr>
        <p:txBody>
          <a:bodyPr wrap="square">
            <a:spAutoFit/>
          </a:bodyPr>
          <a:lstStyle/>
          <a:p>
            <a:r>
              <a:rPr sz="2400"/>
              <a:t>Many times we will want to compare two populations strains or treatments and see if their means differ.</a:t>
            </a:r>
          </a:p>
          <a:p>
            <a:pPr marL="342900" indent="-342900">
              <a:buFont typeface="Arial"/>
              <a:buChar char="•"/>
            </a:pPr>
            <a:endParaRPr sz="2400"/>
          </a:p>
          <a:p>
            <a:r>
              <a:rPr sz="2400"/>
              <a:t>Implementation</a:t>
            </a:r>
          </a:p>
          <a:p>
            <a:endParaRPr sz="2400" b="1"/>
          </a:p>
        </p:txBody>
      </p:sp>
      <p:sp>
        <p:nvSpPr>
          <p:cNvPr id="5" name="Right Arrow 4"/>
          <p:cNvSpPr>
            <a:spLocks noGrp="1"/>
          </p:cNvSpPr>
          <p:nvPr/>
        </p:nvSpPr>
        <p:spPr>
          <a:xfrm>
            <a:off x="4195079" y="4739217"/>
            <a:ext cx="768927" cy="561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TextBox 7"/>
          <p:cNvSpPr>
            <a:spLocks noGrp="1"/>
          </p:cNvSpPr>
          <p:nvPr/>
        </p:nvSpPr>
        <p:spPr>
          <a:xfrm>
            <a:off x="7647744" y="1356022"/>
            <a:ext cx="2798715" cy="2309415"/>
          </a:xfrm>
          <a:prstGeom prst="rect">
            <a:avLst/>
          </a:prstGeom>
          <a:noFill/>
        </p:spPr>
        <p:txBody>
          <a:bodyPr wrap="none" lIns="0" tIns="0" rIns="0" bIns="0">
            <a:spAutoFit/>
          </a:bodyPr>
          <a:lstStyle/>
          <a:p>
            <a:pPr>
              <a:buNone/>
            </a:pPr>
            <ns2:m>
              <ns3:oMathPara>
                <ns3:oMathParaPr>
                  <ns3:jc ns3:val="centerGroup"/>
                </ns3:oMathParaPr>
                <ns3:oMath>
                  <ns3:r>
                    <a:rPr lang="en-US" sz="3600" b="0" i="1">
                      <a:latin typeface="Cambria Math"/>
                      <a:ea typeface="Cambria Math"/>
                      <a:cs typeface="Cambria Math"/>
                    </a:rPr>
                    <ns3:t>𝑡</ns3:t>
                  </ns3:r>
                  <ns3:r>
                    <a:rPr lang="en-US" sz="3600" b="0" i="1">
                      <a:latin typeface="Cambria Math"/>
                      <a:ea typeface="Cambria Math"/>
                      <a:cs typeface="Cambria Math"/>
                    </a:rPr>
                    <ns3:t>=</ns3:t>
                  </ns3:r>
                  <ns3:f>
                    <ns3:num>
                      <ns3:d>
                        <ns3:dPr>
                          <ns3:grow ns3:val="off"/>
                        </ns3:dPr>
                        <ns3:e>
                          <ns3:sSub>
                            <ns3:e>
                              <ns3:acc>
                                <ns3:accPr>
                                  <ns3:chr ns3:val="̅"/>
                                </ns3:accPr>
                                <ns3:e>
                                  <ns3:r>
                                    <a:rPr lang="en-US" sz="3600" b="0" i="1">
                                      <a:latin typeface="Cambria Math"/>
                                      <a:ea typeface="Cambria Math"/>
                                      <a:cs typeface="Cambria Math"/>
                                    </a:rPr>
                                    <ns3:t>𝑌</ns3:t>
                                  </ns3:r>
                                </ns3:e>
                              </ns3:acc>
                            </ns3:e>
                            <ns3:sub>
                              <ns3:r>
                                <a:rPr lang="en-US" sz="3600" b="0" i="1">
                                  <a:latin typeface="Cambria Math"/>
                                  <a:ea typeface="Cambria Math"/>
                                  <a:cs typeface="Cambria Math"/>
                                </a:rPr>
                                <ns3:t>𝑎</ns3:t>
                              </ns3:r>
                            </ns3:sub>
                          </ns3:sSub>
                          <ns3:r>
                            <a:rPr lang="en-US" sz="3600" b="0" i="1">
                              <a:latin typeface="Cambria Math"/>
                              <a:ea typeface="Cambria Math"/>
                              <a:cs typeface="Cambria Math"/>
                            </a:rPr>
                            <ns3:t>−</ns3:t>
                          </ns3:r>
                          <ns3:sSub>
                            <ns3:e>
                              <ns3:acc>
                                <ns3:accPr>
                                  <ns3:chr ns3:val="̅"/>
                                </ns3:accPr>
                                <ns3:e>
                                  <ns3:r>
                                    <a:rPr lang="en-US" sz="3600" i="1">
                                      <a:latin typeface="Cambria Math"/>
                                      <a:ea typeface="Cambria Math"/>
                                      <a:cs typeface="Cambria Math"/>
                                    </a:rPr>
                                    <ns3:t>𝑌</ns3:t>
                                  </ns3:r>
                                </ns3:e>
                              </ns3:acc>
                            </ns3:e>
                            <ns3:sub>
                              <ns3:r>
                                <a:rPr lang="en-US" sz="3600" b="0" i="1">
                                  <a:latin typeface="Cambria Math"/>
                                  <a:ea typeface="Cambria Math"/>
                                  <a:cs typeface="Cambria Math"/>
                                </a:rPr>
                                <ns3:t>𝑏</ns3:t>
                              </ns3:r>
                            </ns3:sub>
                          </ns3:sSub>
                        </ns3:e>
                      </ns3:d>
                    </ns3:num>
                    <ns3:den>
                      <ns3:rad>
                        <ns3:radPr>
                          <ns3:degHide ns3:val="on"/>
                        </ns3:radPr>
                        <ns3:e>
                          <ns3:f>
                            <ns3:num>
                              <ns3:sSubSup>
                                <ns3:e>
                                  <ns3:r>
                                    <a:rPr lang="en-US" sz="3600" b="0" i="1">
                                      <a:latin typeface="Cambria Math"/>
                                      <a:ea typeface="Cambria Math"/>
                                      <a:cs typeface="Cambria Math"/>
                                    </a:rPr>
                                    <ns3:t>𝑠</ns3:t>
                                  </ns3:r>
                                </ns3:e>
                                <ns3:sub>
                                  <ns3:r>
                                    <a:rPr lang="en-US" sz="3600" b="0" i="1">
                                      <a:latin typeface="Cambria Math"/>
                                      <a:ea typeface="Cambria Math"/>
                                      <a:cs typeface="Cambria Math"/>
                                    </a:rPr>
                                    <ns3:t>𝑎</ns3:t>
                                  </ns3:r>
                                </ns3:sub>
                                <ns3:sup>
                                  <ns3:r>
                                    <a:rPr lang="en-US" sz="3600" b="0" i="1">
                                      <a:latin typeface="Cambria Math"/>
                                      <a:ea typeface="Cambria Math"/>
                                      <a:cs typeface="Cambria Math"/>
                                    </a:rPr>
                                    <ns3:t>2</ns3:t>
                                  </ns3:r>
                                </ns3:sup>
                              </ns3:sSubSup>
                            </ns3:num>
                            <ns3:den>
                              <ns3:sSub>
                                <ns3:e>
                                  <ns3:r>
                                    <a:rPr lang="en-US" sz="3600" b="0" i="1">
                                      <a:latin typeface="Cambria Math"/>
                                      <a:ea typeface="Cambria Math"/>
                                      <a:cs typeface="Cambria Math"/>
                                    </a:rPr>
                                    <ns3:t>𝑛</ns3:t>
                                  </ns3:r>
                                </ns3:e>
                                <ns3:sub>
                                  <ns3:r>
                                    <a:rPr lang="en-US" sz="3600" b="0" i="1">
                                      <a:latin typeface="Cambria Math"/>
                                      <a:ea typeface="Cambria Math"/>
                                      <a:cs typeface="Cambria Math"/>
                                    </a:rPr>
                                    <ns3:t>𝑎</ns3:t>
                                  </ns3:r>
                                </ns3:sub>
                              </ns3:sSub>
                            </ns3:den>
                          </ns3:f>
                          <ns3:r>
                            <a:rPr lang="en-US" sz="3600" b="0" i="1">
                              <a:latin typeface="Cambria Math"/>
                              <a:ea typeface="Cambria Math"/>
                              <a:cs typeface="Cambria Math"/>
                            </a:rPr>
                            <ns3:t>+</ns3:t>
                          </ns3:r>
                          <ns3:f>
                            <ns3:num>
                              <ns3:sSubSup>
                                <ns3:e>
                                  <ns3:r>
                                    <a:rPr lang="en-US" sz="3600" i="1">
                                      <a:latin typeface="Cambria Math"/>
                                      <a:ea typeface="Cambria Math"/>
                                      <a:cs typeface="Cambria Math"/>
                                    </a:rPr>
                                    <ns3:t>𝑠</ns3:t>
                                  </ns3:r>
                                </ns3:e>
                                <ns3:sub>
                                  <ns3:r>
                                    <a:rPr lang="en-US" sz="3600" b="0" i="1">
                                      <a:latin typeface="Cambria Math"/>
                                      <a:ea typeface="Cambria Math"/>
                                      <a:cs typeface="Cambria Math"/>
                                    </a:rPr>
                                    <ns3:t>𝑏</ns3:t>
                                  </ns3:r>
                                </ns3:sub>
                                <ns3:sup>
                                  <ns3:r>
                                    <a:rPr lang="en-US" sz="3600" i="1">
                                      <a:latin typeface="Cambria Math"/>
                                      <a:ea typeface="Cambria Math"/>
                                      <a:cs typeface="Cambria Math"/>
                                    </a:rPr>
                                    <ns3:t>2</ns3:t>
                                  </ns3:r>
                                </ns3:sup>
                              </ns3:sSubSup>
                            </ns3:num>
                            <ns3:den>
                              <ns3:sSub>
                                <ns3:e>
                                  <ns3:r>
                                    <a:rPr lang="en-US" sz="3600" i="1">
                                      <a:latin typeface="Cambria Math"/>
                                      <a:ea typeface="Cambria Math"/>
                                      <a:cs typeface="Cambria Math"/>
                                    </a:rPr>
                                    <ns3:t>𝑛</ns3:t>
                                  </ns3:r>
                                </ns3:e>
                                <ns3:sub>
                                  <ns3:r>
                                    <a:rPr lang="en-US" sz="3600" b="0" i="1">
                                      <a:latin typeface="Cambria Math"/>
                                      <a:ea typeface="Cambria Math"/>
                                      <a:cs typeface="Cambria Math"/>
                                    </a:rPr>
                                    <ns3:t>𝑏</ns3:t>
                                  </ns3:r>
                                </ns3:sub>
                              </ns3:sSub>
                            </ns3:den>
                          </ns3:f>
                        </ns3:e>
                      </ns3:rad>
                    </ns3:den>
                  </ns3:f>
                </ns3:oMath>
              </ns3:oMathPara>
            </ns2:m>
            <a:endParaRPr sz="3600"/>
          </a:p>
        </p:txBody>
      </p:sp>
      <p:pic>
        <p:nvPicPr>
          <p:cNvPr id="15" name="Picture 6"/>
          <p:cNvPicPr>
            <a:picLocks noChangeAspect="1"/>
          </p:cNvPicPr>
          <p:nvPr/>
        </p:nvPicPr>
        <p:blipFill>
          <a:blip r:embed="rId2"/>
          <a:stretch>
            <a:fillRect l="0" t="0" r="0" b="0"/>
          </a:stretch>
        </p:blipFill>
        <p:spPr>
          <a:xfrm>
            <a:off x="340215" y="3503906"/>
            <a:ext cx="3644900" cy="2870200"/>
          </a:xfrm>
          <a:prstGeom prst="rect">
            <a:avLst/>
          </a:prstGeom>
        </p:spPr>
      </p:pic>
      <p:pic>
        <p:nvPicPr>
          <p:cNvPr id="16" name="Picture 8"/>
          <p:cNvPicPr>
            <a:picLocks noChangeAspect="1"/>
          </p:cNvPicPr>
          <p:nvPr/>
        </p:nvPicPr>
        <p:blipFill>
          <a:blip r:embed="rId3"/>
          <a:stretch>
            <a:fillRect l="0" t="0" r="0" b="0"/>
          </a:stretch>
        </p:blipFill>
        <p:spPr>
          <a:xfrm>
            <a:off x="5173971" y="3927764"/>
            <a:ext cx="6893338" cy="2446342"/>
          </a:xfrm>
          <a:prstGeom prst="rect">
            <a:avLst/>
          </a:prstGeom>
        </p:spPr>
      </p:pic>
    </p:spTree>
  </p:cSld>
</p:sld>
</file>

<file path=ppt/slides/slide10.xml><?xml version="1.0" encoding="utf-8"?>
<p:sld xmlns:a="http://schemas.openxmlformats.org/drawingml/2006/main" xmlns:ns2="http://schemas.microsoft.com/office/drawing/2010/main" xmlns:ns3="http://schemas.openxmlformats.org/officeDocument/2006/math"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Paired-sample t-test</a:t>
            </a:r>
          </a:p>
        </p:txBody>
      </p:sp>
      <p:sp>
        <p:nvSpPr>
          <p:cNvPr id="4" name="Rectangle 3"/>
          <p:cNvSpPr>
            <a:spLocks noGrp="1"/>
          </p:cNvSpPr>
          <p:nvPr/>
        </p:nvSpPr>
        <p:spPr>
          <a:xfrm>
            <a:off x="243922" y="1357113"/>
            <a:ext cx="5852078" cy="2677656"/>
          </a:xfrm>
          <a:prstGeom prst="rect">
            <a:avLst/>
          </a:prstGeom>
        </p:spPr>
        <p:txBody>
          <a:bodyPr wrap="square">
            <a:spAutoFit/>
          </a:bodyPr>
          <a:lstStyle/>
          <a:p>
            <a:r>
              <a:rPr sz="2400"/>
              <a:t>In some experiments you measure individuals before and after a manipulation.  These values can be analyzed with the paired-sample t-test.</a:t>
            </a:r>
          </a:p>
          <a:p>
            <a:pPr marL="342900" indent="-342900">
              <a:buFont typeface="Arial"/>
              <a:buChar char="•"/>
            </a:pPr>
            <a:endParaRPr sz="2400"/>
          </a:p>
          <a:p>
            <a:r>
              <a:rPr sz="2400"/>
              <a:t>Implementation</a:t>
            </a:r>
          </a:p>
          <a:p>
            <a:endParaRPr sz="2400" b="1"/>
          </a:p>
        </p:txBody>
      </p:sp>
      <p:sp>
        <p:nvSpPr>
          <p:cNvPr id="5" name="Right Arrow 4"/>
          <p:cNvSpPr>
            <a:spLocks noGrp="1"/>
          </p:cNvSpPr>
          <p:nvPr/>
        </p:nvSpPr>
        <p:spPr>
          <a:xfrm>
            <a:off x="4195079" y="4739217"/>
            <a:ext cx="768927" cy="56110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TextBox 7"/>
          <p:cNvSpPr>
            <a:spLocks noGrp="1"/>
          </p:cNvSpPr>
          <p:nvPr/>
        </p:nvSpPr>
        <p:spPr>
          <a:xfrm>
            <a:off x="6655546" y="1357113"/>
            <a:ext cx="1651413" cy="1255857"/>
          </a:xfrm>
          <a:prstGeom prst="rect">
            <a:avLst/>
          </a:prstGeom>
          <a:noFill/>
        </p:spPr>
        <p:txBody>
          <a:bodyPr wrap="none" lIns="0" tIns="0" rIns="0" bIns="0">
            <a:spAutoFit/>
          </a:bodyPr>
          <a:lstStyle/>
          <a:p>
            <a:pPr>
              <a:buNone/>
            </a:pPr>
            <ns2:m>
              <ns3:oMathPara>
                <ns3:oMathParaPr>
                  <ns3:jc ns3:val="centerGroup"/>
                </ns3:oMathParaPr>
                <ns3:oMath>
                  <ns3:r>
                    <a:rPr lang="en-US" sz="3600" b="0" i="1">
                      <a:latin typeface="Cambria Math"/>
                      <a:ea typeface="Cambria Math"/>
                      <a:cs typeface="Cambria Math"/>
                    </a:rPr>
                    <ns3:t>𝑡</ns3:t>
                  </ns3:r>
                  <ns3:r>
                    <a:rPr lang="en-US" sz="3600" b="0" i="1">
                      <a:latin typeface="Cambria Math"/>
                      <a:ea typeface="Cambria Math"/>
                      <a:cs typeface="Cambria Math"/>
                    </a:rPr>
                    <ns3:t>=</ns3:t>
                  </ns3:r>
                  <ns3:f>
                    <ns3:num>
                      <ns3:acc>
                        <ns3:accPr>
                          <ns3:chr ns3:val="̅"/>
                        </ns3:accPr>
                        <ns3:e>
                          <ns3:r>
                            <a:rPr lang="en-US" sz="3600" b="0" i="1">
                              <a:latin typeface="Cambria Math"/>
                              <a:ea typeface="Cambria Math"/>
                              <a:cs typeface="Cambria Math"/>
                            </a:rPr>
                            <ns3:t>𝑑</ns3:t>
                          </ns3:r>
                        </ns3:e>
                      </ns3:acc>
                    </ns3:num>
                    <ns3:den>
                      <ns3:sSub>
                        <ns3:e>
                          <ns3:r>
                            <a:rPr lang="en-US" sz="3600" b="0" i="1">
                              <a:latin typeface="Cambria Math"/>
                              <a:ea typeface="Cambria Math"/>
                              <a:cs typeface="Cambria Math"/>
                            </a:rPr>
                            <ns3:t>𝑆𝐸</ns3:t>
                          </ns3:r>
                        </ns3:e>
                        <ns3:sub>
                          <ns3:r>
                            <a:rPr lang="en-US" sz="3600" b="0" i="1">
                              <a:latin typeface="Cambria Math"/>
                              <a:ea typeface="Cambria Math"/>
                              <a:cs typeface="Cambria Math"/>
                            </a:rPr>
                            <ns3:t>𝑑</ns3:t>
                          </ns3:r>
                        </ns3:sub>
                      </ns3:sSub>
                    </ns3:den>
                  </ns3:f>
                </ns3:oMath>
              </ns3:oMathPara>
            </ns2:m>
            <a:endParaRPr sz="3600"/>
          </a:p>
        </p:txBody>
      </p:sp>
      <p:pic>
        <p:nvPicPr>
          <p:cNvPr id="15" name="Picture 2"/>
          <p:cNvPicPr>
            <a:picLocks noChangeAspect="1"/>
          </p:cNvPicPr>
          <p:nvPr/>
        </p:nvPicPr>
        <p:blipFill>
          <a:blip r:embed="rId2"/>
          <a:stretch>
            <a:fillRect l="0" t="0" r="0" b="0"/>
          </a:stretch>
        </p:blipFill>
        <p:spPr>
          <a:xfrm>
            <a:off x="116556" y="4424844"/>
            <a:ext cx="3812861" cy="1669866"/>
          </a:xfrm>
          <a:prstGeom prst="rect">
            <a:avLst/>
          </a:prstGeom>
        </p:spPr>
      </p:pic>
      <p:pic>
        <p:nvPicPr>
          <p:cNvPr id="16" name="Picture 5"/>
          <p:cNvPicPr>
            <a:picLocks noChangeAspect="1"/>
          </p:cNvPicPr>
          <p:nvPr/>
        </p:nvPicPr>
        <p:blipFill>
          <a:blip r:embed="rId3"/>
          <a:stretch>
            <a:fillRect l="0" t="0" r="0" b="0"/>
          </a:stretch>
        </p:blipFill>
        <p:spPr>
          <a:xfrm>
            <a:off x="5229668" y="4007692"/>
            <a:ext cx="6939664" cy="2504171"/>
          </a:xfrm>
          <a:prstGeom prst="rect">
            <a:avLst/>
          </a:prstGeom>
        </p:spPr>
      </p:pic>
      <p:sp>
        <p:nvSpPr>
          <p:cNvPr id="7" name="TextBox 6"/>
          <p:cNvSpPr>
            <a:spLocks noGrp="1"/>
          </p:cNvSpPr>
          <p:nvPr/>
        </p:nvSpPr>
        <p:spPr>
          <a:xfrm>
            <a:off x="8866505" y="1626828"/>
            <a:ext cx="2883482" cy="844975"/>
          </a:xfrm>
          <a:prstGeom prst="rect">
            <a:avLst/>
          </a:prstGeom>
          <a:noFill/>
        </p:spPr>
        <p:txBody>
          <a:bodyPr wrap="none" lIns="0" tIns="0" rIns="0" bIns="0">
            <a:spAutoFit/>
          </a:bodyPr>
          <a:lstStyle/>
          <a:p>
            <a:pPr>
              <a:buNone/>
            </a:pPr>
            <ns2:m>
              <ns3:oMathPara>
                <ns3:oMathParaPr>
                  <ns3:jc ns3:val="centerGroup"/>
                </ns3:oMathParaPr>
                <ns3:oMath>
                  <ns3:acc>
                    <ns3:accPr>
                      <ns3:chr ns3:val="̅"/>
                    </ns3:accPr>
                    <ns3:e>
                      <ns3:r>
                        <a:rPr lang="en-US" sz="2800" b="0" i="1">
                          <a:latin typeface="Cambria Math"/>
                          <a:ea typeface="Cambria Math"/>
                          <a:cs typeface="Cambria Math"/>
                        </a:rPr>
                        <ns3:t>𝑑</ns3:t>
                      </ns3:r>
                    </ns3:e>
                  </ns3:acc>
                  <ns3:r>
                    <a:rPr lang="en-US" sz="2800" b="0" i="1">
                      <a:latin typeface="Cambria Math"/>
                      <a:ea typeface="Cambria Math"/>
                      <a:cs typeface="Cambria Math"/>
                    </a:rPr>
                    <ns3:t>=</ns3:t>
                  </ns3:r>
                  <ns3:f>
                    <ns3:num>
                      <ns3:nary>
                        <ns3:naryPr>
                          <ns3:chr ns3:val="∑"/>
                          <ns3:subHide ns3:val="off"/>
                          <ns3:supHide ns3:val="off"/>
                        </ns3:naryPr>
                        <ns3:sub>
                          <ns3:r>
                            <a:rPr lang="en-US" sz="2800" b="0" i="1">
                              <a:latin typeface="Cambria Math"/>
                              <a:ea typeface="Cambria Math"/>
                              <a:cs typeface="Cambria Math"/>
                            </a:rPr>
                            <ns3:t>𝑖</ns3:t>
                          </ns3:r>
                          <ns3:r>
                            <a:rPr lang="en-US" sz="2800" b="0" i="1">
                              <a:latin typeface="Cambria Math"/>
                              <a:ea typeface="Cambria Math"/>
                              <a:cs typeface="Cambria Math"/>
                            </a:rPr>
                            <ns3:t>=1</ns3:t>
                          </ns3:r>
                        </ns3:sub>
                        <ns3:sup>
                          <ns3:r>
                            <a:rPr lang="en-US" sz="2800" b="0" i="1">
                              <a:latin typeface="Cambria Math"/>
                              <a:ea typeface="Cambria Math"/>
                              <a:cs typeface="Cambria Math"/>
                            </a:rPr>
                            <ns3:t>𝑛</ns3:t>
                          </ns3:r>
                        </ns3:sup>
                        <ns3:e>
                          <ns3:sSub>
                            <ns3:e>
                              <ns3:r>
                                <a:rPr lang="en-US" sz="2800" b="0" i="1">
                                  <a:latin typeface="Cambria Math"/>
                                  <a:ea typeface="Cambria Math"/>
                                  <a:cs typeface="Cambria Math"/>
                                </a:rPr>
                                <ns3:t>𝑦</ns3:t>
                              </ns3:r>
                            </ns3:e>
                            <ns3:sub>
                              <ns3:r>
                                <a:rPr lang="en-US" sz="2800" b="0" i="1">
                                  <a:latin typeface="Cambria Math"/>
                                  <a:ea typeface="Cambria Math"/>
                                  <a:cs typeface="Cambria Math"/>
                                </a:rPr>
                                <ns3:t>𝑎𝑖</ns3:t>
                              </ns3:r>
                            </ns3:sub>
                          </ns3:sSub>
                          <ns3:r>
                            <a:rPr lang="en-US" sz="2800" b="0" i="1">
                              <a:latin typeface="Cambria Math"/>
                              <a:ea typeface="Cambria Math"/>
                              <a:cs typeface="Cambria Math"/>
                            </a:rPr>
                            <ns3:t>−</ns3:t>
                          </ns3:r>
                          <ns3:sSub>
                            <ns3:e>
                              <ns3:r>
                                <a:rPr lang="en-US" sz="2800" b="0" i="1">
                                  <a:latin typeface="Cambria Math"/>
                                  <a:ea typeface="Cambria Math"/>
                                  <a:cs typeface="Cambria Math"/>
                                </a:rPr>
                                <ns3:t>𝑦</ns3:t>
                              </ns3:r>
                            </ns3:e>
                            <ns3:sub>
                              <ns3:r>
                                <a:rPr lang="en-US" sz="2800" b="0" i="1">
                                  <a:latin typeface="Cambria Math"/>
                                  <a:ea typeface="Cambria Math"/>
                                  <a:cs typeface="Cambria Math"/>
                                </a:rPr>
                                <ns3:t>𝑏𝑖</ns3:t>
                              </ns3:r>
                            </ns3:sub>
                          </ns3:sSub>
                        </ns3:e>
                      </ns3:nary>
                    </ns3:num>
                    <ns3:den>
                      <ns3:r>
                        <a:rPr lang="en-US" sz="2800" b="0" i="1">
                          <a:latin typeface="Cambria Math"/>
                          <a:ea typeface="Cambria Math"/>
                          <a:cs typeface="Cambria Math"/>
                        </a:rPr>
                        <ns3:t>𝑛</ns3:t>
                      </ns3:r>
                    </ns3:den>
                  </ns3:f>
                </ns3:oMath>
              </ns3:oMathPara>
            </ns2:m>
            <a:endParaRPr sz="2800"/>
          </a:p>
        </p:txBody>
      </p:sp>
    </p:spTree>
  </p:cSld>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Confidence Intervals and t-tests </a:t>
            </a:r>
          </a:p>
        </p:txBody>
      </p:sp>
      <p:sp>
        <p:nvSpPr>
          <p:cNvPr id="4" name="Rectangle 3"/>
          <p:cNvSpPr>
            <a:spLocks noGrp="1"/>
          </p:cNvSpPr>
          <p:nvPr/>
        </p:nvSpPr>
        <p:spPr>
          <a:xfrm>
            <a:off x="5340927" y="1161821"/>
            <a:ext cx="6233123" cy="3539430"/>
          </a:xfrm>
          <a:prstGeom prst="rect">
            <a:avLst/>
          </a:prstGeom>
        </p:spPr>
        <p:txBody>
          <a:bodyPr wrap="square">
            <a:spAutoFit/>
          </a:bodyPr>
          <a:lstStyle/>
          <a:p>
            <a:r>
              <a:rPr sz="3200"/>
              <a:t>If two 95% confidence intervals don</a:t>
            </a:r>
            <a:r>
              <a:rPr sz="3200"/>
              <a:t>’</a:t>
            </a:r>
            <a:r>
              <a:rPr sz="3200"/>
              <a:t>t overlap then the values are significantly different at the </a:t>
            </a:r>
            <a:r>
              <a:rPr sz="3200"/>
              <a:t>α</a:t>
            </a:r>
            <a:r>
              <a:rPr sz="3200"/>
              <a:t> = 0.05 level.</a:t>
            </a:r>
          </a:p>
          <a:p>
            <a:endParaRPr sz="3200"/>
          </a:p>
          <a:p>
            <a:r>
              <a:rPr sz="3200" b="1"/>
              <a:t>If there is overlap in the CI then you can’t conclude anything. </a:t>
            </a:r>
          </a:p>
        </p:txBody>
      </p:sp>
      <p:pic>
        <p:nvPicPr>
          <p:cNvPr id="9" name="Picture 4"/>
          <p:cNvPicPr>
            <a:picLocks noChangeAspect="1"/>
          </p:cNvPicPr>
          <p:nvPr/>
        </p:nvPicPr>
        <p:blipFill>
          <a:blip r:embed="rId2"/>
          <a:stretch>
            <a:fillRect l="0" t="0" r="0" b="0"/>
          </a:stretch>
        </p:blipFill>
        <p:spPr>
          <a:xfrm>
            <a:off x="732003" y="1027056"/>
            <a:ext cx="4076939" cy="2711810"/>
          </a:xfrm>
          <a:prstGeom prst="rect">
            <a:avLst/>
          </a:prstGeom>
        </p:spPr>
      </p:pic>
      <p:pic>
        <p:nvPicPr>
          <p:cNvPr id="10" name="Picture 5"/>
          <p:cNvPicPr>
            <a:picLocks noChangeAspect="1"/>
          </p:cNvPicPr>
          <p:nvPr/>
        </p:nvPicPr>
        <p:blipFill>
          <a:blip r:embed="rId3"/>
          <a:stretch>
            <a:fillRect l="0" t="0" r="0" b="0"/>
          </a:stretch>
        </p:blipFill>
        <p:spPr>
          <a:xfrm>
            <a:off x="829691" y="3738866"/>
            <a:ext cx="3881561" cy="3039052"/>
          </a:xfrm>
          <a:prstGeom prst="rect">
            <a:avLst/>
          </a:prstGeom>
        </p:spPr>
      </p:pic>
    </p:spTree>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Comparing variances</a:t>
            </a:r>
          </a:p>
        </p:txBody>
      </p:sp>
      <p:sp>
        <p:nvSpPr>
          <p:cNvPr id="4" name="Rectangle 3"/>
          <p:cNvSpPr>
            <a:spLocks noGrp="1"/>
          </p:cNvSpPr>
          <p:nvPr/>
        </p:nvSpPr>
        <p:spPr>
          <a:xfrm>
            <a:off x="237995" y="1161821"/>
            <a:ext cx="11732332" cy="954107"/>
          </a:xfrm>
          <a:prstGeom prst="rect">
            <a:avLst/>
          </a:prstGeom>
        </p:spPr>
        <p:txBody>
          <a:bodyPr wrap="square">
            <a:spAutoFit/>
          </a:bodyPr>
          <a:lstStyle/>
          <a:p>
            <a:pPr marL="457200" indent="-457200">
              <a:buFont typeface="Arial"/>
              <a:buChar char="•"/>
            </a:pPr>
            <a:endParaRPr sz="3200"/>
          </a:p>
          <a:p>
            <a:endParaRPr sz="2400"/>
          </a:p>
        </p:txBody>
      </p:sp>
      <p:sp>
        <p:nvSpPr>
          <p:cNvPr id="10" name="Rectangle 9"/>
          <p:cNvSpPr>
            <a:spLocks noGrp="1"/>
          </p:cNvSpPr>
          <p:nvPr/>
        </p:nvSpPr>
        <p:spPr>
          <a:xfrm>
            <a:off x="237995" y="1161821"/>
            <a:ext cx="11732332" cy="1446550"/>
          </a:xfrm>
          <a:prstGeom prst="rect">
            <a:avLst/>
          </a:prstGeom>
        </p:spPr>
        <p:txBody>
          <a:bodyPr wrap="square">
            <a:spAutoFit/>
          </a:bodyPr>
          <a:lstStyle/>
          <a:p>
            <a:pPr marL="457200" indent="-457200">
              <a:buFont typeface="Arial"/>
              <a:buChar char="•"/>
            </a:pPr>
            <a:r>
              <a:rPr sz="3200"/>
              <a:t>Some experiments might focus on differences in variance.  Think about how sexual selection works with regard to number offspring.</a:t>
            </a:r>
          </a:p>
          <a:p>
            <a:endParaRPr sz="2400"/>
          </a:p>
        </p:txBody>
      </p:sp>
      <p:pic>
        <p:nvPicPr>
          <p:cNvPr id="17" name="Picture 10"/>
          <p:cNvPicPr>
            <a:picLocks noChangeAspect="1"/>
          </p:cNvPicPr>
          <p:nvPr/>
        </p:nvPicPr>
        <p:blipFill>
          <a:blip r:embed="rId2"/>
          <a:stretch>
            <a:fillRect l="0" t="0" r="0" b="0"/>
          </a:stretch>
        </p:blipFill>
        <p:spPr>
          <a:xfrm>
            <a:off x="237995" y="2341834"/>
            <a:ext cx="6441101" cy="3896319"/>
          </a:xfrm>
          <a:prstGeom prst="rect">
            <a:avLst/>
          </a:prstGeom>
        </p:spPr>
      </p:pic>
      <p:sp>
        <p:nvSpPr>
          <p:cNvPr id="12" name="TextBox 11"/>
          <p:cNvSpPr>
            <a:spLocks noGrp="1"/>
          </p:cNvSpPr>
          <p:nvPr/>
        </p:nvSpPr>
        <p:spPr>
          <a:xfrm>
            <a:off x="6679096" y="2341834"/>
            <a:ext cx="5512904" cy="4154984"/>
          </a:xfrm>
          <a:prstGeom prst="rect">
            <a:avLst/>
          </a:prstGeom>
          <a:noFill/>
        </p:spPr>
        <p:txBody>
          <a:bodyPr wrap="square">
            <a:spAutoFit/>
          </a:bodyPr>
          <a:lstStyle/>
          <a:p>
            <a:pPr marL="285750" indent="-285750">
              <a:buFont typeface="Arial"/>
              <a:buChar char="•"/>
            </a:pPr>
            <a:r>
              <a:rPr sz="2400"/>
              <a:t>Two most common tests are the F-test and Levine’s test.  F-test assumes that the variable is normally distributed in the population and is sensitive to violations of this assumption.  </a:t>
            </a:r>
          </a:p>
          <a:p>
            <a:pPr marL="285750" indent="-285750">
              <a:buFont typeface="Arial"/>
              <a:buChar char="•"/>
            </a:pPr>
            <a:endParaRPr sz="2400"/>
          </a:p>
          <a:p>
            <a:pPr marL="285750" indent="-285750">
              <a:buFont typeface="Arial"/>
              <a:buChar char="•"/>
            </a:pPr>
            <a:r>
              <a:rPr sz="2400"/>
              <a:t>For this reason we will focus on Levine’s test which assumes the variables have roughly symmetrical distributions and is furthermore quite robust to violations of this assumption.</a:t>
            </a:r>
          </a:p>
        </p:txBody>
      </p:sp>
    </p:spTree>
  </p:cSld>
</p:sld>
</file>

<file path=ppt/slides/slide13.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Levene’s</a:t>
            </a:r>
            <a:r>
              <a:rPr b="1">
                <a:solidFill>
                  <a:schemeClr val="bg1"/>
                </a:solidFill>
              </a:rPr>
              <a:t> test</a:t>
            </a:r>
          </a:p>
        </p:txBody>
      </p:sp>
      <p:sp>
        <p:nvSpPr>
          <p:cNvPr id="4" name="Rectangle 3"/>
          <p:cNvSpPr>
            <a:spLocks noGrp="1"/>
          </p:cNvSpPr>
          <p:nvPr/>
        </p:nvSpPr>
        <p:spPr>
          <a:xfrm>
            <a:off x="237995" y="1161821"/>
            <a:ext cx="6424062" cy="4524315"/>
          </a:xfrm>
          <a:prstGeom prst="rect">
            <a:avLst/>
          </a:prstGeom>
        </p:spPr>
        <p:txBody>
          <a:bodyPr wrap="square">
            <a:spAutoFit/>
          </a:bodyPr>
          <a:lstStyle/>
          <a:p>
            <a:pPr marL="457200" indent="-457200">
              <a:buFont typeface="Arial"/>
              <a:buChar char="•"/>
            </a:pPr>
            <a:r>
              <a:rPr sz="3200"/>
              <a:t>Levene’s</a:t>
            </a:r>
            <a:r>
              <a:rPr sz="3200"/>
              <a:t> test works by calculating a central value for each group and then comparing the deviations of individuals in each group from these to calculate a </a:t>
            </a:r>
            <a:r>
              <a:rPr sz="3200" i="1"/>
              <a:t>W</a:t>
            </a:r>
            <a:r>
              <a:rPr sz="3200"/>
              <a:t> statistic.</a:t>
            </a:r>
          </a:p>
          <a:p>
            <a:pPr marL="457200" indent="-457200">
              <a:buFont typeface="Arial"/>
              <a:buChar char="•"/>
            </a:pPr>
            <a:endParaRPr sz="3200"/>
          </a:p>
          <a:p>
            <a:pPr marL="457200" indent="-457200">
              <a:buFont typeface="Arial"/>
              <a:buChar char="•"/>
            </a:pPr>
            <a:r>
              <a:rPr sz="3200"/>
              <a:t>Compared to a F distribution</a:t>
            </a:r>
          </a:p>
          <a:p>
            <a:pPr marL="457200" indent="-457200">
              <a:buFont typeface="Arial"/>
              <a:buChar char="•"/>
            </a:pPr>
            <a:endParaRPr sz="3200"/>
          </a:p>
          <a:p>
            <a:pPr marL="457200" indent="-457200">
              <a:buFont typeface="Arial"/>
              <a:buChar char="•"/>
            </a:pPr>
            <a:endParaRPr sz="3200"/>
          </a:p>
        </p:txBody>
      </p:sp>
      <p:sp>
        <p:nvSpPr>
          <p:cNvPr id="10" name="Rectangle 9"/>
          <p:cNvSpPr>
            <a:spLocks noGrp="1"/>
          </p:cNvSpPr>
          <p:nvPr/>
        </p:nvSpPr>
        <p:spPr>
          <a:xfrm rot="0" flipH="0" flipV="0">
            <a:off x="6952129" y="935915"/>
            <a:ext cx="5239871" cy="59220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5" name="Picture 4"/>
          <p:cNvPicPr>
            <a:picLocks noChangeAspect="1"/>
          </p:cNvPicPr>
          <p:nvPr/>
        </p:nvPicPr>
        <p:blipFill>
          <a:blip r:embed="rId2"/>
          <a:stretch>
            <a:fillRect l="0" t="0" r="0" b="0"/>
          </a:stretch>
        </p:blipFill>
        <p:spPr>
          <a:xfrm rot="0" flipH="0" flipV="0">
            <a:off x="7394813" y="1305247"/>
            <a:ext cx="4546175" cy="4994389"/>
          </a:xfrm>
          <a:prstGeom prst="rect">
            <a:avLst/>
          </a:prstGeom>
        </p:spPr>
      </p:pic>
      <p:sp>
        <p:nvSpPr>
          <p:cNvPr id="7" name="TextBox 6"/>
          <p:cNvSpPr>
            <a:spLocks noGrp="1"/>
          </p:cNvSpPr>
          <p:nvPr/>
        </p:nvSpPr>
        <p:spPr>
          <a:xfrm rot="0" flipH="0" flipV="0">
            <a:off x="8699910" y="935915"/>
            <a:ext cx="1935979" cy="369332"/>
          </a:xfrm>
          <a:prstGeom prst="rect">
            <a:avLst/>
          </a:prstGeom>
          <a:noFill/>
        </p:spPr>
        <p:txBody>
          <a:bodyPr wrap="none">
            <a:spAutoFit/>
          </a:bodyPr>
          <a:lstStyle/>
          <a:p>
            <a:r>
              <a:t>R insect spray data</a:t>
            </a:r>
          </a:p>
        </p:txBody>
      </p:sp>
      <p:sp>
        <p:nvSpPr>
          <p:cNvPr id="8" name="TextBox 7"/>
          <p:cNvSpPr>
            <a:spLocks noGrp="1"/>
          </p:cNvSpPr>
          <p:nvPr/>
        </p:nvSpPr>
        <p:spPr>
          <a:xfrm rot="0" flipH="0" flipV="0">
            <a:off x="8444753" y="6299636"/>
            <a:ext cx="3084114" cy="369332"/>
          </a:xfrm>
          <a:prstGeom prst="rect">
            <a:avLst/>
          </a:prstGeom>
          <a:noFill/>
        </p:spPr>
        <p:txBody>
          <a:bodyPr wrap="none">
            <a:spAutoFit/>
          </a:bodyPr>
          <a:lstStyle/>
          <a:p>
            <a:r>
              <a:t>Number of pests </a:t>
            </a:r>
            <a:r>
              <a:t>after spraying</a:t>
            </a:r>
          </a:p>
        </p:txBody>
      </p:sp>
      <p:sp>
        <p:nvSpPr>
          <p:cNvPr id="9" name="TextBox 8"/>
          <p:cNvSpPr>
            <a:spLocks noGrp="1"/>
          </p:cNvSpPr>
          <p:nvPr/>
        </p:nvSpPr>
        <p:spPr>
          <a:xfrm rot="16200000" flipH="0" flipV="0">
            <a:off x="6646957" y="3403056"/>
            <a:ext cx="1206356" cy="369332"/>
          </a:xfrm>
          <a:prstGeom prst="rect">
            <a:avLst/>
          </a:prstGeom>
          <a:noFill/>
        </p:spPr>
        <p:txBody>
          <a:bodyPr wrap="none">
            <a:spAutoFit/>
          </a:bodyPr>
          <a:lstStyle/>
          <a:p>
            <a:r>
              <a:t>Spray code</a:t>
            </a:r>
            <a:endParaRPr/>
          </a:p>
        </p:txBody>
      </p:sp>
    </p:spTree>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Levene’s</a:t>
            </a:r>
            <a:r>
              <a:rPr b="1">
                <a:solidFill>
                  <a:schemeClr val="bg1"/>
                </a:solidFill>
              </a:rPr>
              <a:t> test</a:t>
            </a:r>
          </a:p>
        </p:txBody>
      </p:sp>
      <p:sp>
        <p:nvSpPr>
          <p:cNvPr id="8" name="Rectangle 7"/>
          <p:cNvSpPr>
            <a:spLocks noGrp="1"/>
          </p:cNvSpPr>
          <p:nvPr/>
        </p:nvSpPr>
        <p:spPr>
          <a:xfrm>
            <a:off x="6952129" y="935915"/>
            <a:ext cx="5239871" cy="59220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Picture 8"/>
          <p:cNvPicPr>
            <a:picLocks noChangeAspect="1"/>
          </p:cNvPicPr>
          <p:nvPr/>
        </p:nvPicPr>
        <p:blipFill>
          <a:blip r:embed="rId2"/>
          <a:stretch>
            <a:fillRect l="0" t="0" r="0" b="0"/>
          </a:stretch>
        </p:blipFill>
        <p:spPr>
          <a:xfrm>
            <a:off x="7394813" y="1305247"/>
            <a:ext cx="4546175" cy="4994389"/>
          </a:xfrm>
          <a:prstGeom prst="rect">
            <a:avLst/>
          </a:prstGeom>
        </p:spPr>
      </p:pic>
      <p:sp>
        <p:nvSpPr>
          <p:cNvPr id="10" name="TextBox 9"/>
          <p:cNvSpPr>
            <a:spLocks noGrp="1"/>
          </p:cNvSpPr>
          <p:nvPr/>
        </p:nvSpPr>
        <p:spPr>
          <a:xfrm>
            <a:off x="8699910" y="935915"/>
            <a:ext cx="1935979" cy="369332"/>
          </a:xfrm>
          <a:prstGeom prst="rect">
            <a:avLst/>
          </a:prstGeom>
          <a:noFill/>
        </p:spPr>
        <p:txBody>
          <a:bodyPr wrap="none">
            <a:spAutoFit/>
          </a:bodyPr>
          <a:lstStyle/>
          <a:p>
            <a:r>
              <a:t>R insect spray data</a:t>
            </a:r>
          </a:p>
        </p:txBody>
      </p:sp>
      <p:sp>
        <p:nvSpPr>
          <p:cNvPr id="11" name="TextBox 10"/>
          <p:cNvSpPr>
            <a:spLocks noGrp="1"/>
          </p:cNvSpPr>
          <p:nvPr/>
        </p:nvSpPr>
        <p:spPr>
          <a:xfrm>
            <a:off x="8444753" y="6299636"/>
            <a:ext cx="3084114" cy="369332"/>
          </a:xfrm>
          <a:prstGeom prst="rect">
            <a:avLst/>
          </a:prstGeom>
          <a:noFill/>
        </p:spPr>
        <p:txBody>
          <a:bodyPr wrap="none">
            <a:spAutoFit/>
          </a:bodyPr>
          <a:lstStyle/>
          <a:p>
            <a:r>
              <a:t>Number of pests </a:t>
            </a:r>
            <a:r>
              <a:t>after spraying</a:t>
            </a:r>
          </a:p>
        </p:txBody>
      </p:sp>
      <p:sp>
        <p:nvSpPr>
          <p:cNvPr id="12" name="TextBox 11"/>
          <p:cNvSpPr>
            <a:spLocks noGrp="1"/>
          </p:cNvSpPr>
          <p:nvPr/>
        </p:nvSpPr>
        <p:spPr>
          <a:xfrm rot="16200000">
            <a:off x="6646957" y="3403056"/>
            <a:ext cx="1206356" cy="369332"/>
          </a:xfrm>
          <a:prstGeom prst="rect">
            <a:avLst/>
          </a:prstGeom>
          <a:noFill/>
        </p:spPr>
        <p:txBody>
          <a:bodyPr wrap="none">
            <a:spAutoFit/>
          </a:bodyPr>
          <a:lstStyle/>
          <a:p>
            <a:r>
              <a:t>Spray code</a:t>
            </a:r>
            <a:endParaRPr/>
          </a:p>
        </p:txBody>
      </p:sp>
      <p:pic>
        <p:nvPicPr>
          <p:cNvPr id="22" name="Picture 12"/>
          <p:cNvPicPr>
            <a:picLocks noChangeAspect="1"/>
          </p:cNvPicPr>
          <p:nvPr/>
        </p:nvPicPr>
        <p:blipFill>
          <a:blip r:embed="rId3"/>
          <a:stretch>
            <a:fillRect l="0" t="0" r="0" b="0"/>
          </a:stretch>
        </p:blipFill>
        <p:spPr>
          <a:xfrm>
            <a:off x="203200" y="3736164"/>
            <a:ext cx="6497917" cy="1801472"/>
          </a:xfrm>
          <a:prstGeom prst="rect">
            <a:avLst/>
          </a:prstGeom>
        </p:spPr>
      </p:pic>
      <p:pic>
        <p:nvPicPr>
          <p:cNvPr id="23" name="Picture 13"/>
          <p:cNvPicPr>
            <a:picLocks noChangeAspect="1"/>
          </p:cNvPicPr>
          <p:nvPr/>
        </p:nvPicPr>
        <p:blipFill>
          <a:blip r:embed="rId4"/>
          <a:stretch>
            <a:fillRect l="0" t="0" r="0" b="0"/>
          </a:stretch>
        </p:blipFill>
        <p:spPr>
          <a:xfrm>
            <a:off x="203200" y="1907104"/>
            <a:ext cx="3951941" cy="1227853"/>
          </a:xfrm>
          <a:prstGeom prst="rect">
            <a:avLst/>
          </a:prstGeom>
        </p:spPr>
      </p:pic>
    </p:spTree>
  </p:cSld>
</p:sld>
</file>

<file path=ppt/slides/slide15.xml><?xml version="1.0" encoding="utf-8"?>
<p:sld xmlns:a="http://schemas.openxmlformats.org/drawingml/2006/main" xmlns:p="http://schemas.openxmlformats.org/presentationml/2006/main">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Assumptions</a:t>
            </a:r>
          </a:p>
        </p:txBody>
      </p:sp>
      <p:sp>
        <p:nvSpPr>
          <p:cNvPr id="4" name="Rectangle 3"/>
          <p:cNvSpPr>
            <a:spLocks noGrp="1"/>
          </p:cNvSpPr>
          <p:nvPr/>
        </p:nvSpPr>
        <p:spPr>
          <a:xfrm>
            <a:off x="195431" y="1149294"/>
            <a:ext cx="11801138" cy="1477328"/>
          </a:xfrm>
          <a:prstGeom prst="rect">
            <a:avLst/>
          </a:prstGeom>
        </p:spPr>
        <p:txBody>
          <a:bodyPr wrap="square">
            <a:spAutoFit/>
          </a:bodyPr>
          <a:lstStyle/>
          <a:p>
            <a:br/>
            <a:endParaRPr sz="2400"/>
          </a:p>
          <a:p>
            <a:pPr marL="457200" indent="-457200">
              <a:lnSpc>
                <a:spcPct val="150000"/>
              </a:lnSpc>
              <a:buFont typeface="+mj-lt"/>
              <a:buAutoNum type="arabicPeriod"/>
            </a:pPr>
            <a:endParaRPr sz="2800"/>
          </a:p>
        </p:txBody>
      </p:sp>
      <p:sp>
        <p:nvSpPr>
          <p:cNvPr id="3" name="Rectangle 2"/>
          <p:cNvSpPr>
            <a:spLocks noGrp="1"/>
          </p:cNvSpPr>
          <p:nvPr/>
        </p:nvSpPr>
        <p:spPr>
          <a:xfrm>
            <a:off x="491835" y="1564792"/>
            <a:ext cx="11700165" cy="4524315"/>
          </a:xfrm>
          <a:prstGeom prst="rect">
            <a:avLst/>
          </a:prstGeom>
        </p:spPr>
        <p:txBody>
          <a:bodyPr wrap="square">
            <a:spAutoFit/>
          </a:bodyPr>
          <a:lstStyle/>
          <a:p>
            <a:pPr marL="800100" lvl="1" indent="-342900">
              <a:buFont typeface="Arial"/>
              <a:buChar char="•"/>
            </a:pPr>
            <a:r>
              <a:rPr sz="3200" b="1"/>
              <a:t>One-sample T-test</a:t>
            </a:r>
          </a:p>
          <a:p>
            <a:pPr marL="1257300" lvl="2" indent="-342900">
              <a:buFont typeface="Arial"/>
              <a:buChar char="•"/>
            </a:pPr>
            <a:r>
              <a:rPr sz="3200"/>
              <a:t>The variable is normally distributed in the population</a:t>
            </a:r>
          </a:p>
          <a:p>
            <a:pPr marL="800100" lvl="1" indent="-342900">
              <a:buFont typeface="Arial"/>
              <a:buChar char="•"/>
            </a:pPr>
            <a:r>
              <a:rPr sz="3200" b="1"/>
              <a:t>Two-sample T-test</a:t>
            </a:r>
          </a:p>
          <a:p>
            <a:pPr marL="1257300" lvl="3" indent="-342900">
              <a:buFont typeface="Arial"/>
              <a:buChar char="•"/>
            </a:pPr>
            <a:r>
              <a:rPr sz="3200"/>
              <a:t>The variable is normally distributed in the population</a:t>
            </a:r>
          </a:p>
          <a:p>
            <a:pPr marL="1257300" lvl="2" indent="-342900">
              <a:buFont typeface="Arial"/>
              <a:buChar char="•"/>
            </a:pPr>
            <a:r>
              <a:rPr sz="3200"/>
              <a:t>unequal variance ok</a:t>
            </a:r>
          </a:p>
          <a:p>
            <a:pPr marL="800100" lvl="1" indent="-342900">
              <a:buFont typeface="Arial"/>
              <a:buChar char="•"/>
            </a:pPr>
            <a:r>
              <a:rPr sz="3200" b="1"/>
              <a:t>Paired-sample T-test</a:t>
            </a:r>
          </a:p>
          <a:p>
            <a:pPr marL="1257300" lvl="2" indent="-342900">
              <a:buFont typeface="Arial"/>
              <a:buChar char="•"/>
            </a:pPr>
            <a:r>
              <a:rPr sz="3200"/>
              <a:t>Differences are normally distributed</a:t>
            </a:r>
          </a:p>
          <a:p>
            <a:pPr marL="800100" lvl="1" indent="-342900">
              <a:buFont typeface="Arial"/>
              <a:buChar char="•"/>
            </a:pPr>
            <a:r>
              <a:rPr sz="3200" b="1"/>
              <a:t>Levine’s test</a:t>
            </a:r>
          </a:p>
          <a:p>
            <a:pPr marL="1257300" lvl="2" indent="-342900">
              <a:buFont typeface="Arial"/>
              <a:buChar char="•"/>
            </a:pPr>
            <a:r>
              <a:rPr sz="3200"/>
              <a:t>Distributions are roughly symmetrical</a:t>
            </a:r>
          </a:p>
        </p:txBody>
      </p:sp>
    </p:spTree>
  </p:cSld>
</p:sld>
</file>

<file path=ppt/slides/slide16.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Assumptions</a:t>
            </a:r>
          </a:p>
        </p:txBody>
      </p:sp>
      <p:sp>
        <p:nvSpPr>
          <p:cNvPr id="4" name="Rectangle 3"/>
          <p:cNvSpPr>
            <a:spLocks noGrp="1"/>
          </p:cNvSpPr>
          <p:nvPr/>
        </p:nvSpPr>
        <p:spPr>
          <a:xfrm>
            <a:off x="237995" y="1161821"/>
            <a:ext cx="11732332" cy="5878532"/>
          </a:xfrm>
          <a:prstGeom prst="rect">
            <a:avLst/>
          </a:prstGeom>
        </p:spPr>
        <p:txBody>
          <a:bodyPr wrap="square">
            <a:spAutoFit/>
          </a:bodyPr>
          <a:lstStyle/>
          <a:p>
            <a:pPr marL="457200" indent="-457200">
              <a:buFont typeface="Arial"/>
              <a:buChar char="•"/>
            </a:pPr>
            <a:r>
              <a:rPr sz="3200"/>
              <a:t>Many tests are quite robust to minor violations of assumptions.</a:t>
            </a:r>
          </a:p>
          <a:p>
            <a:pPr marL="457200" indent="-457200">
              <a:buFont typeface="Arial"/>
              <a:buChar char="•"/>
            </a:pPr>
            <a:endParaRPr sz="3200"/>
          </a:p>
          <a:p>
            <a:pPr marL="457200" indent="-457200">
              <a:buFont typeface="Arial"/>
              <a:buChar char="•"/>
            </a:pPr>
            <a:r>
              <a:rPr sz="3200"/>
              <a:t>Tests of normality (Shapiro-Wilks) are not terribly useful.</a:t>
            </a:r>
          </a:p>
          <a:p>
            <a:pPr marL="914400" lvl="1" indent="-457200">
              <a:buFont typeface="Arial"/>
              <a:buChar char="•"/>
            </a:pPr>
            <a:r>
              <a:rPr sz="3200"/>
              <a:t>Small sample size have little power</a:t>
            </a:r>
          </a:p>
          <a:p>
            <a:pPr marL="914400" lvl="1" indent="-457200">
              <a:buFont typeface="Arial"/>
              <a:buChar char="•"/>
            </a:pPr>
            <a:r>
              <a:rPr sz="3200"/>
              <a:t>Large sample size reject with even minor deviations from normality</a:t>
            </a:r>
          </a:p>
          <a:p>
            <a:pPr marL="914400" lvl="1" indent="-457200">
              <a:buFont typeface="Arial"/>
              <a:buChar char="•"/>
            </a:pPr>
            <a:endParaRPr sz="3200"/>
          </a:p>
          <a:p>
            <a:pPr marL="457200" indent="-457200">
              <a:buFont typeface="Arial"/>
              <a:buChar char="•"/>
            </a:pPr>
            <a:r>
              <a:rPr sz="3200"/>
              <a:t>Often most important to simply visualize distributions</a:t>
            </a:r>
          </a:p>
          <a:p>
            <a:pPr marL="914400" lvl="1" indent="-457200">
              <a:buFont typeface="Arial"/>
              <a:buChar char="•"/>
            </a:pPr>
            <a:r>
              <a:rPr sz="3200"/>
              <a:t>histograms</a:t>
            </a:r>
          </a:p>
          <a:p>
            <a:pPr marL="914400" lvl="1" indent="-457200">
              <a:buFont typeface="Arial"/>
              <a:buChar char="•"/>
            </a:pPr>
            <a:r>
              <a:rPr sz="3200"/>
              <a:t>qqplots</a:t>
            </a:r>
            <a:endParaRPr sz="3200"/>
          </a:p>
          <a:p>
            <a:pPr marL="457200" indent="-457200">
              <a:buFont typeface="Arial"/>
              <a:buChar char="•"/>
            </a:pPr>
            <a:endParaRPr sz="3200"/>
          </a:p>
          <a:p>
            <a:endParaRPr sz="2400"/>
          </a:p>
        </p:txBody>
      </p:sp>
      <p:pic>
        <p:nvPicPr>
          <p:cNvPr id="8" name="Picture 4"/>
          <p:cNvPicPr>
            <a:picLocks noChangeAspect="1"/>
          </p:cNvPicPr>
          <p:nvPr/>
        </p:nvPicPr>
        <p:blipFill>
          <a:blip r:embed="rId2"/>
          <a:stretch>
            <a:fillRect l="0" t="0" r="0" b="0"/>
          </a:stretch>
        </p:blipFill>
        <p:spPr>
          <a:xfrm>
            <a:off x="10271288" y="2322719"/>
            <a:ext cx="1699039" cy="501685"/>
          </a:xfrm>
          <a:prstGeom prst="rect">
            <a:avLst/>
          </a:prstGeom>
        </p:spPr>
      </p:pic>
    </p:spTree>
  </p:cSld>
</p:sld>
</file>

<file path=ppt/slides/slide17.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histograms</a:t>
            </a:r>
          </a:p>
        </p:txBody>
      </p:sp>
      <p:sp>
        <p:nvSpPr>
          <p:cNvPr id="3" name="TextBox 2"/>
          <p:cNvSpPr>
            <a:spLocks noGrp="1"/>
          </p:cNvSpPr>
          <p:nvPr/>
        </p:nvSpPr>
        <p:spPr>
          <a:xfrm>
            <a:off x="7593496" y="1928191"/>
            <a:ext cx="4214191" cy="923330"/>
          </a:xfrm>
          <a:prstGeom prst="rect">
            <a:avLst/>
          </a:prstGeom>
          <a:noFill/>
        </p:spPr>
        <p:txBody>
          <a:bodyPr wrap="square">
            <a:spAutoFit/>
          </a:bodyPr>
          <a:lstStyle/>
          <a:p>
            <a:r>
              <a:t>You don’t need or even expect a perfect bell curve from a finite sample of a population.</a:t>
            </a:r>
          </a:p>
        </p:txBody>
      </p:sp>
      <p:pic>
        <p:nvPicPr>
          <p:cNvPr id="7" name="Picture 4"/>
          <p:cNvPicPr>
            <a:picLocks noChangeAspect="1"/>
          </p:cNvPicPr>
          <p:nvPr/>
        </p:nvPicPr>
        <p:blipFill>
          <a:blip r:embed="rId2"/>
          <a:stretch>
            <a:fillRect l="0" t="0" r="0" b="0"/>
          </a:stretch>
        </p:blipFill>
        <p:spPr>
          <a:xfrm>
            <a:off x="318052" y="1316219"/>
            <a:ext cx="6440557" cy="3391375"/>
          </a:xfrm>
          <a:prstGeom prst="rect">
            <a:avLst/>
          </a:prstGeom>
        </p:spPr>
      </p:pic>
    </p:spTree>
  </p:cSld>
</p:sld>
</file>

<file path=ppt/slides/slide18.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histograms</a:t>
            </a:r>
          </a:p>
        </p:txBody>
      </p:sp>
      <p:sp>
        <p:nvSpPr>
          <p:cNvPr id="3" name="TextBox 2"/>
          <p:cNvSpPr>
            <a:spLocks noGrp="1"/>
          </p:cNvSpPr>
          <p:nvPr/>
        </p:nvSpPr>
        <p:spPr>
          <a:xfrm>
            <a:off x="7593496" y="1928191"/>
            <a:ext cx="4214191" cy="646331"/>
          </a:xfrm>
          <a:prstGeom prst="rect">
            <a:avLst/>
          </a:prstGeom>
          <a:noFill/>
        </p:spPr>
        <p:txBody>
          <a:bodyPr wrap="square">
            <a:spAutoFit/>
          </a:bodyPr>
          <a:lstStyle/>
          <a:p>
            <a:r>
              <a:t>You should be worried if the histogram suggests a different distribution</a:t>
            </a:r>
          </a:p>
        </p:txBody>
      </p:sp>
      <p:pic>
        <p:nvPicPr>
          <p:cNvPr id="7" name="Picture 5"/>
          <p:cNvPicPr>
            <a:picLocks noChangeAspect="1"/>
          </p:cNvPicPr>
          <p:nvPr/>
        </p:nvPicPr>
        <p:blipFill>
          <a:blip r:embed="rId2"/>
          <a:stretch>
            <a:fillRect l="0" t="0" r="0" b="0"/>
          </a:stretch>
        </p:blipFill>
        <p:spPr>
          <a:xfrm>
            <a:off x="357808" y="1612862"/>
            <a:ext cx="6440557" cy="2917999"/>
          </a:xfrm>
          <a:prstGeom prst="rect">
            <a:avLst/>
          </a:prstGeom>
        </p:spPr>
      </p:pic>
    </p:spTree>
  </p:cSld>
</p:sld>
</file>

<file path=ppt/slides/slide19.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qqplots</a:t>
            </a:r>
            <a:endParaRPr b="1">
              <a:solidFill>
                <a:schemeClr val="bg1"/>
              </a:solidFill>
            </a:endParaRPr>
          </a:p>
        </p:txBody>
      </p:sp>
      <p:sp>
        <p:nvSpPr>
          <p:cNvPr id="4" name="Rectangle 3"/>
          <p:cNvSpPr>
            <a:spLocks noGrp="1"/>
          </p:cNvSpPr>
          <p:nvPr/>
        </p:nvSpPr>
        <p:spPr>
          <a:xfrm>
            <a:off x="2345635" y="5044628"/>
            <a:ext cx="3380801" cy="461665"/>
          </a:xfrm>
          <a:prstGeom prst="rect">
            <a:avLst/>
          </a:prstGeom>
        </p:spPr>
        <p:txBody>
          <a:bodyPr wrap="square">
            <a:spAutoFit/>
          </a:bodyPr>
          <a:lstStyle/>
          <a:p>
            <a:pPr algn="ctr">
              <a:buNone/>
            </a:pPr>
            <a:r>
              <a:rPr sz="2400"/>
              <a:t>normal</a:t>
            </a:r>
          </a:p>
        </p:txBody>
      </p:sp>
      <p:pic>
        <p:nvPicPr>
          <p:cNvPr id="14" name="Picture 2"/>
          <p:cNvPicPr>
            <a:picLocks noChangeAspect="1"/>
          </p:cNvPicPr>
          <p:nvPr/>
        </p:nvPicPr>
        <p:blipFill>
          <a:blip r:embed="rId2"/>
          <a:stretch>
            <a:fillRect l="0" t="0" r="0" b="0"/>
          </a:stretch>
        </p:blipFill>
        <p:spPr>
          <a:xfrm>
            <a:off x="2345636" y="1217005"/>
            <a:ext cx="3380801" cy="3767988"/>
          </a:xfrm>
          <a:prstGeom prst="rect">
            <a:avLst/>
          </a:prstGeom>
        </p:spPr>
      </p:pic>
      <p:pic>
        <p:nvPicPr>
          <p:cNvPr id="15" name="Picture 4"/>
          <p:cNvPicPr>
            <a:picLocks noChangeAspect="1"/>
          </p:cNvPicPr>
          <p:nvPr/>
        </p:nvPicPr>
        <p:blipFill>
          <a:blip r:embed="rId3"/>
          <a:stretch>
            <a:fillRect l="0" t="0" r="0" b="0"/>
          </a:stretch>
        </p:blipFill>
        <p:spPr>
          <a:xfrm>
            <a:off x="8057623" y="1217005"/>
            <a:ext cx="3500212" cy="3767988"/>
          </a:xfrm>
          <a:prstGeom prst="rect">
            <a:avLst/>
          </a:prstGeom>
        </p:spPr>
      </p:pic>
      <p:sp>
        <p:nvSpPr>
          <p:cNvPr id="6" name="Rectangle 5"/>
          <p:cNvSpPr>
            <a:spLocks noGrp="1"/>
          </p:cNvSpPr>
          <p:nvPr/>
        </p:nvSpPr>
        <p:spPr>
          <a:xfrm>
            <a:off x="8057622" y="5044628"/>
            <a:ext cx="3500213" cy="461665"/>
          </a:xfrm>
          <a:prstGeom prst="rect">
            <a:avLst/>
          </a:prstGeom>
        </p:spPr>
        <p:txBody>
          <a:bodyPr wrap="square">
            <a:spAutoFit/>
          </a:bodyPr>
          <a:lstStyle/>
          <a:p>
            <a:pPr algn="ctr">
              <a:buNone/>
            </a:pPr>
            <a:r>
              <a:rPr sz="2400"/>
              <a:t>Too many extreme values</a:t>
            </a:r>
          </a:p>
        </p:txBody>
      </p:sp>
      <p:pic>
        <p:nvPicPr>
          <p:cNvPr id="17" name="Picture 6"/>
          <p:cNvPicPr>
            <a:picLocks noChangeAspect="1"/>
          </p:cNvPicPr>
          <p:nvPr/>
        </p:nvPicPr>
        <p:blipFill>
          <a:blip r:embed="rId4"/>
          <a:stretch>
            <a:fillRect l="0" t="0" r="0" b="0"/>
          </a:stretch>
        </p:blipFill>
        <p:spPr>
          <a:xfrm>
            <a:off x="538370" y="1217005"/>
            <a:ext cx="1282700" cy="419100"/>
          </a:xfrm>
          <a:prstGeom prst="rect">
            <a:avLst/>
          </a:prstGeom>
        </p:spPr>
      </p:pic>
      <p:sp>
        <p:nvSpPr>
          <p:cNvPr id="8" name="TextBox 7"/>
          <p:cNvSpPr>
            <a:spLocks noGrp="1"/>
          </p:cNvSpPr>
          <p:nvPr/>
        </p:nvSpPr>
        <p:spPr>
          <a:xfrm>
            <a:off x="538370" y="5744818"/>
            <a:ext cx="10678134" cy="830997"/>
          </a:xfrm>
          <a:prstGeom prst="rect">
            <a:avLst/>
          </a:prstGeom>
          <a:noFill/>
        </p:spPr>
        <p:txBody>
          <a:bodyPr wrap="square">
            <a:spAutoFit/>
          </a:bodyPr>
          <a:lstStyle/>
          <a:p>
            <a:r>
              <a:rPr sz="2400" b="1">
                <a:solidFill>
                  <a:srgbClr val="C00000"/>
                </a:solidFill>
              </a:rPr>
              <a:t>The time when you should be most hesitant is when your biological knowledge tells you that you don’t expect a variable to have a </a:t>
            </a:r>
            <a:r>
              <a:rPr sz="2400" b="1">
                <a:solidFill>
                  <a:srgbClr val="C00000"/>
                </a:solidFill>
              </a:rPr>
              <a:t>normal distribution!</a:t>
            </a:r>
          </a:p>
        </p:txBody>
      </p:sp>
    </p:spTree>
  </p:cSld>
</p:sld>
</file>

<file path=ppt/slides/slide20.xml><?xml version="1.0" encoding="utf-8"?>
<p:sld xmlns:a="http://schemas.openxmlformats.org/drawingml/2006/main" xmlns:p="http://schemas.openxmlformats.org/presentationml/2006/main">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Data really isn’t close to normal</a:t>
            </a:r>
          </a:p>
        </p:txBody>
      </p:sp>
      <p:sp>
        <p:nvSpPr>
          <p:cNvPr id="4" name="Rectangle 3"/>
          <p:cNvSpPr>
            <a:spLocks noGrp="1"/>
          </p:cNvSpPr>
          <p:nvPr/>
        </p:nvSpPr>
        <p:spPr>
          <a:xfrm>
            <a:off x="237995" y="1161821"/>
            <a:ext cx="11732332" cy="3908762"/>
          </a:xfrm>
          <a:prstGeom prst="rect">
            <a:avLst/>
          </a:prstGeom>
        </p:spPr>
        <p:txBody>
          <a:bodyPr wrap="square">
            <a:spAutoFit/>
          </a:bodyPr>
          <a:lstStyle/>
          <a:p>
            <a:r>
              <a:rPr sz="3200"/>
              <a:t>First, be sure that the statistical test actually requires normality as an assumption – this constraint isn’t universal (e.g., </a:t>
            </a:r>
            <a:r>
              <a:rPr sz="3200"/>
              <a:t>Levene’s</a:t>
            </a:r>
            <a:r>
              <a:rPr sz="3200"/>
              <a:t> test merely requires symmetry) </a:t>
            </a:r>
          </a:p>
          <a:p>
            <a:endParaRPr sz="3200"/>
          </a:p>
          <a:p>
            <a:r>
              <a:rPr sz="3200"/>
              <a:t>Second, try to </a:t>
            </a:r>
            <a:r>
              <a:rPr sz="3200" b="1"/>
              <a:t>transform </a:t>
            </a:r>
            <a:r>
              <a:rPr sz="3200"/>
              <a:t>the variable to make it roughly normal </a:t>
            </a:r>
          </a:p>
          <a:p>
            <a:endParaRPr sz="3200"/>
          </a:p>
          <a:p>
            <a:r>
              <a:rPr sz="3200"/>
              <a:t>Third, as a last resort, use a non-parametric test </a:t>
            </a:r>
          </a:p>
          <a:p>
            <a:endParaRPr sz="2400"/>
          </a:p>
        </p:txBody>
      </p:sp>
    </p:spTree>
  </p:cSld>
</p:sld>
</file>

<file path=ppt/slides/slide21.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Transformations</a:t>
            </a:r>
          </a:p>
        </p:txBody>
      </p:sp>
      <p:sp>
        <p:nvSpPr>
          <p:cNvPr id="4" name="Rectangle 3"/>
          <p:cNvSpPr>
            <a:spLocks noGrp="1"/>
          </p:cNvSpPr>
          <p:nvPr/>
        </p:nvSpPr>
        <p:spPr>
          <a:xfrm>
            <a:off x="459668" y="1221456"/>
            <a:ext cx="11732332" cy="5201424"/>
          </a:xfrm>
          <a:prstGeom prst="rect">
            <a:avLst/>
          </a:prstGeom>
        </p:spPr>
        <p:txBody>
          <a:bodyPr wrap="square">
            <a:spAutoFit/>
          </a:bodyPr>
          <a:lstStyle/>
          <a:p>
            <a:r>
              <a:rPr sz="2400" b="1"/>
              <a:t>Log transformation </a:t>
            </a:r>
          </a:p>
          <a:p>
            <a:pPr marL="457200" indent="-457200">
              <a:buFont typeface="Arial"/>
              <a:buChar char="•"/>
            </a:pPr>
            <a:r>
              <a:rPr sz="2400"/>
              <a:t>Take the natural log of every observation </a:t>
            </a:r>
          </a:p>
          <a:p>
            <a:pPr marL="457200" indent="-457200">
              <a:buFont typeface="Arial"/>
              <a:buChar char="•"/>
            </a:pPr>
            <a:r>
              <a:rPr sz="2400"/>
              <a:t>Especially for right-skewed data. </a:t>
            </a:r>
          </a:p>
          <a:p>
            <a:endParaRPr sz="2400"/>
          </a:p>
          <a:p>
            <a:r>
              <a:rPr sz="2400" b="1"/>
              <a:t>Arcsine transformation </a:t>
            </a:r>
          </a:p>
          <a:p>
            <a:pPr marL="457200" indent="-457200">
              <a:buFont typeface="Arial"/>
              <a:buChar char="•"/>
            </a:pPr>
            <a:r>
              <a:rPr sz="2400"/>
              <a:t>Take the arcsine of the square root of each observation  </a:t>
            </a:r>
          </a:p>
          <a:p>
            <a:pPr marL="457200" indent="-457200">
              <a:buFont typeface="Arial"/>
              <a:buChar char="•"/>
            </a:pPr>
            <a:r>
              <a:rPr sz="2400"/>
              <a:t>Used mainly for proportions </a:t>
            </a:r>
          </a:p>
          <a:p>
            <a:endParaRPr sz="2400"/>
          </a:p>
          <a:p>
            <a:r>
              <a:rPr sz="2400" b="1"/>
              <a:t>Square-root transformation </a:t>
            </a:r>
          </a:p>
          <a:p>
            <a:pPr marL="457200" indent="-457200">
              <a:buFont typeface="Arial"/>
              <a:buChar char="•"/>
            </a:pPr>
            <a:r>
              <a:rPr sz="2400"/>
              <a:t>Add 0.5 and take the square root </a:t>
            </a:r>
          </a:p>
          <a:p>
            <a:pPr marL="457200" indent="-457200">
              <a:buFont typeface="Arial"/>
              <a:buChar char="•"/>
            </a:pPr>
            <a:r>
              <a:rPr sz="2400"/>
              <a:t>Solves similar problems to the log transformation </a:t>
            </a:r>
          </a:p>
          <a:p>
            <a:endParaRPr sz="2400"/>
          </a:p>
          <a:p>
            <a:r>
              <a:rPr sz="2400"/>
              <a:t>For other transformations, see p. 381 in Whitlock and </a:t>
            </a:r>
            <a:r>
              <a:rPr sz="2400"/>
              <a:t>Schluter</a:t>
            </a:r>
            <a:r>
              <a:rPr sz="2400"/>
              <a:t> </a:t>
            </a:r>
          </a:p>
          <a:p>
            <a:endParaRPr/>
          </a:p>
        </p:txBody>
      </p:sp>
      <p:pic>
        <p:nvPicPr>
          <p:cNvPr id="10" name="Picture 2"/>
          <p:cNvPicPr>
            <a:picLocks noChangeAspect="1"/>
          </p:cNvPicPr>
          <p:nvPr/>
        </p:nvPicPr>
        <p:blipFill>
          <a:blip r:embed="rId2"/>
          <a:stretch>
            <a:fillRect l="0" t="0" r="0" b="0"/>
          </a:stretch>
        </p:blipFill>
        <p:spPr>
          <a:xfrm rot="0" flipH="0" flipV="0">
            <a:off x="8680450" y="4164292"/>
            <a:ext cx="1859628" cy="619875"/>
          </a:xfrm>
          <a:prstGeom prst="rect">
            <a:avLst/>
          </a:prstGeom>
        </p:spPr>
      </p:pic>
      <p:pic>
        <p:nvPicPr>
          <p:cNvPr id="11" name="Picture 4"/>
          <p:cNvPicPr>
            <a:picLocks noChangeAspect="1"/>
          </p:cNvPicPr>
          <p:nvPr/>
        </p:nvPicPr>
        <p:blipFill>
          <a:blip r:embed="rId3"/>
          <a:stretch>
            <a:fillRect l="0" t="0" r="0" b="0"/>
          </a:stretch>
        </p:blipFill>
        <p:spPr>
          <a:xfrm rot="0" flipH="0" flipV="0">
            <a:off x="8680450" y="1368478"/>
            <a:ext cx="3047724" cy="1157101"/>
          </a:xfrm>
          <a:prstGeom prst="rect">
            <a:avLst/>
          </a:prstGeom>
        </p:spPr>
      </p:pic>
      <p:pic>
        <p:nvPicPr>
          <p:cNvPr id="12" name="Picture 5"/>
          <p:cNvPicPr>
            <a:picLocks noChangeAspect="1"/>
          </p:cNvPicPr>
          <p:nvPr/>
        </p:nvPicPr>
        <p:blipFill>
          <a:blip r:embed="rId4"/>
          <a:stretch>
            <a:fillRect l="0" t="0" r="0" b="0"/>
          </a:stretch>
        </p:blipFill>
        <p:spPr>
          <a:xfrm rot="0" flipH="0" flipV="0">
            <a:off x="8680450" y="2811121"/>
            <a:ext cx="2272878" cy="640538"/>
          </a:xfrm>
          <a:prstGeom prst="rect">
            <a:avLst/>
          </a:prstGeom>
        </p:spPr>
      </p:pic>
    </p:spTree>
  </p:cSld>
</p:sld>
</file>

<file path=ppt/slides/slide22.xml><?xml version="1.0" encoding="utf-8"?>
<p:sld xmlns:a="http://schemas.openxmlformats.org/drawingml/2006/main" xmlns:p="http://schemas.openxmlformats.org/presentationml/2006/main">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Don’t P-hack</a:t>
            </a:r>
          </a:p>
        </p:txBody>
      </p:sp>
      <p:sp>
        <p:nvSpPr>
          <p:cNvPr id="4" name="Rectangle 3"/>
          <p:cNvSpPr>
            <a:spLocks noGrp="1"/>
          </p:cNvSpPr>
          <p:nvPr/>
        </p:nvSpPr>
        <p:spPr>
          <a:xfrm>
            <a:off x="459668" y="1221455"/>
            <a:ext cx="11169115" cy="5509200"/>
          </a:xfrm>
          <a:prstGeom prst="rect">
            <a:avLst/>
          </a:prstGeom>
        </p:spPr>
        <p:txBody>
          <a:bodyPr wrap="square">
            <a:spAutoFit/>
          </a:bodyPr>
          <a:lstStyle/>
          <a:p>
            <a:pPr marL="342900" indent="-342900">
              <a:buFont typeface="Arial"/>
              <a:buChar char="•"/>
            </a:pPr>
            <a:r>
              <a:rPr sz="2400"/>
              <a:t>Try different transformations to see which improve normality or homoscedasticity not to see which one gives the lowest p-value.</a:t>
            </a:r>
          </a:p>
          <a:p>
            <a:pPr marL="342900" indent="-342900">
              <a:buFont typeface="Arial"/>
              <a:buChar char="•"/>
            </a:pPr>
            <a:endParaRPr sz="2400"/>
          </a:p>
          <a:p>
            <a:pPr marL="342900" indent="-342900">
              <a:buFont typeface="Arial"/>
              <a:buChar char="•"/>
            </a:pPr>
            <a:r>
              <a:rPr sz="2400"/>
              <a:t>If you use a transformation that is not standard in your field or for the data type you will often need to justify it in the text of your paper or to the reviewers of your work</a:t>
            </a:r>
          </a:p>
          <a:p>
            <a:pPr marL="342900" indent="-342900">
              <a:buFont typeface="Arial"/>
              <a:buChar char="•"/>
            </a:pPr>
            <a:endParaRPr sz="2400"/>
          </a:p>
          <a:p>
            <a:pPr marL="342900" indent="-342900">
              <a:buFont typeface="Arial"/>
              <a:buChar char="•"/>
            </a:pPr>
            <a:r>
              <a:rPr sz="2400"/>
              <a:t>Best case scenario is when you can take two routes and show the same result.</a:t>
            </a:r>
          </a:p>
          <a:p>
            <a:pPr marL="800100" lvl="1" indent="-342900">
              <a:buFont typeface="Arial"/>
              <a:buChar char="•"/>
            </a:pPr>
            <a:r>
              <a:rPr sz="2000" i="1"/>
              <a:t>The number of genes in the P53 network that showed signs of selection were positively correlated with the maximum life span of taxa (B = 2.5, R</a:t>
            </a:r>
            <a:r>
              <a:rPr sz="2000" i="1"/>
              <a:t>2</a:t>
            </a:r>
            <a:r>
              <a:rPr sz="2000" i="1"/>
              <a:t> = .26, p = .024). Analysis of square root transformed gene count data produced qualitatively similar results.</a:t>
            </a:r>
          </a:p>
          <a:p>
            <a:pPr marL="800100" lvl="1" indent="-342900">
              <a:buFont typeface="Arial"/>
              <a:buChar char="•"/>
            </a:pPr>
            <a:endParaRPr sz="2000" i="1"/>
          </a:p>
          <a:p>
            <a:pPr marL="800100" lvl="1" indent="-342900">
              <a:buFont typeface="Arial"/>
              <a:buChar char="•"/>
            </a:pPr>
            <a:r>
              <a:rPr sz="2000" i="1"/>
              <a:t>A Welch’s two sample t-test showed that the two populations had significantly different mean body size.  However despite log transformation of body size both populations failed a Shapiro-Wilks test of normality. Therefor we also performed a Mann-Whitney U-test which also showed that population A was significantly larger than population B.</a:t>
            </a:r>
          </a:p>
          <a:p>
            <a:pPr marL="342900" indent="-342900">
              <a:buFont typeface="Arial"/>
              <a:buChar char="•"/>
            </a:pPr>
            <a:endParaRPr sz="2400"/>
          </a:p>
        </p:txBody>
      </p:sp>
    </p:spTree>
  </p:cSld>
</p:sld>
</file>

<file path=ppt/slides/slide23.xml><?xml version="1.0" encoding="utf-8"?>
<p:sld xmlns:a="http://schemas.openxmlformats.org/drawingml/2006/main" xmlns:p="http://schemas.openxmlformats.org/presentationml/2006/main">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Non-parametric tests</a:t>
            </a:r>
          </a:p>
        </p:txBody>
      </p:sp>
      <p:sp>
        <p:nvSpPr>
          <p:cNvPr id="4" name="Rectangle 3"/>
          <p:cNvSpPr>
            <a:spLocks noGrp="1"/>
          </p:cNvSpPr>
          <p:nvPr/>
        </p:nvSpPr>
        <p:spPr>
          <a:xfrm>
            <a:off x="237995" y="1161821"/>
            <a:ext cx="11732332" cy="1815882"/>
          </a:xfrm>
          <a:prstGeom prst="rect">
            <a:avLst/>
          </a:prstGeom>
        </p:spPr>
        <p:txBody>
          <a:bodyPr wrap="square">
            <a:spAutoFit/>
          </a:bodyPr>
          <a:lstStyle/>
          <a:p>
            <a:pPr marL="1200150" lvl="1" indent="-742950">
              <a:buFont typeface="+mj-lt"/>
              <a:buAutoNum type="arabicPeriod"/>
            </a:pPr>
            <a:r>
              <a:rPr sz="2800"/>
              <a:t>Non-parametric tests still have assumptions but fewer.</a:t>
            </a:r>
          </a:p>
          <a:p>
            <a:pPr marL="1200150" lvl="1" indent="-742950">
              <a:buFont typeface="+mj-lt"/>
              <a:buAutoNum type="arabicPeriod"/>
            </a:pPr>
            <a:r>
              <a:rPr sz="2800"/>
              <a:t>You lose a lot of power when you switch from parametric to non-parametric.</a:t>
            </a:r>
          </a:p>
          <a:p>
            <a:pPr marL="457200" indent="-457200">
              <a:buFont typeface="+mj-lt"/>
              <a:buAutoNum type="arabicPeriod"/>
            </a:pPr>
            <a:endParaRPr sz="2800"/>
          </a:p>
        </p:txBody>
      </p:sp>
    </p:spTree>
  </p:cSld>
</p:sld>
</file>

<file path=ppt/slides/slide24.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Mann-Whitney / Wilcoxon Rank</a:t>
            </a:r>
          </a:p>
        </p:txBody>
      </p:sp>
      <p:sp>
        <p:nvSpPr>
          <p:cNvPr id="4" name="Rectangle 3"/>
          <p:cNvSpPr>
            <a:spLocks noGrp="1"/>
          </p:cNvSpPr>
          <p:nvPr/>
        </p:nvSpPr>
        <p:spPr>
          <a:xfrm>
            <a:off x="237995" y="1161821"/>
            <a:ext cx="11732332" cy="5386090"/>
          </a:xfrm>
          <a:prstGeom prst="rect">
            <a:avLst/>
          </a:prstGeom>
        </p:spPr>
        <p:txBody>
          <a:bodyPr wrap="square">
            <a:spAutoFit/>
          </a:bodyPr>
          <a:lstStyle/>
          <a:p>
            <a:r>
              <a:rPr sz="2400" b="1"/>
              <a:t>Replaces two sample t-test</a:t>
            </a:r>
          </a:p>
          <a:p>
            <a:pPr marL="342900" indent="-342900">
              <a:buFont typeface="Arial"/>
              <a:buChar char="•"/>
            </a:pPr>
            <a:endParaRPr sz="2400"/>
          </a:p>
          <a:p>
            <a:pPr marL="342900" indent="-342900">
              <a:buFont typeface="Arial"/>
              <a:buChar char="•"/>
            </a:pPr>
            <a:r>
              <a:rPr sz="2400"/>
              <a:t>Tests the hypothesis based upon a ranked list </a:t>
            </a:r>
          </a:p>
          <a:p>
            <a:pPr marL="342900" indent="-342900">
              <a:buFont typeface="Arial"/>
              <a:buChar char="•"/>
            </a:pPr>
            <a:endParaRPr sz="2400"/>
          </a:p>
          <a:p>
            <a:pPr marL="342900" indent="-342900">
              <a:buFont typeface="Arial"/>
              <a:buChar char="•"/>
            </a:pPr>
            <a:r>
              <a:rPr sz="2400"/>
              <a:t>The tests are done on the ranks rather than the actual values </a:t>
            </a:r>
          </a:p>
          <a:p>
            <a:pPr marL="342900" indent="-342900">
              <a:buFont typeface="Arial"/>
              <a:buChar char="•"/>
            </a:pPr>
            <a:endParaRPr sz="2400"/>
          </a:p>
          <a:p>
            <a:pPr marL="342900" indent="-342900">
              <a:buFont typeface="Arial"/>
              <a:buChar char="•"/>
            </a:pPr>
            <a:r>
              <a:rPr sz="2400"/>
              <a:t>Implementation: </a:t>
            </a:r>
          </a:p>
          <a:p>
            <a:pPr marL="342900" indent="-342900">
              <a:buFont typeface="Arial"/>
              <a:buChar char="•"/>
            </a:pPr>
            <a:endParaRPr sz="2400"/>
          </a:p>
          <a:p>
            <a:pPr marL="342900" indent="-342900">
              <a:buFont typeface="Arial"/>
              <a:buChar char="•"/>
            </a:pPr>
            <a:r>
              <a:rPr sz="2400"/>
              <a:t>Assumptions: </a:t>
            </a:r>
          </a:p>
          <a:p>
            <a:pPr marL="800100" lvl="1" indent="-342900">
              <a:buFont typeface="Arial"/>
              <a:buChar char="•"/>
            </a:pPr>
            <a:r>
              <a:rPr sz="2400"/>
              <a:t>The distribution of measurements is symmetrical </a:t>
            </a:r>
          </a:p>
          <a:p>
            <a:pPr marL="800100" lvl="1" indent="-342900">
              <a:buFont typeface="Arial"/>
              <a:buChar char="•"/>
            </a:pPr>
            <a:r>
              <a:rPr sz="2400"/>
              <a:t>Distributions of the two variables must have the same shape </a:t>
            </a:r>
          </a:p>
          <a:p>
            <a:pPr marL="800100" lvl="1" indent="-342900">
              <a:buFont typeface="Arial"/>
              <a:buChar char="•"/>
            </a:pPr>
            <a:r>
              <a:rPr sz="2400"/>
              <a:t>A </a:t>
            </a:r>
            <a:r>
              <a:rPr sz="2400" b="1"/>
              <a:t>significant result implies that the two variables have different distributions </a:t>
            </a:r>
            <a:r>
              <a:rPr sz="2400"/>
              <a:t>(possibly due to different means but also possibly due to variances or skewness) </a:t>
            </a:r>
          </a:p>
          <a:p>
            <a:pPr marL="457200" indent="-457200">
              <a:buFont typeface="Arial"/>
              <a:buChar char="•"/>
            </a:pPr>
            <a:endParaRPr sz="3200"/>
          </a:p>
        </p:txBody>
      </p:sp>
      <p:pic>
        <p:nvPicPr>
          <p:cNvPr id="8" name="Picture 2"/>
          <p:cNvPicPr>
            <a:picLocks noChangeAspect="1"/>
          </p:cNvPicPr>
          <p:nvPr/>
        </p:nvPicPr>
        <p:blipFill>
          <a:blip r:embed="rId2"/>
          <a:stretch>
            <a:fillRect l="0" t="0" r="0" b="0"/>
          </a:stretch>
        </p:blipFill>
        <p:spPr>
          <a:xfrm>
            <a:off x="3087757" y="3229545"/>
            <a:ext cx="2418522" cy="625321"/>
          </a:xfrm>
          <a:prstGeom prst="rect">
            <a:avLst/>
          </a:prstGeom>
        </p:spPr>
      </p:pic>
    </p:spTree>
  </p:cSld>
</p:sld>
</file>

<file path=ppt/slides/slide25.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Doing a Mann-Whitney / Wilcoxon Rank in R</a:t>
            </a:r>
          </a:p>
        </p:txBody>
      </p:sp>
      <p:pic>
        <p:nvPicPr>
          <p:cNvPr id="16" name="Picture 5"/>
          <p:cNvPicPr>
            <a:picLocks noChangeAspect="1"/>
          </p:cNvPicPr>
          <p:nvPr/>
        </p:nvPicPr>
        <p:blipFill>
          <a:blip r:embed="rId2"/>
          <a:stretch>
            <a:fillRect l="0" t="0" r="0" b="0"/>
          </a:stretch>
        </p:blipFill>
        <p:spPr>
          <a:xfrm>
            <a:off x="184150" y="1174750"/>
            <a:ext cx="3359150" cy="1693930"/>
          </a:xfrm>
          <a:prstGeom prst="rect">
            <a:avLst/>
          </a:prstGeom>
        </p:spPr>
      </p:pic>
      <p:pic>
        <p:nvPicPr>
          <p:cNvPr id="17" name="Picture 7"/>
          <p:cNvPicPr>
            <a:picLocks noChangeAspect="1"/>
          </p:cNvPicPr>
          <p:nvPr/>
        </p:nvPicPr>
        <p:blipFill rotWithShape="1">
          <a:blip r:embed="rId3"/>
          <a:srcRect l="0" t="0" r="23369" b="0"/>
          <a:stretch/>
        </p:blipFill>
        <p:spPr>
          <a:xfrm>
            <a:off x="184150" y="2868680"/>
            <a:ext cx="4997450" cy="1374794"/>
          </a:xfrm>
          <a:prstGeom prst="rect">
            <a:avLst/>
          </a:prstGeom>
        </p:spPr>
      </p:pic>
      <p:pic>
        <p:nvPicPr>
          <p:cNvPr id="18" name="Picture 8"/>
          <p:cNvPicPr>
            <a:picLocks noChangeAspect="1"/>
          </p:cNvPicPr>
          <p:nvPr/>
        </p:nvPicPr>
        <p:blipFill>
          <a:blip r:embed="rId4"/>
          <a:stretch>
            <a:fillRect l="0" t="0" r="0" b="0"/>
          </a:stretch>
        </p:blipFill>
        <p:spPr>
          <a:xfrm>
            <a:off x="5772150" y="1620171"/>
            <a:ext cx="6115050" cy="2623303"/>
          </a:xfrm>
          <a:prstGeom prst="rect">
            <a:avLst/>
          </a:prstGeom>
        </p:spPr>
      </p:pic>
      <p:sp>
        <p:nvSpPr>
          <p:cNvPr id="10" name="Rectangle 9"/>
          <p:cNvSpPr>
            <a:spLocks noGrp="1"/>
          </p:cNvSpPr>
          <p:nvPr/>
        </p:nvSpPr>
        <p:spPr>
          <a:xfrm rot="0" flipH="0" flipV="0">
            <a:off x="8077200" y="2628900"/>
            <a:ext cx="1809750" cy="302922"/>
          </a:xfrm>
          <a:prstGeom prst="rect">
            <a:avLst/>
          </a:prstGeom>
          <a:solidFill>
            <a:srgbClr val="FFF239">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p:cNvSpPr>
            <a:spLocks noGrp="1"/>
          </p:cNvSpPr>
          <p:nvPr/>
        </p:nvSpPr>
        <p:spPr>
          <a:xfrm rot="0" flipH="0" flipV="0">
            <a:off x="1333500" y="3940552"/>
            <a:ext cx="1809750" cy="302922"/>
          </a:xfrm>
          <a:prstGeom prst="rect">
            <a:avLst/>
          </a:prstGeom>
          <a:solidFill>
            <a:srgbClr val="FFF239">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Tree>
  </p:cSld>
</p:sld>
</file>

<file path=ppt/slides/slide26.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Sign test</a:t>
            </a:r>
          </a:p>
        </p:txBody>
      </p:sp>
      <p:sp>
        <p:nvSpPr>
          <p:cNvPr id="3" name="Rectangle 2"/>
          <p:cNvSpPr>
            <a:spLocks noGrp="1"/>
          </p:cNvSpPr>
          <p:nvPr/>
        </p:nvSpPr>
        <p:spPr>
          <a:xfrm>
            <a:off x="231913" y="1205974"/>
            <a:ext cx="11728174" cy="4893647"/>
          </a:xfrm>
          <a:prstGeom prst="rect">
            <a:avLst/>
          </a:prstGeom>
        </p:spPr>
        <p:txBody>
          <a:bodyPr wrap="square">
            <a:spAutoFit/>
          </a:bodyPr>
          <a:lstStyle/>
          <a:p>
            <a:r>
              <a:rPr sz="2400" b="1">
                <a:latin typeface="Calibri"/>
                <a:ea typeface="Calibri"/>
                <a:cs typeface="Calibri"/>
              </a:rPr>
              <a:t>Replaces one-sample or paired-sample t-test</a:t>
            </a:r>
          </a:p>
          <a:p>
            <a:pPr marL="342900" indent="-342900">
              <a:buFont typeface="Arial"/>
              <a:buChar char="•"/>
            </a:pPr>
            <a:endParaRPr sz="2400" b="1">
              <a:latin typeface="Calibri"/>
              <a:ea typeface="Calibri"/>
              <a:cs typeface="Calibri"/>
            </a:endParaRPr>
          </a:p>
          <a:p>
            <a:pPr marL="342900" indent="-342900">
              <a:buFont typeface="Arial"/>
              <a:buChar char="•"/>
            </a:pPr>
            <a:r>
              <a:rPr sz="2400">
                <a:latin typeface="Calibri"/>
                <a:ea typeface="Calibri"/>
                <a:cs typeface="Calibri"/>
              </a:rPr>
              <a:t>Convert the data to a score (+ or -) </a:t>
            </a:r>
          </a:p>
          <a:p>
            <a:pPr marL="800100" lvl="1" indent="-342900">
              <a:buFont typeface="Arial"/>
              <a:buChar char="•"/>
            </a:pPr>
            <a:r>
              <a:rPr sz="2400">
                <a:latin typeface="Calibri"/>
                <a:ea typeface="Calibri"/>
                <a:cs typeface="Calibri"/>
              </a:rPr>
              <a:t>One-sample: whether the value is above or below the hypothesized value.</a:t>
            </a:r>
          </a:p>
          <a:p>
            <a:pPr marL="800100" lvl="1" indent="-342900">
              <a:buFont typeface="Arial"/>
              <a:buChar char="•"/>
            </a:pPr>
            <a:r>
              <a:rPr sz="2400">
                <a:latin typeface="Calibri"/>
                <a:ea typeface="Calibri"/>
                <a:cs typeface="Calibri"/>
              </a:rPr>
              <a:t>Paired-sample: whether the second value is higher or lower</a:t>
            </a:r>
          </a:p>
          <a:p>
            <a:pPr marL="800100" lvl="1" indent="-342900">
              <a:buFont typeface="Arial"/>
              <a:buChar char="•"/>
            </a:pPr>
            <a:endParaRPr sz="2400">
              <a:latin typeface="Calibri"/>
              <a:ea typeface="Calibri"/>
              <a:cs typeface="Calibri"/>
            </a:endParaRPr>
          </a:p>
          <a:p>
            <a:pPr marL="342900" indent="-342900">
              <a:buFont typeface="Arial"/>
              <a:buChar char="•"/>
            </a:pPr>
            <a:r>
              <a:rPr sz="2400">
                <a:latin typeface="Calibri"/>
                <a:ea typeface="Calibri"/>
                <a:cs typeface="Calibri"/>
              </a:rPr>
              <a:t>Under the null hypothesis, the number of +’s should equal the number of –’s, so this test boils down to a binomial test </a:t>
            </a:r>
          </a:p>
          <a:p>
            <a:pPr marL="342900" indent="-342900">
              <a:buFont typeface="Arial"/>
              <a:buChar char="•"/>
            </a:pPr>
            <a:endParaRPr sz="2400">
              <a:latin typeface="Arial"/>
              <a:ea typeface="Arial"/>
              <a:cs typeface="Arial"/>
            </a:endParaRPr>
          </a:p>
          <a:p>
            <a:pPr marL="342900" indent="-342900">
              <a:buFont typeface="Arial"/>
              <a:buChar char="•"/>
            </a:pPr>
            <a:r>
              <a:rPr sz="2400">
                <a:latin typeface="Calibri"/>
                <a:ea typeface="Calibri"/>
                <a:cs typeface="Calibri"/>
              </a:rPr>
              <a:t>Obviously, it’s throwing away a lot of information </a:t>
            </a:r>
          </a:p>
          <a:p>
            <a:pPr marL="342900" indent="-342900">
              <a:buFont typeface="Arial"/>
              <a:buChar char="•"/>
            </a:pPr>
            <a:endParaRPr sz="2400">
              <a:latin typeface="Arial"/>
              <a:ea typeface="Arial"/>
              <a:cs typeface="Arial"/>
            </a:endParaRPr>
          </a:p>
          <a:p>
            <a:pPr marL="342900" indent="-342900">
              <a:buFont typeface="Arial"/>
              <a:buChar char="•"/>
            </a:pPr>
            <a:r>
              <a:rPr sz="2400">
                <a:latin typeface="Arial"/>
                <a:ea typeface="Arial"/>
                <a:cs typeface="Arial"/>
              </a:rPr>
              <a:t>I</a:t>
            </a:r>
            <a:r>
              <a:rPr sz="2400">
                <a:latin typeface="Calibri"/>
                <a:ea typeface="Calibri"/>
                <a:cs typeface="Calibri"/>
              </a:rPr>
              <a:t>mplementation: </a:t>
            </a:r>
          </a:p>
          <a:p>
            <a:endParaRPr sz="2400">
              <a:latin typeface="Calibri"/>
              <a:ea typeface="Calibri"/>
              <a:cs typeface="Calibri"/>
            </a:endParaRPr>
          </a:p>
        </p:txBody>
      </p:sp>
      <p:pic>
        <p:nvPicPr>
          <p:cNvPr id="7" name="Picture 4"/>
          <p:cNvPicPr>
            <a:picLocks noChangeAspect="1"/>
          </p:cNvPicPr>
          <p:nvPr/>
        </p:nvPicPr>
        <p:blipFill>
          <a:blip r:embed="rId2"/>
          <a:stretch>
            <a:fillRect l="0" t="0" r="0" b="0"/>
          </a:stretch>
        </p:blipFill>
        <p:spPr>
          <a:xfrm>
            <a:off x="3177209" y="5126383"/>
            <a:ext cx="4724400" cy="660400"/>
          </a:xfrm>
          <a:prstGeom prst="rect">
            <a:avLst/>
          </a:prstGeom>
        </p:spPr>
      </p:pic>
    </p:spTree>
  </p:cSld>
</p:sld>
</file>

<file path=ppt/slides/slide27.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Doing sign test in R</a:t>
            </a:r>
          </a:p>
        </p:txBody>
      </p:sp>
      <p:sp>
        <p:nvSpPr>
          <p:cNvPr id="3" name="Rectangle 2"/>
          <p:cNvSpPr>
            <a:spLocks noGrp="1"/>
          </p:cNvSpPr>
          <p:nvPr/>
        </p:nvSpPr>
        <p:spPr>
          <a:xfrm>
            <a:off x="231913" y="1205974"/>
            <a:ext cx="11728174" cy="1200329"/>
          </a:xfrm>
          <a:prstGeom prst="rect">
            <a:avLst/>
          </a:prstGeom>
        </p:spPr>
        <p:txBody>
          <a:bodyPr wrap="square">
            <a:spAutoFit/>
          </a:bodyPr>
          <a:lstStyle/>
          <a:p>
            <a:pPr marL="342900" indent="-342900">
              <a:buFont typeface="Arial"/>
              <a:buChar char="•"/>
            </a:pPr>
            <a:endParaRPr sz="2400">
              <a:latin typeface="Arial"/>
              <a:ea typeface="Arial"/>
              <a:cs typeface="Arial"/>
            </a:endParaRPr>
          </a:p>
          <a:p>
            <a:pPr marL="342900" indent="-342900">
              <a:buFont typeface="Arial"/>
              <a:buChar char="•"/>
            </a:pPr>
            <a:r>
              <a:rPr sz="2400">
                <a:latin typeface="Arial"/>
                <a:ea typeface="Arial"/>
                <a:cs typeface="Arial"/>
              </a:rPr>
              <a:t>I</a:t>
            </a:r>
            <a:r>
              <a:rPr sz="2400">
                <a:latin typeface="Calibri"/>
                <a:ea typeface="Calibri"/>
                <a:cs typeface="Calibri"/>
              </a:rPr>
              <a:t>mplementation: </a:t>
            </a:r>
          </a:p>
          <a:p>
            <a:endParaRPr sz="2400">
              <a:latin typeface="Calibri"/>
              <a:ea typeface="Calibri"/>
              <a:cs typeface="Calibri"/>
            </a:endParaRPr>
          </a:p>
        </p:txBody>
      </p:sp>
      <p:pic>
        <p:nvPicPr>
          <p:cNvPr id="12" name="Picture 3"/>
          <p:cNvPicPr>
            <a:picLocks noChangeAspect="1"/>
          </p:cNvPicPr>
          <p:nvPr/>
        </p:nvPicPr>
        <p:blipFill>
          <a:blip r:embed="rId2"/>
          <a:stretch>
            <a:fillRect l="0" t="0" r="0" b="0"/>
          </a:stretch>
        </p:blipFill>
        <p:spPr>
          <a:xfrm>
            <a:off x="231913" y="2041120"/>
            <a:ext cx="3162300" cy="1270484"/>
          </a:xfrm>
          <a:prstGeom prst="rect">
            <a:avLst/>
          </a:prstGeom>
        </p:spPr>
      </p:pic>
      <p:pic>
        <p:nvPicPr>
          <p:cNvPr id="13" name="Picture 5"/>
          <p:cNvPicPr>
            <a:picLocks noChangeAspect="1"/>
          </p:cNvPicPr>
          <p:nvPr/>
        </p:nvPicPr>
        <p:blipFill>
          <a:blip r:embed="rId3"/>
          <a:stretch>
            <a:fillRect l="0" t="0" r="0" b="0"/>
          </a:stretch>
        </p:blipFill>
        <p:spPr>
          <a:xfrm>
            <a:off x="231913" y="3619226"/>
            <a:ext cx="6679875" cy="302452"/>
          </a:xfrm>
          <a:prstGeom prst="rect">
            <a:avLst/>
          </a:prstGeom>
        </p:spPr>
      </p:pic>
      <p:pic>
        <p:nvPicPr>
          <p:cNvPr id="14" name="Picture 6"/>
          <p:cNvPicPr>
            <a:picLocks noChangeAspect="1"/>
          </p:cNvPicPr>
          <p:nvPr/>
        </p:nvPicPr>
        <p:blipFill>
          <a:blip r:embed="rId4"/>
          <a:stretch>
            <a:fillRect l="0" t="0" r="0" b="0"/>
          </a:stretch>
        </p:blipFill>
        <p:spPr>
          <a:xfrm>
            <a:off x="231913" y="3300816"/>
            <a:ext cx="1343260" cy="313091"/>
          </a:xfrm>
          <a:prstGeom prst="rect">
            <a:avLst/>
          </a:prstGeom>
        </p:spPr>
      </p:pic>
      <p:pic>
        <p:nvPicPr>
          <p:cNvPr id="15" name="Picture 7"/>
          <p:cNvPicPr>
            <a:picLocks noChangeAspect="1"/>
          </p:cNvPicPr>
          <p:nvPr/>
        </p:nvPicPr>
        <p:blipFill>
          <a:blip r:embed="rId5"/>
          <a:stretch>
            <a:fillRect l="0" t="0" r="0" b="0"/>
          </a:stretch>
        </p:blipFill>
        <p:spPr>
          <a:xfrm>
            <a:off x="231913" y="3921678"/>
            <a:ext cx="5415852" cy="292255"/>
          </a:xfrm>
          <a:prstGeom prst="rect">
            <a:avLst/>
          </a:prstGeom>
        </p:spPr>
      </p:pic>
      <p:pic>
        <p:nvPicPr>
          <p:cNvPr id="16" name="Picture 8"/>
          <p:cNvPicPr>
            <a:picLocks noChangeAspect="1"/>
          </p:cNvPicPr>
          <p:nvPr/>
        </p:nvPicPr>
        <p:blipFill>
          <a:blip r:embed="rId6"/>
          <a:stretch>
            <a:fillRect l="0" t="0" r="0" b="0"/>
          </a:stretch>
        </p:blipFill>
        <p:spPr>
          <a:xfrm>
            <a:off x="231913" y="4291365"/>
            <a:ext cx="6723529" cy="2424677"/>
          </a:xfrm>
          <a:prstGeom prst="rect">
            <a:avLst/>
          </a:prstGeom>
        </p:spPr>
      </p:pic>
      <p:graphicFrame>
        <p:nvGraphicFramePr>
          <p:cNvPr id="17" name="Table 11"/>
          <p:cNvGraphicFramePr/>
          <p:nvPr/>
        </p:nvGraphicFramePr>
        <p:xfrm>
          <a:off x="7699513" y="4128838"/>
          <a:ext cx="3940037" cy="1828800"/>
        </p:xfrm>
        <a:graphic>
          <a:graphicData uri="http://schemas.openxmlformats.org/drawingml/2006/table">
            <a:tbl>
              <a:tblPr firstRow="1" bandRow="1">
                <a:tableStyleId>{073A0DAA-6AF3-43AB-8588-CEC1D06C72B9}</a:tableStyleId>
              </a:tblPr>
              <a:tblGrid>
                <a:gridCol w="2599941"/>
                <a:gridCol w="1340096"/>
              </a:tblGrid>
              <a:tr h="370840">
                <a:tc>
                  <a:txBody>
                    <a:bodyPr/>
                    <a:lstStyle/>
                    <a:p>
                      <a:r>
                        <a:rPr sz="2400">
                          <a:solidFill>
                            <a:sysClr val="windowText" lastClr="000000"/>
                          </a:solidFill>
                        </a:rPr>
                        <a:t>Test</a:t>
                      </a:r>
                    </a:p>
                  </a:txBody>
                  <a:tcPr marL="91440" marR="91440" marT="45720" marB="45720">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c>
                  <a:txBody>
                    <a:bodyPr/>
                    <a:lstStyle/>
                    <a:p>
                      <a:r>
                        <a:rPr sz="2400">
                          <a:solidFill>
                            <a:sysClr val="windowText" lastClr="000000"/>
                          </a:solidFill>
                        </a:rPr>
                        <a:t>P-value</a:t>
                      </a:r>
                    </a:p>
                  </a:txBody>
                  <a:tcPr marL="91440" marR="91440" marT="45720" marB="45720">
                    <a:lnL w="12700" cmpd="sng">
                      <a:noFill/>
                    </a:lnL>
                    <a:lnR w="12700" cmpd="sng">
                      <a:noFill/>
                    </a:lnR>
                    <a:lnT w="12700" cmpd="sng">
                      <a:solidFill>
                        <a:schemeClr val="tx1"/>
                      </a:solidFill>
                      <a:prstDash val="solid"/>
                    </a:lnT>
                    <a:lnB w="12700" cmpd="sng">
                      <a:solidFill>
                        <a:schemeClr val="tx1"/>
                      </a:solidFill>
                      <a:prstDash val="solid"/>
                    </a:lnB>
                    <a:lnTlToBr w="12700" cmpd="sng">
                      <a:noFill/>
                      <a:prstDash val="solid"/>
                    </a:lnTlToBr>
                    <a:lnBlToTr w="12700" cmpd="sng">
                      <a:noFill/>
                      <a:prstDash val="solid"/>
                    </a:lnBlToTr>
                    <a:noFill/>
                  </a:tcPr>
                </a:tc>
              </a:tr>
              <a:tr h="370840">
                <a:tc>
                  <a:txBody>
                    <a:bodyPr/>
                    <a:lstStyle/>
                    <a:p>
                      <a:r>
                        <a:rPr sz="2400">
                          <a:solidFill>
                            <a:sysClr val="windowText" lastClr="000000"/>
                          </a:solidFill>
                        </a:rPr>
                        <a:t>T-test</a:t>
                      </a:r>
                    </a:p>
                  </a:txBody>
                  <a:tcPr marL="91440" marR="91440" marT="45720" marB="45720">
                    <a:lnL w="12700" cmpd="sng">
                      <a:noFill/>
                    </a:lnL>
                    <a:lnR w="12700" cmpd="sng">
                      <a:noFill/>
                    </a:lnR>
                    <a:lnT w="12700" cmpd="sng">
                      <a:solidFill>
                        <a:schemeClr val="tx1"/>
                      </a:solidFill>
                      <a:prstDash val="solid"/>
                    </a:lnT>
                    <a:lnB w="12700" cmpd="sng">
                      <a:noFill/>
                    </a:lnB>
                    <a:lnTlToBr w="12700" cmpd="sng">
                      <a:noFill/>
                      <a:prstDash val="solid"/>
                    </a:lnTlToBr>
                    <a:lnBlToTr w="12700" cmpd="sng">
                      <a:noFill/>
                      <a:prstDash val="solid"/>
                    </a:lnBlToTr>
                    <a:noFill/>
                  </a:tcPr>
                </a:tc>
                <a:tc>
                  <a:txBody>
                    <a:bodyPr/>
                    <a:lstStyle/>
                    <a:p>
                      <a:r>
                        <a:rPr sz="2400">
                          <a:solidFill>
                            <a:sysClr val="windowText" lastClr="000000"/>
                          </a:solidFill>
                        </a:rPr>
                        <a:t>0.049</a:t>
                      </a:r>
                    </a:p>
                  </a:txBody>
                  <a:tcPr marL="91440" marR="91440" marT="45720" marB="45720">
                    <a:lnL w="12700" cmpd="sng">
                      <a:noFill/>
                    </a:lnL>
                    <a:lnR w="12700" cmpd="sng">
                      <a:noFill/>
                    </a:lnR>
                    <a:lnT w="12700" cmpd="sng">
                      <a:solidFill>
                        <a:schemeClr val="tx1"/>
                      </a:solidFill>
                      <a:prstDash val="solid"/>
                    </a:lnT>
                    <a:lnB w="12700" cmpd="sng">
                      <a:noFill/>
                    </a:lnB>
                    <a:lnTlToBr w="12700" cmpd="sng">
                      <a:noFill/>
                      <a:prstDash val="solid"/>
                    </a:lnTlToBr>
                    <a:lnBlToTr w="12700" cmpd="sng">
                      <a:noFill/>
                      <a:prstDash val="solid"/>
                    </a:lnBlToTr>
                    <a:noFill/>
                  </a:tcPr>
                </a:tc>
              </a:tr>
              <a:tr h="370840">
                <a:tc>
                  <a:txBody>
                    <a:bodyPr/>
                    <a:lstStyle/>
                    <a:p>
                      <a:r>
                        <a:rPr sz="2400">
                          <a:solidFill>
                            <a:sysClr val="windowText" lastClr="000000"/>
                          </a:solidFill>
                        </a:rPr>
                        <a:t>Wilcox rank test</a:t>
                      </a:r>
                    </a:p>
                  </a:txBody>
                  <a:tcPr marL="91440" marR="91440" marT="45720" marB="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sz="2400">
                          <a:solidFill>
                            <a:sysClr val="windowText" lastClr="000000"/>
                          </a:solidFill>
                        </a:rPr>
                        <a:t>0.074</a:t>
                      </a:r>
                    </a:p>
                  </a:txBody>
                  <a:tcPr marL="91440" marR="91440" marT="45720" marB="45720">
                    <a:lnL w="12700" cmpd="sng">
                      <a:noFill/>
                    </a:lnL>
                    <a:lnR w="12700" cmpd="sng">
                      <a:noFill/>
                    </a:lnR>
                    <a:lnT w="12700" cmpd="sng">
                      <a:noFill/>
                    </a:lnT>
                    <a:lnB w="12700" cmpd="sng">
                      <a:noFill/>
                    </a:lnB>
                    <a:lnTlToBr w="12700" cmpd="sng">
                      <a:noFill/>
                      <a:prstDash val="solid"/>
                    </a:lnTlToBr>
                    <a:lnBlToTr w="12700" cmpd="sng">
                      <a:noFill/>
                      <a:prstDash val="solid"/>
                    </a:lnBlToTr>
                    <a:noFill/>
                  </a:tcPr>
                </a:tc>
              </a:tr>
              <a:tr h="370840">
                <a:tc>
                  <a:txBody>
                    <a:bodyPr/>
                    <a:lstStyle/>
                    <a:p>
                      <a:r>
                        <a:rPr sz="2400">
                          <a:solidFill>
                            <a:sysClr val="windowText" lastClr="000000"/>
                          </a:solidFill>
                        </a:rPr>
                        <a:t>Sign test</a:t>
                      </a:r>
                    </a:p>
                  </a:txBody>
                  <a:tcPr marL="91440" marR="91440" marT="45720" marB="45720">
                    <a:lnL w="12700" cmpd="sng">
                      <a:noFill/>
                    </a:lnL>
                    <a:lnR w="12700" cmpd="sng">
                      <a:noFill/>
                    </a:lnR>
                    <a:lnT w="12700" cmpd="sng">
                      <a:noFill/>
                    </a:lnT>
                    <a:lnB w="12700" cmpd="sng">
                      <a:solidFill>
                        <a:schemeClr val="tx1"/>
                      </a:solidFill>
                      <a:prstDash val="solid"/>
                    </a:lnB>
                    <a:lnTlToBr w="12700" cmpd="sng">
                      <a:noFill/>
                      <a:prstDash val="solid"/>
                    </a:lnTlToBr>
                    <a:lnBlToTr w="12700" cmpd="sng">
                      <a:noFill/>
                      <a:prstDash val="solid"/>
                    </a:lnBlToTr>
                    <a:noFill/>
                  </a:tcPr>
                </a:tc>
                <a:tc>
                  <a:txBody>
                    <a:bodyPr/>
                    <a:lstStyle/>
                    <a:p>
                      <a:r>
                        <a:rPr sz="2400">
                          <a:solidFill>
                            <a:sysClr val="windowText" lastClr="000000"/>
                          </a:solidFill>
                        </a:rPr>
                        <a:t>0.125</a:t>
                      </a:r>
                    </a:p>
                  </a:txBody>
                  <a:tcPr marL="91440" marR="91440" marT="45720" marB="45720">
                    <a:lnL w="12700" cmpd="sng">
                      <a:noFill/>
                    </a:lnL>
                    <a:lnR w="12700" cmpd="sng">
                      <a:noFill/>
                    </a:lnR>
                    <a:lnT w="12700" cmpd="sng">
                      <a:noFill/>
                    </a:lnT>
                    <a:lnB w="12700" cmpd="sng">
                      <a:solidFill>
                        <a:schemeClr val="tx1"/>
                      </a:solidFill>
                      <a:prstDash val="solid"/>
                    </a:lnB>
                    <a:lnTlToBr w="12700" cmpd="sng">
                      <a:noFill/>
                      <a:prstDash val="solid"/>
                    </a:lnTlToBr>
                    <a:lnBlToTr w="12700" cmpd="sng">
                      <a:noFill/>
                      <a:prstDash val="solid"/>
                    </a:lnBlToTr>
                    <a:noFill/>
                  </a:tcPr>
                </a:tc>
              </a:tr>
            </a:tbl>
          </a:graphicData>
        </a:graphic>
      </p:graphicFrame>
    </p:spTree>
  </p:cSld>
</p:sld>
</file>

<file path=ppt/slides/slide28.xml><?xml version="1.0" encoding="utf-8"?>
<p:sld xmlns:a="http://schemas.openxmlformats.org/drawingml/2006/main" xmlns:p="http://schemas.openxmlformats.org/presentationml/2006/main">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Permutation test</a:t>
            </a:r>
          </a:p>
        </p:txBody>
      </p:sp>
      <p:sp>
        <p:nvSpPr>
          <p:cNvPr id="4" name="Rectangle 3"/>
          <p:cNvSpPr>
            <a:spLocks noGrp="1"/>
          </p:cNvSpPr>
          <p:nvPr/>
        </p:nvSpPr>
        <p:spPr>
          <a:xfrm>
            <a:off x="237994" y="1161821"/>
            <a:ext cx="11649205" cy="4832092"/>
          </a:xfrm>
          <a:prstGeom prst="rect">
            <a:avLst/>
          </a:prstGeom>
        </p:spPr>
        <p:txBody>
          <a:bodyPr wrap="square">
            <a:spAutoFit/>
          </a:bodyPr>
          <a:lstStyle/>
          <a:p>
            <a:pPr marL="342900" indent="-342900">
              <a:buFont typeface="Arial"/>
              <a:buChar char="•"/>
            </a:pPr>
            <a:r>
              <a:rPr sz="2800"/>
              <a:t>Makes almost no assumptions about the underlying data and allow very specific questions to be asked.</a:t>
            </a:r>
          </a:p>
          <a:p>
            <a:pPr marL="342900" indent="-342900">
              <a:buFont typeface="Arial"/>
              <a:buChar char="•"/>
            </a:pPr>
            <a:endParaRPr sz="2800"/>
          </a:p>
          <a:p>
            <a:pPr marL="342900" indent="-342900">
              <a:buFont typeface="Arial"/>
              <a:buChar char="•"/>
            </a:pPr>
            <a:r>
              <a:rPr sz="2800"/>
              <a:t>Under the null hypothesis, the two groups are drawn from identical distributions (they are from identical populations) </a:t>
            </a:r>
          </a:p>
          <a:p>
            <a:pPr marL="342900" indent="-342900">
              <a:buFont typeface="Arial"/>
              <a:buChar char="•"/>
            </a:pPr>
            <a:endParaRPr sz="2800"/>
          </a:p>
          <a:p>
            <a:pPr marL="342900" indent="-342900">
              <a:buFont typeface="Arial"/>
              <a:buChar char="•"/>
            </a:pPr>
            <a:r>
              <a:rPr sz="2800"/>
              <a:t>By randomizing the observations between groups, an expected distribution under the null hypothesis can be generated </a:t>
            </a:r>
          </a:p>
          <a:p>
            <a:pPr marL="342900" indent="-342900">
              <a:buFont typeface="Arial"/>
              <a:buChar char="•"/>
            </a:pPr>
            <a:endParaRPr sz="2800"/>
          </a:p>
          <a:p>
            <a:pPr marL="342900" indent="-342900">
              <a:buFont typeface="Arial"/>
              <a:buChar char="•"/>
            </a:pPr>
            <a:r>
              <a:rPr sz="2800"/>
              <a:t>If we are interested in differences between the mean, then we might choose mean 1-mean 2 as our test statistic </a:t>
            </a:r>
          </a:p>
        </p:txBody>
      </p:sp>
    </p:spTree>
  </p:cSld>
</p:sld>
</file>

<file path=ppt/slides/slide29.xml><?xml version="1.0" encoding="utf-8"?>
<p:sld xmlns:a="http://schemas.openxmlformats.org/drawingml/2006/main" xmlns:p="http://schemas.openxmlformats.org/presentationml/2006/main">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Permutation test</a:t>
            </a:r>
          </a:p>
        </p:txBody>
      </p:sp>
      <p:sp>
        <p:nvSpPr>
          <p:cNvPr id="4" name="Rectangle 3"/>
          <p:cNvSpPr>
            <a:spLocks noGrp="1"/>
          </p:cNvSpPr>
          <p:nvPr/>
        </p:nvSpPr>
        <p:spPr>
          <a:xfrm>
            <a:off x="237995" y="1161821"/>
            <a:ext cx="8051240" cy="5386090"/>
          </a:xfrm>
          <a:prstGeom prst="rect">
            <a:avLst/>
          </a:prstGeom>
        </p:spPr>
        <p:txBody>
          <a:bodyPr wrap="square">
            <a:spAutoFit/>
          </a:bodyPr>
          <a:lstStyle/>
          <a:p>
            <a:r>
              <a:rPr sz="2400"/>
              <a:t>Step 1: Create a permuted set of data in which the values of the response variable are randomly reordered </a:t>
            </a:r>
          </a:p>
          <a:p>
            <a:endParaRPr sz="2400"/>
          </a:p>
          <a:p>
            <a:r>
              <a:rPr sz="2400"/>
              <a:t>Step 2: Calculate the test statistic from the randomly reordered groups </a:t>
            </a:r>
          </a:p>
          <a:p>
            <a:endParaRPr sz="2400"/>
          </a:p>
          <a:p>
            <a:r>
              <a:rPr sz="2400"/>
              <a:t>Step 3: Repeat Steps 1 and 2 thousands of times </a:t>
            </a:r>
          </a:p>
          <a:p>
            <a:endParaRPr sz="2400"/>
          </a:p>
          <a:p>
            <a:r>
              <a:rPr sz="2400"/>
              <a:t>Step 4: Compare the actual value of the test statistic from the original data to the distribution of values from the permutation steps </a:t>
            </a:r>
          </a:p>
          <a:p>
            <a:endParaRPr sz="2400"/>
          </a:p>
          <a:p>
            <a:endParaRPr sz="2400"/>
          </a:p>
          <a:p>
            <a:endParaRPr sz="3200"/>
          </a:p>
        </p:txBody>
      </p:sp>
    </p:spTree>
  </p:cSld>
</p:sld>
</file>

<file path=ppt/slides/slide30.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p:bgPr>
    </p:bg>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Permutation test</a:t>
            </a:r>
          </a:p>
        </p:txBody>
      </p:sp>
      <p:pic>
        <p:nvPicPr>
          <p:cNvPr id="6" name="Picture 2"/>
          <p:cNvPicPr>
            <a:picLocks noChangeAspect="1"/>
          </p:cNvPicPr>
          <p:nvPr/>
        </p:nvPicPr>
        <p:blipFill>
          <a:blip r:embed="rId2"/>
          <a:stretch>
            <a:fillRect l="0" t="0" r="0" b="0"/>
          </a:stretch>
        </p:blipFill>
        <p:spPr>
          <a:xfrm>
            <a:off x="119268" y="1015427"/>
            <a:ext cx="6659218" cy="5735142"/>
          </a:xfrm>
          <a:prstGeom prst="rect">
            <a:avLst/>
          </a:prstGeom>
        </p:spPr>
      </p:pic>
      <p:pic>
        <p:nvPicPr>
          <p:cNvPr id="7" name="Picture 4"/>
          <p:cNvPicPr>
            <a:picLocks noChangeAspect="1"/>
          </p:cNvPicPr>
          <p:nvPr/>
        </p:nvPicPr>
        <p:blipFill>
          <a:blip r:embed="rId3"/>
          <a:stretch>
            <a:fillRect l="0" t="0" r="0" b="0"/>
          </a:stretch>
        </p:blipFill>
        <p:spPr>
          <a:xfrm>
            <a:off x="7002007" y="2133600"/>
            <a:ext cx="5013966" cy="3151367"/>
          </a:xfrm>
          <a:prstGeom prst="rect">
            <a:avLst/>
          </a:prstGeom>
        </p:spPr>
      </p:pic>
    </p:spTree>
  </p:cSld>
</p:sld>
</file>

<file path=ppt/slides/slide31.xml><?xml version="1.0" encoding="utf-8"?>
<p:sld xmlns:a="http://schemas.openxmlformats.org/drawingml/2006/main" xmlns:ns2="http://schemas.microsoft.com/office/drawing/2010/main" xmlns:ns3="http://schemas.openxmlformats.org/officeDocument/2006/math" xmlns:p="http://schemas.openxmlformats.org/presentationml/2006/main" xmlns:r="http://schemas.openxmlformats.org/officeDocument/2006/relationships">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Correlation and Causation</a:t>
            </a:r>
          </a:p>
        </p:txBody>
      </p:sp>
      <p:sp>
        <p:nvSpPr>
          <p:cNvPr id="4" name="TextBox 3"/>
          <p:cNvSpPr>
            <a:spLocks noGrp="1"/>
          </p:cNvSpPr>
          <p:nvPr/>
        </p:nvSpPr>
        <p:spPr>
          <a:xfrm>
            <a:off x="341671" y="1175549"/>
            <a:ext cx="6869357" cy="1815882"/>
          </a:xfrm>
          <a:prstGeom prst="rect">
            <a:avLst/>
          </a:prstGeom>
          <a:noFill/>
        </p:spPr>
        <p:txBody>
          <a:bodyPr wrap="square">
            <a:spAutoFit/>
          </a:bodyPr>
          <a:lstStyle/>
          <a:p>
            <a:r>
              <a:rPr sz="2800"/>
              <a:t>The correlation is a foundational concept in the biological sciences </a:t>
            </a:r>
          </a:p>
          <a:p>
            <a:endParaRPr sz="2800"/>
          </a:p>
          <a:p>
            <a:r>
              <a:rPr sz="2800"/>
              <a:t>Pearson’s correlation coefficient: </a:t>
            </a:r>
          </a:p>
        </p:txBody>
      </p:sp>
      <p:sp>
        <p:nvSpPr>
          <p:cNvPr id="3" name="Rectangle 2"/>
          <p:cNvSpPr>
            <a:spLocks noGrp="1"/>
          </p:cNvSpPr>
          <p:nvPr/>
        </p:nvSpPr>
        <p:spPr>
          <a:xfrm>
            <a:off x="623833" y="3524701"/>
            <a:ext cx="3267946" cy="1033873"/>
          </a:xfrm>
          <a:prstGeom prst="rect">
            <a:avLst/>
          </a:prstGeom>
        </p:spPr>
        <p:txBody>
          <a:bodyPr wrap="none">
            <a:spAutoFit/>
          </a:bodyPr>
          <a:lstStyle/>
          <a:p>
            <a:pPr>
              <a:buNone/>
            </a:pPr>
            <ns2:m>
              <ns3:oMathPara>
                <ns3:oMathParaPr>
                  <ns3:jc ns3:val="centerGroup"/>
                </ns3:oMathParaPr>
                <ns3:oMath>
                  <ns3:r>
                    <a:rPr lang="en-US" sz="2800" i="1">
                      <a:latin typeface="Cambria Math"/>
                      <a:ea typeface="Cambria Math"/>
                      <a:cs typeface="Cambria Math"/>
                    </a:rPr>
                    <ns3:t>𝑟</ns3:t>
                  </ns3:r>
                  <ns3:d>
                    <ns3:dPr>
                      <ns3:grow ns3:val="off"/>
                    </ns3:dPr>
                    <ns3:e>
                      <ns3:r>
                        <a:rPr lang="en-US" sz="2800" i="1">
                          <a:latin typeface="Cambria Math"/>
                          <a:ea typeface="Cambria Math"/>
                          <a:cs typeface="Cambria Math"/>
                        </a:rPr>
                        <ns3:t>𝑋</ns3:t>
                      </ns3:r>
                      <ns3:r>
                        <a:rPr lang="en-US" sz="2800" i="1">
                          <a:latin typeface="Cambria Math"/>
                          <a:ea typeface="Cambria Math"/>
                          <a:cs typeface="Cambria Math"/>
                        </a:rPr>
                        <ns3:t>,</ns3:t>
                      </ns3:r>
                      <ns3:r>
                        <a:rPr lang="en-US" sz="2800" i="1">
                          <a:latin typeface="Cambria Math"/>
                          <a:ea typeface="Cambria Math"/>
                          <a:cs typeface="Cambria Math"/>
                        </a:rPr>
                        <ns3:t>𝑌</ns3:t>
                      </ns3:r>
                    </ns3:e>
                  </ns3:d>
                  <ns3:r>
                    <a:rPr lang="en-US" sz="2800" i="1">
                      <a:latin typeface="Cambria Math"/>
                      <a:ea typeface="Cambria Math"/>
                      <a:cs typeface="Cambria Math"/>
                    </a:rPr>
                    <ns3:t>=</ns3:t>
                  </ns3:r>
                  <ns3:f>
                    <ns3:num>
                      <ns3:r>
                        <a:rPr lang="en-US" sz="2800" i="1">
                          <a:latin typeface="Cambria Math"/>
                          <a:ea typeface="Cambria Math"/>
                          <a:cs typeface="Cambria Math"/>
                        </a:rPr>
                        <ns3:t>𝑐𝑜𝑣</ns3:t>
                      </ns3:r>
                      <ns3:r>
                        <a:rPr lang="en-US" sz="2800" i="1">
                          <a:latin typeface="Cambria Math"/>
                          <a:ea typeface="Cambria Math"/>
                          <a:cs typeface="Cambria Math"/>
                        </a:rPr>
                        <ns3:t>(</ns3:t>
                      </ns3:r>
                      <ns3:r>
                        <a:rPr lang="en-US" sz="2800" i="1">
                          <a:latin typeface="Cambria Math"/>
                          <a:ea typeface="Cambria Math"/>
                          <a:cs typeface="Cambria Math"/>
                        </a:rPr>
                        <ns3:t>𝑋</ns3:t>
                      </ns3:r>
                      <ns3:r>
                        <a:rPr lang="en-US" sz="2800" i="1">
                          <a:latin typeface="Cambria Math"/>
                          <a:ea typeface="Cambria Math"/>
                          <a:cs typeface="Cambria Math"/>
                        </a:rPr>
                        <ns3:t>,</ns3:t>
                      </ns3:r>
                      <ns3:r>
                        <a:rPr lang="en-US" sz="2800" i="1">
                          <a:latin typeface="Cambria Math"/>
                          <a:ea typeface="Cambria Math"/>
                          <a:cs typeface="Cambria Math"/>
                        </a:rPr>
                        <ns3:t>𝑌</ns3:t>
                      </ns3:r>
                      <ns3:r>
                        <a:rPr lang="en-US" sz="2800" i="1">
                          <a:latin typeface="Cambria Math"/>
                          <a:ea typeface="Cambria Math"/>
                          <a:cs typeface="Cambria Math"/>
                        </a:rPr>
                        <ns3:t>)</ns3:t>
                      </ns3:r>
                    </ns3:num>
                    <ns3:den>
                      <ns3:sSub>
                        <ns3:e>
                          <ns3:r>
                            <a:rPr lang="en-US" sz="2800" i="1">
                              <a:latin typeface="Cambria Math"/>
                              <a:ea typeface="Cambria Math"/>
                              <a:cs typeface="Cambria Math"/>
                            </a:rPr>
                            <ns3:t>𝑠</ns3:t>
                          </ns3:r>
                        </ns3:e>
                        <ns3:sub>
                          <ns3:r>
                            <a:rPr lang="en-US" sz="2800" i="1">
                              <a:latin typeface="Cambria Math"/>
                              <a:ea typeface="Cambria Math"/>
                              <a:cs typeface="Cambria Math"/>
                            </a:rPr>
                            <ns3:t>𝑥</ns3:t>
                          </ns3:r>
                        </ns3:sub>
                      </ns3:sSub>
                      <ns3:sSub>
                        <ns3:e>
                          <ns3:r>
                            <a:rPr lang="en-US" sz="2800" i="1">
                              <a:latin typeface="Cambria Math"/>
                              <a:ea typeface="Cambria Math"/>
                              <a:cs typeface="Cambria Math"/>
                            </a:rPr>
                            <ns3:t>𝑠</ns3:t>
                          </ns3:r>
                        </ns3:e>
                        <ns3:sub>
                          <ns3:r>
                            <a:rPr lang="en-US" sz="2800" i="1">
                              <a:latin typeface="Cambria Math"/>
                              <a:ea typeface="Cambria Math"/>
                              <a:cs typeface="Cambria Math"/>
                            </a:rPr>
                            <ns3:t>𝑦</ns3:t>
                          </ns3:r>
                        </ns3:sub>
                      </ns3:sSub>
                    </ns3:den>
                  </ns3:f>
                </ns3:oMath>
              </ns3:oMathPara>
            </ns2:m>
            <a:endParaRPr sz="2800"/>
          </a:p>
        </p:txBody>
      </p:sp>
      <p:pic>
        <p:nvPicPr>
          <p:cNvPr id="16" name="Picture 5"/>
          <p:cNvPicPr>
            <a:picLocks noChangeAspect="1"/>
          </p:cNvPicPr>
          <p:nvPr/>
        </p:nvPicPr>
        <p:blipFill>
          <a:blip r:embed="rId2"/>
          <a:stretch>
            <a:fillRect l="0" t="0" r="0" b="0"/>
          </a:stretch>
        </p:blipFill>
        <p:spPr>
          <a:xfrm>
            <a:off x="9606987" y="1175549"/>
            <a:ext cx="1875933" cy="2736694"/>
          </a:xfrm>
          <a:prstGeom prst="rect">
            <a:avLst/>
          </a:prstGeom>
        </p:spPr>
      </p:pic>
      <p:pic>
        <p:nvPicPr>
          <p:cNvPr id="17" name="Picture 6"/>
          <p:cNvPicPr>
            <a:picLocks noChangeAspect="1"/>
          </p:cNvPicPr>
          <p:nvPr/>
        </p:nvPicPr>
        <p:blipFill>
          <a:blip r:embed="rId3"/>
          <a:stretch>
            <a:fillRect l="0" t="0" r="0" b="0"/>
          </a:stretch>
        </p:blipFill>
        <p:spPr>
          <a:xfrm>
            <a:off x="7037407" y="1175549"/>
            <a:ext cx="2147264" cy="2713720"/>
          </a:xfrm>
          <a:prstGeom prst="rect">
            <a:avLst/>
          </a:prstGeom>
        </p:spPr>
      </p:pic>
      <p:sp>
        <p:nvSpPr>
          <p:cNvPr id="8" name="TextBox 7"/>
          <p:cNvSpPr>
            <a:spLocks noGrp="1"/>
          </p:cNvSpPr>
          <p:nvPr/>
        </p:nvSpPr>
        <p:spPr>
          <a:xfrm>
            <a:off x="7037407" y="3912243"/>
            <a:ext cx="2147264" cy="646331"/>
          </a:xfrm>
          <a:prstGeom prst="rect">
            <a:avLst/>
          </a:prstGeom>
          <a:noFill/>
        </p:spPr>
        <p:txBody>
          <a:bodyPr wrap="square">
            <a:spAutoFit/>
          </a:bodyPr>
          <a:lstStyle/>
          <a:p>
            <a:pPr algn="ctr">
              <a:buNone/>
            </a:pPr>
            <a:r>
              <a:t>Francis Galton</a:t>
            </a:r>
          </a:p>
          <a:p>
            <a:pPr algn="ctr">
              <a:buNone/>
            </a:pPr>
            <a:r>
              <a:t>1822 - 1911</a:t>
            </a:r>
          </a:p>
        </p:txBody>
      </p:sp>
      <p:sp>
        <p:nvSpPr>
          <p:cNvPr id="9" name="TextBox 8"/>
          <p:cNvSpPr>
            <a:spLocks noGrp="1"/>
          </p:cNvSpPr>
          <p:nvPr/>
        </p:nvSpPr>
        <p:spPr>
          <a:xfrm>
            <a:off x="9606987" y="3912243"/>
            <a:ext cx="1875933" cy="646331"/>
          </a:xfrm>
          <a:prstGeom prst="rect">
            <a:avLst/>
          </a:prstGeom>
          <a:noFill/>
        </p:spPr>
        <p:txBody>
          <a:bodyPr wrap="square">
            <a:spAutoFit/>
          </a:bodyPr>
          <a:lstStyle/>
          <a:p>
            <a:pPr algn="ctr">
              <a:buNone/>
            </a:pPr>
            <a:r>
              <a:t>Karl Pearson</a:t>
            </a:r>
          </a:p>
          <a:p>
            <a:pPr algn="ctr">
              <a:buNone/>
            </a:pPr>
            <a:r>
              <a:t>1857 - 1936</a:t>
            </a:r>
          </a:p>
        </p:txBody>
      </p:sp>
      <p:sp>
        <p:nvSpPr>
          <p:cNvPr id="10" name="Rectangle 9"/>
          <p:cNvSpPr>
            <a:spLocks noGrp="1"/>
          </p:cNvSpPr>
          <p:nvPr/>
        </p:nvSpPr>
        <p:spPr>
          <a:xfrm>
            <a:off x="623833" y="5003408"/>
            <a:ext cx="4662238" cy="832920"/>
          </a:xfrm>
          <a:prstGeom prst="rect">
            <a:avLst/>
          </a:prstGeom>
        </p:spPr>
        <p:txBody>
          <a:bodyPr wrap="none">
            <a:spAutoFit/>
          </a:bodyPr>
          <a:lstStyle/>
          <a:p>
            <a:pPr>
              <a:buNone/>
            </a:pPr>
            <ns2:m>
              <ns3:oMathPara>
                <ns3:oMathParaPr>
                  <ns3:jc ns3:val="centerGroup"/>
                </ns3:oMathParaPr>
                <ns3:oMath>
                  <ns3:r>
                    <a:rPr lang="en-US" sz="2400" i="1">
                      <a:latin typeface="Cambria Math"/>
                      <a:ea typeface="Cambria Math"/>
                      <a:cs typeface="Cambria Math"/>
                    </a:rPr>
                    <ns3:t>𝑐𝑜𝑣</ns3:t>
                  </ns3:r>
                  <ns3:d>
                    <ns3:dPr>
                      <ns3:grow ns3:val="off"/>
                    </ns3:dPr>
                    <ns3:e>
                      <ns3:r>
                        <a:rPr lang="en-US" sz="2400" i="1">
                          <a:latin typeface="Cambria Math"/>
                          <a:ea typeface="Cambria Math"/>
                          <a:cs typeface="Cambria Math"/>
                        </a:rPr>
                        <ns3:t>𝑋</ns3:t>
                      </ns3:r>
                      <ns3:r>
                        <a:rPr lang="en-US" sz="2400" i="1">
                          <a:latin typeface="Cambria Math"/>
                          <a:ea typeface="Cambria Math"/>
                          <a:cs typeface="Cambria Math"/>
                        </a:rPr>
                        <ns3:t>,</ns3:t>
                      </ns3:r>
                      <ns3:r>
                        <a:rPr lang="en-US" sz="2400" i="1">
                          <a:latin typeface="Cambria Math"/>
                          <a:ea typeface="Cambria Math"/>
                          <a:cs typeface="Cambria Math"/>
                        </a:rPr>
                        <ns3:t>𝑌</ns3:t>
                      </ns3:r>
                    </ns3:e>
                  </ns3:d>
                  <ns3:r>
                    <a:rPr lang="en-US" sz="2400" i="1">
                      <a:latin typeface="Cambria Math"/>
                      <a:ea typeface="Cambria Math"/>
                      <a:cs typeface="Cambria Math"/>
                    </a:rPr>
                    <ns3:t>=</ns3:t>
                  </ns3:r>
                  <ns3:f>
                    <ns3:num>
                      <ns3:nary>
                        <ns3:naryPr>
                          <ns3:chr ns3:val="∑"/>
                          <ns3:subHide ns3:val="off"/>
                          <ns3:supHide ns3:val="off"/>
                        </ns3:naryPr>
                        <ns3:sub>
                          <ns3:r>
                            <a:rPr lang="en-US" sz="2400" i="1">
                              <a:latin typeface="Cambria Math"/>
                              <a:ea typeface="Cambria Math"/>
                              <a:cs typeface="Cambria Math"/>
                            </a:rPr>
                            <ns3:t>𝑖</ns3:t>
                          </ns3:r>
                          <ns3:r>
                            <a:rPr lang="en-US" sz="2400" i="1">
                              <a:latin typeface="Cambria Math"/>
                              <a:ea typeface="Cambria Math"/>
                              <a:cs typeface="Cambria Math"/>
                            </a:rPr>
                            <ns3:t>=1</ns3:t>
                          </ns3:r>
                        </ns3:sub>
                        <ns3:sup>
                          <ns3:r>
                            <a:rPr lang="en-US" sz="2400" i="1">
                              <a:latin typeface="Cambria Math"/>
                              <a:ea typeface="Cambria Math"/>
                              <a:cs typeface="Cambria Math"/>
                            </a:rPr>
                            <ns3:t>𝑛</ns3:t>
                          </ns3:r>
                        </ns3:sup>
                        <ns3:e>
                          <ns3:d>
                            <ns3:dPr>
                              <ns3:grow ns3:val="off"/>
                            </ns3:dPr>
                            <ns3:e>
                              <ns3:sSub>
                                <ns3:e>
                                  <ns3:r>
                                    <a:rPr lang="en-US" sz="2400" i="1">
                                      <a:latin typeface="Cambria Math"/>
                                      <a:ea typeface="Cambria Math"/>
                                      <a:cs typeface="Cambria Math"/>
                                    </a:rPr>
                                    <ns3:t>𝑋</ns3:t>
                                  </ns3:r>
                                </ns3:e>
                                <ns3:sub>
                                  <ns3:r>
                                    <a:rPr lang="en-US" sz="2400" i="1">
                                      <a:latin typeface="Cambria Math"/>
                                      <a:ea typeface="Cambria Math"/>
                                      <a:cs typeface="Cambria Math"/>
                                    </a:rPr>
                                    <ns3:t>𝑖</ns3:t>
                                  </ns3:r>
                                </ns3:sub>
                              </ns3:sSub>
                              <ns3:r>
                                <a:rPr lang="en-US" sz="2400" i="1">
                                  <a:latin typeface="Cambria Math"/>
                                  <a:ea typeface="Cambria Math"/>
                                  <a:cs typeface="Cambria Math"/>
                                </a:rPr>
                                <ns3:t>−</ns3:t>
                              </ns3:r>
                              <ns3:acc>
                                <ns3:accPr>
                                  <ns3:chr ns3:val="̅"/>
                                </ns3:accPr>
                                <ns3:e>
                                  <ns3:r>
                                    <a:rPr lang="en-US" sz="2400" i="1">
                                      <a:latin typeface="Cambria Math"/>
                                      <a:ea typeface="Cambria Math"/>
                                      <a:cs typeface="Cambria Math"/>
                                    </a:rPr>
                                    <ns3:t>𝑋</ns3:t>
                                  </ns3:r>
                                </ns3:e>
                              </ns3:acc>
                            </ns3:e>
                          </ns3:d>
                          <ns3:d>
                            <ns3:dPr>
                              <ns3:grow ns3:val="off"/>
                            </ns3:dPr>
                            <ns3:e>
                              <ns3:sSub>
                                <ns3:e>
                                  <ns3:r>
                                    <a:rPr lang="en-US" sz="2400" i="1">
                                      <a:latin typeface="Cambria Math"/>
                                      <a:ea typeface="Cambria Math"/>
                                      <a:cs typeface="Cambria Math"/>
                                    </a:rPr>
                                    <ns3:t>𝑌</ns3:t>
                                  </ns3:r>
                                </ns3:e>
                                <ns3:sub>
                                  <ns3:r>
                                    <a:rPr lang="en-US" sz="2400" i="1">
                                      <a:latin typeface="Cambria Math"/>
                                      <a:ea typeface="Cambria Math"/>
                                      <a:cs typeface="Cambria Math"/>
                                    </a:rPr>
                                    <ns3:t>𝑖</ns3:t>
                                  </ns3:r>
                                </ns3:sub>
                              </ns3:sSub>
                              <ns3:r>
                                <a:rPr lang="en-US" sz="2400" i="1">
                                  <a:latin typeface="Cambria Math"/>
                                  <a:ea typeface="Cambria Math"/>
                                  <a:cs typeface="Cambria Math"/>
                                </a:rPr>
                                <ns3:t>−</ns3:t>
                              </ns3:r>
                              <ns3:acc>
                                <ns3:accPr>
                                  <ns3:chr ns3:val="̅"/>
                                </ns3:accPr>
                                <ns3:e>
                                  <ns3:r>
                                    <a:rPr lang="en-US" sz="2400" i="1">
                                      <a:latin typeface="Cambria Math"/>
                                      <a:ea typeface="Cambria Math"/>
                                      <a:cs typeface="Cambria Math"/>
                                    </a:rPr>
                                    <ns3:t>𝑌</ns3:t>
                                  </ns3:r>
                                </ns3:e>
                              </ns3:acc>
                            </ns3:e>
                          </ns3:d>
                        </ns3:e>
                      </ns3:nary>
                    </ns3:num>
                    <ns3:den>
                      <ns3:r>
                        <a:rPr lang="en-US" sz="2400" i="1">
                          <a:latin typeface="Cambria Math"/>
                          <a:ea typeface="Cambria Math"/>
                          <a:cs typeface="Cambria Math"/>
                        </a:rPr>
                        <ns3:t>𝑛</ns3:t>
                      </ns3:r>
                      <ns3:r>
                        <a:rPr lang="en-US" sz="2400" i="1">
                          <a:latin typeface="Cambria Math"/>
                          <a:ea typeface="Cambria Math"/>
                          <a:cs typeface="Cambria Math"/>
                        </a:rPr>
                        <ns3:t>−1</ns3:t>
                      </ns3:r>
                    </ns3:den>
                  </ns3:f>
                </ns3:oMath>
              </ns3:oMathPara>
            </ns2:m>
            <a:endParaRPr sz="2400"/>
          </a:p>
        </p:txBody>
      </p:sp>
    </p:spTree>
  </p:cSld>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Interpret with caution</a:t>
            </a:r>
          </a:p>
        </p:txBody>
      </p:sp>
      <p:pic>
        <p:nvPicPr>
          <p:cNvPr id="5" name="Picture 2"/>
          <p:cNvPicPr>
            <a:picLocks noChangeAspect="1"/>
          </p:cNvPicPr>
          <p:nvPr/>
        </p:nvPicPr>
        <p:blipFill rotWithShape="1">
          <a:blip r:embed="rId2"/>
          <a:srcRect l="7565" t="0" r="0" b="13175"/>
          <a:stretch/>
        </p:blipFill>
        <p:spPr>
          <a:xfrm>
            <a:off x="2338086" y="1299750"/>
            <a:ext cx="8185816" cy="4614914"/>
          </a:xfrm>
          <a:prstGeom prst="rect">
            <a:avLst/>
          </a:prstGeom>
        </p:spPr>
      </p:pic>
    </p:spTree>
  </p:cSld>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Obviously these covary with time</a:t>
            </a:r>
          </a:p>
        </p:txBody>
      </p:sp>
      <p:pic>
        <p:nvPicPr>
          <p:cNvPr id="7" name="Picture 2"/>
          <p:cNvPicPr>
            <a:picLocks noChangeAspect="1"/>
          </p:cNvPicPr>
          <p:nvPr/>
        </p:nvPicPr>
        <p:blipFill>
          <a:blip r:embed="rId2"/>
          <a:stretch>
            <a:fillRect l="0" t="0" r="0" b="0"/>
          </a:stretch>
        </p:blipFill>
        <p:spPr>
          <a:xfrm>
            <a:off x="1668098" y="1299749"/>
            <a:ext cx="8851610" cy="5312664"/>
          </a:xfrm>
          <a:prstGeom prst="rect">
            <a:avLst/>
          </a:prstGeom>
        </p:spPr>
      </p:pic>
      <p:sp>
        <p:nvSpPr>
          <p:cNvPr id="4" name="TextBox 3"/>
          <p:cNvSpPr>
            <a:spLocks noGrp="1"/>
          </p:cNvSpPr>
          <p:nvPr/>
        </p:nvSpPr>
        <p:spPr>
          <a:xfrm rot="16200000">
            <a:off x="924785" y="2895600"/>
            <a:ext cx="2132956" cy="646331"/>
          </a:xfrm>
          <a:prstGeom prst="rect">
            <a:avLst/>
          </a:prstGeom>
          <a:solidFill>
            <a:schemeClr val="bg1"/>
          </a:solidFill>
        </p:spPr>
        <p:txBody>
          <a:bodyPr wrap="none">
            <a:spAutoFit/>
          </a:bodyPr>
          <a:lstStyle/>
          <a:p>
            <a:r>
              <a:t>Average number of</a:t>
            </a:r>
          </a:p>
          <a:p>
            <a:r>
              <a:t>home runs per game</a:t>
            </a:r>
          </a:p>
        </p:txBody>
      </p:sp>
    </p:spTree>
  </p:cSld>
</p:sld>
</file>

<file path=ppt/slides/slide34.xml><?xml version="1.0" encoding="utf-8"?>
<p:sld xmlns:a="http://schemas.openxmlformats.org/drawingml/2006/main" xmlns:p="http://schemas.openxmlformats.org/presentationml/2006/main">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Pearson’s Correlation Coefficient </a:t>
            </a:r>
          </a:p>
        </p:txBody>
      </p:sp>
      <p:sp>
        <p:nvSpPr>
          <p:cNvPr id="4" name="TextBox 3"/>
          <p:cNvSpPr>
            <a:spLocks noGrp="1"/>
          </p:cNvSpPr>
          <p:nvPr/>
        </p:nvSpPr>
        <p:spPr>
          <a:xfrm>
            <a:off x="619463" y="1407044"/>
            <a:ext cx="10670422" cy="3903504"/>
          </a:xfrm>
          <a:prstGeom prst="rect">
            <a:avLst/>
          </a:prstGeom>
          <a:noFill/>
        </p:spPr>
        <p:txBody>
          <a:bodyPr wrap="none">
            <a:spAutoFit/>
          </a:bodyPr>
          <a:lstStyle/>
          <a:p>
            <a:pPr>
              <a:lnSpc>
                <a:spcPct val="150000"/>
              </a:lnSpc>
              <a:buNone/>
            </a:pPr>
            <a:r>
              <a:rPr sz="2800"/>
              <a:t>Assumes that the data are roughly from a bivariate normal distribution </a:t>
            </a:r>
          </a:p>
          <a:p>
            <a:pPr>
              <a:lnSpc>
                <a:spcPct val="150000"/>
              </a:lnSpc>
              <a:buNone/>
            </a:pPr>
            <a:endParaRPr sz="2800"/>
          </a:p>
          <a:p>
            <a:pPr>
              <a:lnSpc>
                <a:spcPct val="150000"/>
              </a:lnSpc>
              <a:buNone/>
            </a:pPr>
            <a:r>
              <a:rPr sz="2800"/>
              <a:t>Would </a:t>
            </a:r>
            <a:r>
              <a:rPr sz="2800" b="1"/>
              <a:t>not </a:t>
            </a:r>
            <a:r>
              <a:rPr sz="2800"/>
              <a:t>be appropriate when: </a:t>
            </a:r>
          </a:p>
          <a:p>
            <a:pPr marL="457200" indent="-457200">
              <a:lnSpc>
                <a:spcPct val="150000"/>
              </a:lnSpc>
              <a:buFont typeface="Arial"/>
              <a:buChar char="•"/>
            </a:pPr>
            <a:r>
              <a:rPr sz="2800"/>
              <a:t>Relationship is non-linear (possible solutions?)</a:t>
            </a:r>
          </a:p>
          <a:p>
            <a:pPr marL="457200" indent="-457200">
              <a:lnSpc>
                <a:spcPct val="150000"/>
              </a:lnSpc>
              <a:buFont typeface="Arial"/>
              <a:buChar char="•"/>
            </a:pPr>
            <a:r>
              <a:rPr sz="2800"/>
              <a:t>Dataset contains extreme outliers (evaluate leverage)</a:t>
            </a:r>
          </a:p>
          <a:p>
            <a:pPr marL="457200" indent="-457200">
              <a:lnSpc>
                <a:spcPct val="150000"/>
              </a:lnSpc>
              <a:buFont typeface="Arial"/>
              <a:buChar char="•"/>
            </a:pPr>
            <a:r>
              <a:rPr sz="2800"/>
              <a:t>Data are in multiple distinct clouds of points (what could cause this?)</a:t>
            </a:r>
          </a:p>
        </p:txBody>
      </p:sp>
    </p:spTree>
  </p:cSld>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Good data</a:t>
            </a:r>
          </a:p>
        </p:txBody>
      </p:sp>
      <p:pic>
        <p:nvPicPr>
          <p:cNvPr id="5" name="Picture 2"/>
          <p:cNvPicPr>
            <a:picLocks noChangeAspect="1"/>
          </p:cNvPicPr>
          <p:nvPr/>
        </p:nvPicPr>
        <p:blipFill>
          <a:blip r:embed="rId2"/>
          <a:stretch>
            <a:fillRect l="0" t="0" r="0" b="0"/>
          </a:stretch>
        </p:blipFill>
        <p:spPr>
          <a:xfrm>
            <a:off x="2239862" y="1021525"/>
            <a:ext cx="7712276" cy="5639705"/>
          </a:xfrm>
          <a:prstGeom prst="rect">
            <a:avLst/>
          </a:prstGeom>
        </p:spPr>
      </p:pic>
    </p:spTree>
  </p:cSld>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Bad data</a:t>
            </a:r>
          </a:p>
        </p:txBody>
      </p:sp>
      <p:pic>
        <p:nvPicPr>
          <p:cNvPr id="6" name="Picture 3"/>
          <p:cNvPicPr>
            <a:picLocks noChangeAspect="1"/>
          </p:cNvPicPr>
          <p:nvPr/>
        </p:nvPicPr>
        <p:blipFill>
          <a:blip r:embed="rId2"/>
          <a:stretch>
            <a:fillRect l="0" t="0" r="0" b="0"/>
          </a:stretch>
        </p:blipFill>
        <p:spPr>
          <a:xfrm>
            <a:off x="2254174" y="1074715"/>
            <a:ext cx="7683651" cy="5598089"/>
          </a:xfrm>
          <a:prstGeom prst="rect">
            <a:avLst/>
          </a:prstGeom>
        </p:spPr>
      </p:pic>
      <p:sp>
        <p:nvSpPr>
          <p:cNvPr id="3" name="TextBox 2">
            <a:hlinkClick r:id="rId3"/>
          </p:cNvPr>
          <p:cNvSpPr>
            <a:spLocks noGrp="1"/>
          </p:cNvSpPr>
          <p:nvPr/>
        </p:nvSpPr>
        <p:spPr>
          <a:xfrm>
            <a:off x="7138555" y="5174673"/>
            <a:ext cx="2177327" cy="369332"/>
          </a:xfrm>
          <a:prstGeom prst="rect">
            <a:avLst/>
          </a:prstGeom>
          <a:noFill/>
        </p:spPr>
        <p:txBody>
          <a:bodyPr wrap="none">
            <a:spAutoFit/>
          </a:bodyPr>
          <a:lstStyle/>
          <a:p>
            <a:r>
              <a:t>Correlation simulator</a:t>
            </a:r>
          </a:p>
        </p:txBody>
      </p:sp>
    </p:spTree>
  </p:cSld>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Spearman’s Rank Correlation </a:t>
            </a:r>
          </a:p>
        </p:txBody>
      </p:sp>
      <p:sp>
        <p:nvSpPr>
          <p:cNvPr id="4" name="TextBox 3"/>
          <p:cNvSpPr>
            <a:spLocks noGrp="1"/>
          </p:cNvSpPr>
          <p:nvPr/>
        </p:nvSpPr>
        <p:spPr>
          <a:xfrm>
            <a:off x="694481" y="1326021"/>
            <a:ext cx="10330172" cy="1815882"/>
          </a:xfrm>
          <a:prstGeom prst="rect">
            <a:avLst/>
          </a:prstGeom>
          <a:noFill/>
        </p:spPr>
        <p:txBody>
          <a:bodyPr wrap="square">
            <a:spAutoFit/>
          </a:bodyPr>
          <a:lstStyle/>
          <a:p>
            <a:r>
              <a:rPr sz="2800"/>
              <a:t>An alternative to Pearson’s correlation coefficient for data that depart substantially from bivariate normality </a:t>
            </a:r>
          </a:p>
          <a:p>
            <a:endParaRPr sz="2800"/>
          </a:p>
          <a:p>
            <a:r>
              <a:rPr sz="2800"/>
              <a:t>Based on ranks </a:t>
            </a:r>
          </a:p>
        </p:txBody>
      </p:sp>
      <p:pic>
        <p:nvPicPr>
          <p:cNvPr id="8" name="Picture 4"/>
          <p:cNvPicPr>
            <a:picLocks noChangeAspect="1"/>
          </p:cNvPicPr>
          <p:nvPr/>
        </p:nvPicPr>
        <p:blipFill>
          <a:blip r:embed="rId2"/>
          <a:stretch>
            <a:fillRect l="0" t="0" r="0" b="0"/>
          </a:stretch>
        </p:blipFill>
        <p:spPr>
          <a:xfrm>
            <a:off x="3356659" y="2374288"/>
            <a:ext cx="4728295" cy="4333241"/>
          </a:xfrm>
          <a:prstGeom prst="rect">
            <a:avLst/>
          </a:prstGeom>
        </p:spPr>
      </p:pic>
    </p:spTree>
  </p:cSld>
</p:sld>
</file>

<file path=ppt/slides/slide38.xml><?xml version="1.0" encoding="utf-8"?>
<p:sld xmlns:a="http://schemas.openxmlformats.org/drawingml/2006/main" xmlns:p="http://schemas.openxmlformats.org/presentationml/2006/main">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Correlation Summary </a:t>
            </a:r>
          </a:p>
        </p:txBody>
      </p:sp>
      <p:sp>
        <p:nvSpPr>
          <p:cNvPr id="4" name="TextBox 3"/>
          <p:cNvSpPr>
            <a:spLocks noGrp="1"/>
          </p:cNvSpPr>
          <p:nvPr/>
        </p:nvSpPr>
        <p:spPr>
          <a:xfrm>
            <a:off x="694481" y="1326021"/>
            <a:ext cx="10330172" cy="4739759"/>
          </a:xfrm>
          <a:prstGeom prst="rect">
            <a:avLst/>
          </a:prstGeom>
          <a:noFill/>
        </p:spPr>
        <p:txBody>
          <a:bodyPr wrap="square">
            <a:spAutoFit/>
          </a:bodyPr>
          <a:lstStyle/>
          <a:p>
            <a:pPr marL="457200" indent="-457200">
              <a:buFont typeface="Arial"/>
              <a:buChar char="•"/>
            </a:pPr>
            <a:r>
              <a:rPr sz="2800"/>
              <a:t>Correlations are very important </a:t>
            </a:r>
          </a:p>
          <a:p>
            <a:pPr marL="171450" indent="-171450">
              <a:buFont typeface="Arial"/>
              <a:buChar char="•"/>
            </a:pPr>
            <a:endParaRPr sz="1200"/>
          </a:p>
          <a:p>
            <a:pPr marL="457200" indent="-457200">
              <a:buFont typeface="Arial"/>
              <a:buChar char="•"/>
            </a:pPr>
            <a:r>
              <a:rPr sz="2800"/>
              <a:t>We are interested in correlations between values of treatments and response variables </a:t>
            </a:r>
          </a:p>
          <a:p>
            <a:pPr marL="171450" indent="-171450">
              <a:buFont typeface="Arial"/>
              <a:buChar char="•"/>
            </a:pPr>
            <a:endParaRPr sz="1200"/>
          </a:p>
          <a:p>
            <a:pPr marL="457200" indent="-457200">
              <a:buFont typeface="Arial"/>
              <a:buChar char="•"/>
            </a:pPr>
            <a:r>
              <a:rPr sz="2800"/>
              <a:t>We are interested in correlations between various factors that could affect the response variable </a:t>
            </a:r>
          </a:p>
          <a:p>
            <a:pPr marL="171450" indent="-171450">
              <a:buFont typeface="Arial"/>
              <a:buChar char="•"/>
            </a:pPr>
            <a:endParaRPr sz="1200"/>
          </a:p>
          <a:p>
            <a:pPr marL="457200" indent="-457200">
              <a:buFont typeface="Arial"/>
              <a:buChar char="•"/>
            </a:pPr>
            <a:r>
              <a:rPr sz="2800"/>
              <a:t>We need to think about correlations between explanatory variables and potentially confounding variables </a:t>
            </a:r>
          </a:p>
          <a:p>
            <a:pPr marL="171450" indent="-171450">
              <a:buFont typeface="Arial"/>
              <a:buChar char="•"/>
            </a:pPr>
            <a:endParaRPr sz="1200"/>
          </a:p>
          <a:p>
            <a:pPr marL="457200" indent="-457200">
              <a:buFont typeface="Arial"/>
              <a:buChar char="•"/>
            </a:pPr>
            <a:r>
              <a:rPr sz="2800" b="1"/>
              <a:t>Many types of experiments call for the calculation and consideration of correlation coefficients </a:t>
            </a:r>
            <a:endParaRPr sz="2800"/>
          </a:p>
        </p:txBody>
      </p:sp>
    </p:spTree>
  </p:cSld>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p:grpSpPr>
      <p:sp>
        <p:nvSpPr>
          <p:cNvPr id="2" name="Title 1"/>
          <p:cNvSpPr>
            <a:spLocks noGrp="1"/>
          </p:cNvSpPr>
          <p:nvPr>
            <p:ph type="title" idx="0"/>
          </p:nvPr>
        </p:nvSpPr>
        <p:spPr>
          <a:xfrm>
            <a:off x="0" y="0"/>
            <a:ext cx="12192000" cy="935915"/>
          </a:xfrm>
          <a:prstGeom prst="rect">
            <a:avLst/>
          </a:prstGeom>
          <a:solidFill>
            <a:schemeClr val="tx1"/>
          </a:solidFill>
        </p:spPr>
        <p:txBody>
          <a:bodyPr>
            <a:normAutofit/>
          </a:bodyPr>
          <a:lstStyle/>
          <a:p>
            <a:pPr algn="ctr">
              <a:buNone/>
            </a:pPr>
            <a:r>
              <a:rPr b="1">
                <a:solidFill>
                  <a:schemeClr val="bg1"/>
                </a:solidFill>
              </a:rPr>
              <a:t>t tests - history</a:t>
            </a:r>
          </a:p>
        </p:txBody>
      </p:sp>
      <p:pic>
        <p:nvPicPr>
          <p:cNvPr id="9" name="Picture 2"/>
          <p:cNvPicPr>
            <a:picLocks noChangeAspect="1"/>
          </p:cNvPicPr>
          <p:nvPr/>
        </p:nvPicPr>
        <p:blipFill>
          <a:blip r:embed="rId2"/>
          <a:stretch>
            <a:fillRect l="0" t="0" r="0" b="0"/>
          </a:stretch>
        </p:blipFill>
        <p:spPr>
          <a:xfrm>
            <a:off x="9179477" y="4634928"/>
            <a:ext cx="1902691" cy="1217722"/>
          </a:xfrm>
          <a:prstGeom prst="rect">
            <a:avLst/>
          </a:prstGeom>
        </p:spPr>
      </p:pic>
      <p:sp>
        <p:nvSpPr>
          <p:cNvPr id="5" name="Rectangle 4"/>
          <p:cNvSpPr>
            <a:spLocks noGrp="1"/>
          </p:cNvSpPr>
          <p:nvPr/>
        </p:nvSpPr>
        <p:spPr>
          <a:xfrm>
            <a:off x="195432" y="1149294"/>
            <a:ext cx="7743224" cy="4862870"/>
          </a:xfrm>
          <a:prstGeom prst="rect">
            <a:avLst/>
          </a:prstGeom>
        </p:spPr>
        <p:txBody>
          <a:bodyPr wrap="square">
            <a:spAutoFit/>
          </a:bodyPr>
          <a:lstStyle/>
          <a:p>
            <a:pPr marL="342900" indent="-342900">
              <a:buFont typeface="Arial"/>
              <a:buChar char="•"/>
            </a:pPr>
            <a:r>
              <a:rPr sz="2200"/>
              <a:t>Based on the </a:t>
            </a:r>
            <a:r>
              <a:rPr sz="2200" i="1"/>
              <a:t>t</a:t>
            </a:r>
            <a:r>
              <a:rPr sz="2200"/>
              <a:t>-distribution, which is similar to a normal distribution, except it takes into account the fact that we don’t know the population standard deviation with certainty.  Published by </a:t>
            </a:r>
            <a:r>
              <a:rPr sz="2200"/>
              <a:t>Gosset</a:t>
            </a:r>
            <a:r>
              <a:rPr sz="2200"/>
              <a:t> in 1908 under the pseudonym Student because he was employed by Guinness brewery.</a:t>
            </a:r>
          </a:p>
          <a:p>
            <a:pPr marL="342900" indent="-342900">
              <a:buFont typeface="Arial"/>
              <a:buChar char="•"/>
            </a:pPr>
            <a:endParaRPr sz="2200"/>
          </a:p>
          <a:p>
            <a:pPr marL="342900" indent="-342900">
              <a:buFont typeface="Arial"/>
              <a:buChar char="•"/>
            </a:pPr>
            <a:r>
              <a:rPr sz="2200"/>
              <a:t>Since we only know the sample standard deviation, instead of the population standard deviation, we have some additional uncertainty regarding the possible values of the mean </a:t>
            </a:r>
          </a:p>
          <a:p>
            <a:pPr marL="342900" indent="-342900">
              <a:buFont typeface="Arial"/>
              <a:buChar char="•"/>
            </a:pPr>
            <a:endParaRPr sz="2200"/>
          </a:p>
          <a:p>
            <a:pPr marL="342900" indent="-342900">
              <a:buFont typeface="Arial"/>
              <a:buChar char="•"/>
            </a:pPr>
            <a:r>
              <a:rPr sz="2200"/>
              <a:t>Consequently, the </a:t>
            </a:r>
            <a:r>
              <a:rPr sz="2200" i="1"/>
              <a:t>t</a:t>
            </a:r>
            <a:r>
              <a:rPr sz="2200"/>
              <a:t>-distribution is wider than the normal distribution, and the </a:t>
            </a:r>
            <a:r>
              <a:rPr sz="2200" i="1"/>
              <a:t>t</a:t>
            </a:r>
            <a:r>
              <a:rPr sz="2200"/>
              <a:t>-distribution actually yields a more exact estimate of the confidence interval for the mean </a:t>
            </a:r>
          </a:p>
          <a:p>
            <a:endParaRPr sz="2400"/>
          </a:p>
        </p:txBody>
      </p:sp>
      <p:pic>
        <p:nvPicPr>
          <p:cNvPr id="11" name="Picture 5"/>
          <p:cNvPicPr>
            <a:picLocks noChangeAspect="1"/>
          </p:cNvPicPr>
          <p:nvPr/>
        </p:nvPicPr>
        <p:blipFill>
          <a:blip r:embed="rId3"/>
          <a:stretch>
            <a:fillRect l="0" t="0" r="0" b="0"/>
          </a:stretch>
        </p:blipFill>
        <p:spPr>
          <a:xfrm>
            <a:off x="7938656" y="1723981"/>
            <a:ext cx="4253344" cy="2122881"/>
          </a:xfrm>
          <a:prstGeom prst="rect">
            <a:avLst/>
          </a:prstGeom>
        </p:spPr>
      </p:pic>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00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Application>Walnut Exporter</ns0:Application>
  <ns0:PresentationFormat>Converted Presentation</ns0:PresentationFormat>
  <ns0:Slides>0</ns0:Slides>
  <ns0:Notes>0</ns0:Notes>
  <ns0:HiddenSlides>0</ns0:HiddenSlides>
  <ns0:SharedDoc>false</ns0:SharedDoc>
  <ns0:DocSecurity>0</ns0:DocSecurity>
</ns0:Properties>
</file>

<file path=docProps/core.xml><?xml version="1.0" encoding="utf-8"?>
<ns0:coreProperties xmlns:dc="http://purl.org/dc/elements/1.1/" xmlns:ns0="http://schemas.openxmlformats.org/package/2006/metadata/core-properties" xmlns:ns2="http://purl.org/dc/terms/" xmlns:xsi="http://www.w3.org/2001/XMLSchema-instance">
  <dc:creator>Walnut Exporter</dc:creator>
  <ns0:lastModifiedBy>Walnut Exporter</ns0:lastModifiedBy>
  <dc:title>Presentation</dc:title>
  <ns2:created xsi:type="dcterms:W3CDTF">2026-09-24T03:35:33.2320000Z</ns2:created>
  <ns2:modified xsi:type="dcterms:W3CDTF">2026-09-24T03:35:33.2320000Z</ns2:modified>
</ns0:coreProperties>
</file>