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434" r:id="rId2"/>
    <p:sldId id="433" r:id="rId3"/>
    <p:sldId id="436" r:id="rId4"/>
    <p:sldId id="435" r:id="rId5"/>
    <p:sldId id="437" r:id="rId6"/>
    <p:sldId id="438" r:id="rId7"/>
    <p:sldId id="439" r:id="rId8"/>
    <p:sldId id="440" r:id="rId9"/>
    <p:sldId id="44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7D31"/>
    <a:srgbClr val="FF0000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7205"/>
    <p:restoredTop sz="93727"/>
  </p:normalViewPr>
  <p:slideViewPr>
    <p:cSldViewPr snapToGrid="0" snapToObjects="1">
      <p:cViewPr varScale="1">
        <p:scale>
          <a:sx n="68" d="100"/>
          <a:sy n="68" d="100"/>
        </p:scale>
        <p:origin x="208" y="5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954960-2FD2-2C48-A350-FA80853967F8}" type="datetimeFigureOut">
              <a:rPr lang="en-US" smtClean="0"/>
              <a:t>11/4/25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458265-9EB9-8B41-AC39-306DE96579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702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B28C75-60E9-BE4A-8635-52A2B84AF2D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9479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B28C75-60E9-BE4A-8635-52A2B84AF2D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6614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B28C75-60E9-BE4A-8635-52A2B84AF2D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371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B28C75-60E9-BE4A-8635-52A2B84AF2D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095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B28C75-60E9-BE4A-8635-52A2B84AF2D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3516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B28C75-60E9-BE4A-8635-52A2B84AF2D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71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B28C75-60E9-BE4A-8635-52A2B84AF2D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4699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B28C75-60E9-BE4A-8635-52A2B84AF2D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0361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B28C75-60E9-BE4A-8635-52A2B84AF2D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7630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08699-CE29-634D-83B5-1061B2BD35A6}" type="datetimeFigureOut">
              <a:rPr lang="en-US" smtClean="0"/>
              <a:t>11/4/25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F2244-9A50-AE4D-AE61-8B44ECB34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2462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08699-CE29-634D-83B5-1061B2BD35A6}" type="datetimeFigureOut">
              <a:rPr lang="en-US" smtClean="0"/>
              <a:t>11/4/25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F2244-9A50-AE4D-AE61-8B44ECB34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074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08699-CE29-634D-83B5-1061B2BD35A6}" type="datetimeFigureOut">
              <a:rPr lang="en-US" smtClean="0"/>
              <a:t>11/4/25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F2244-9A50-AE4D-AE61-8B44ECB34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489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08699-CE29-634D-83B5-1061B2BD35A6}" type="datetimeFigureOut">
              <a:rPr lang="en-US" smtClean="0"/>
              <a:t>11/4/25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F2244-9A50-AE4D-AE61-8B44ECB34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6331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08699-CE29-634D-83B5-1061B2BD35A6}" type="datetimeFigureOut">
              <a:rPr lang="en-US" smtClean="0"/>
              <a:t>11/4/25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F2244-9A50-AE4D-AE61-8B44ECB34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956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08699-CE29-634D-83B5-1061B2BD35A6}" type="datetimeFigureOut">
              <a:rPr lang="en-US" smtClean="0"/>
              <a:t>11/4/25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F2244-9A50-AE4D-AE61-8B44ECB34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4004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08699-CE29-634D-83B5-1061B2BD35A6}" type="datetimeFigureOut">
              <a:rPr lang="en-US" smtClean="0"/>
              <a:t>11/4/25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F2244-9A50-AE4D-AE61-8B44ECB34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6793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08699-CE29-634D-83B5-1061B2BD35A6}" type="datetimeFigureOut">
              <a:rPr lang="en-US" smtClean="0"/>
              <a:t>11/4/25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F2244-9A50-AE4D-AE61-8B44ECB34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9923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08699-CE29-634D-83B5-1061B2BD35A6}" type="datetimeFigureOut">
              <a:rPr lang="en-US" smtClean="0"/>
              <a:t>11/4/25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F2244-9A50-AE4D-AE61-8B44ECB34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6541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08699-CE29-634D-83B5-1061B2BD35A6}" type="datetimeFigureOut">
              <a:rPr lang="en-US" smtClean="0"/>
              <a:t>11/4/25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F2244-9A50-AE4D-AE61-8B44ECB34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2883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08699-CE29-634D-83B5-1061B2BD35A6}" type="datetimeFigureOut">
              <a:rPr lang="en-US" smtClean="0"/>
              <a:t>11/4/25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F2244-9A50-AE4D-AE61-8B44ECB34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4178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908699-CE29-634D-83B5-1061B2BD35A6}" type="datetimeFigureOut">
              <a:rPr lang="en-US" smtClean="0"/>
              <a:t>11/4/25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9F2244-9A50-AE4D-AE61-8B44ECB34D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049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9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10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9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10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9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10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C0BBE3C-59E5-F448-8B16-6573F317B827}"/>
              </a:ext>
            </a:extLst>
          </p:cNvPr>
          <p:cNvSpPr txBox="1"/>
          <p:nvPr/>
        </p:nvSpPr>
        <p:spPr>
          <a:xfrm>
            <a:off x="0" y="-1"/>
            <a:ext cx="12192000" cy="83099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endParaRPr lang="en-US" sz="1000" dirty="0"/>
          </a:p>
          <a:p>
            <a:pPr algn="ctr"/>
            <a:r>
              <a:rPr lang="en-US" sz="2800" b="1" dirty="0">
                <a:solidFill>
                  <a:schemeClr val="bg1"/>
                </a:solidFill>
              </a:rPr>
              <a:t>GWAS</a:t>
            </a:r>
          </a:p>
          <a:p>
            <a:endParaRPr lang="en-US" sz="1000" dirty="0"/>
          </a:p>
        </p:txBody>
      </p:sp>
      <p:pic>
        <p:nvPicPr>
          <p:cNvPr id="4098" name="Picture 2" descr="Genome-wide association study - Wikipedia">
            <a:extLst>
              <a:ext uri="{FF2B5EF4-FFF2-40B4-BE49-F238E27FC236}">
                <a16:creationId xmlns:a16="http://schemas.microsoft.com/office/drawing/2014/main" id="{869E0FF6-5703-F04C-AF83-EBBEB73E4E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55688"/>
            <a:ext cx="6266046" cy="24386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Genome-Wide Association Studies - ACSH Explains | American Council on  Science and Health">
            <a:extLst>
              <a:ext uri="{FF2B5EF4-FFF2-40B4-BE49-F238E27FC236}">
                <a16:creationId xmlns:a16="http://schemas.microsoft.com/office/drawing/2014/main" id="{927AD330-1101-F146-AC60-0465A4F7D6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00" y="3591797"/>
            <a:ext cx="6177146" cy="2827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Genome-wide association studies in lung disease | Thorax">
            <a:extLst>
              <a:ext uri="{FF2B5EF4-FFF2-40B4-BE49-F238E27FC236}">
                <a16:creationId xmlns:a16="http://schemas.microsoft.com/office/drawing/2014/main" id="{BDABCAC1-4379-A641-BF78-1329E54B34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8318" y="1641876"/>
            <a:ext cx="5694782" cy="3363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33501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C0BBE3C-59E5-F448-8B16-6573F317B827}"/>
              </a:ext>
            </a:extLst>
          </p:cNvPr>
          <p:cNvSpPr txBox="1"/>
          <p:nvPr/>
        </p:nvSpPr>
        <p:spPr>
          <a:xfrm>
            <a:off x="0" y="-1"/>
            <a:ext cx="12192000" cy="83099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endParaRPr lang="en-US" sz="1000" dirty="0"/>
          </a:p>
          <a:p>
            <a:pPr algn="ctr"/>
            <a:r>
              <a:rPr lang="en-US" sz="2800" b="1" dirty="0">
                <a:solidFill>
                  <a:schemeClr val="bg1"/>
                </a:solidFill>
              </a:rPr>
              <a:t>GWAS</a:t>
            </a:r>
          </a:p>
          <a:p>
            <a:endParaRPr lang="en-US" sz="1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9EEDE9-3F9A-F741-B27A-29B705E01C4F}"/>
              </a:ext>
            </a:extLst>
          </p:cNvPr>
          <p:cNvSpPr txBox="1"/>
          <p:nvPr/>
        </p:nvSpPr>
        <p:spPr>
          <a:xfrm>
            <a:off x="1196740" y="1463039"/>
            <a:ext cx="889374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GWAS: Genome wide association study.</a:t>
            </a:r>
          </a:p>
          <a:p>
            <a:endParaRPr lang="en-US" sz="2400" dirty="0"/>
          </a:p>
          <a:p>
            <a:r>
              <a:rPr lang="en-US" sz="2400" dirty="0"/>
              <a:t>The goal of GWAS is to determine what genes have alleles that are responsible for a trait of interest. The trait can be any measurable trait in any organism that you wish to study. For instance, a disease in humans, an economically important trait of a crop or domestic animal, an adaptation like a certain color pattern in birds, etc.</a:t>
            </a:r>
          </a:p>
        </p:txBody>
      </p:sp>
    </p:spTree>
    <p:extLst>
      <p:ext uri="{BB962C8B-B14F-4D97-AF65-F5344CB8AC3E}">
        <p14:creationId xmlns:p14="http://schemas.microsoft.com/office/powerpoint/2010/main" val="25474243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C0BBE3C-59E5-F448-8B16-6573F317B827}"/>
              </a:ext>
            </a:extLst>
          </p:cNvPr>
          <p:cNvSpPr txBox="1"/>
          <p:nvPr/>
        </p:nvSpPr>
        <p:spPr>
          <a:xfrm>
            <a:off x="0" y="-1"/>
            <a:ext cx="12192000" cy="83099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endParaRPr lang="en-US" sz="1000" dirty="0"/>
          </a:p>
          <a:p>
            <a:pPr algn="ctr"/>
            <a:r>
              <a:rPr lang="en-US" sz="2800" b="1" dirty="0">
                <a:solidFill>
                  <a:schemeClr val="bg1"/>
                </a:solidFill>
              </a:rPr>
              <a:t>GWAS – Discrete condition (often disease)</a:t>
            </a:r>
          </a:p>
          <a:p>
            <a:endParaRPr lang="en-US" sz="1000" dirty="0"/>
          </a:p>
        </p:txBody>
      </p:sp>
      <p:pic>
        <p:nvPicPr>
          <p:cNvPr id="7170" name="Picture 2" descr="What are genome wide association studies (GWAS)? | GWAS Catalog">
            <a:extLst>
              <a:ext uri="{FF2B5EF4-FFF2-40B4-BE49-F238E27FC236}">
                <a16:creationId xmlns:a16="http://schemas.microsoft.com/office/drawing/2014/main" id="{79A6FE6F-A392-F547-A6B2-278B72955D2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439"/>
          <a:stretch/>
        </p:blipFill>
        <p:spPr bwMode="auto">
          <a:xfrm>
            <a:off x="1981200" y="958850"/>
            <a:ext cx="8229600" cy="2893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Parallelogram 1">
            <a:extLst>
              <a:ext uri="{FF2B5EF4-FFF2-40B4-BE49-F238E27FC236}">
                <a16:creationId xmlns:a16="http://schemas.microsoft.com/office/drawing/2014/main" id="{8DD63625-EACA-AD4A-8C7F-045DEBEDAC0D}"/>
              </a:ext>
            </a:extLst>
          </p:cNvPr>
          <p:cNvSpPr/>
          <p:nvPr/>
        </p:nvSpPr>
        <p:spPr>
          <a:xfrm>
            <a:off x="4937760" y="2425566"/>
            <a:ext cx="2387065" cy="914400"/>
          </a:xfrm>
          <a:prstGeom prst="parallelogram">
            <a:avLst/>
          </a:prstGeom>
          <a:solidFill>
            <a:schemeClr val="bg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8CC014-7172-0B4E-BDF1-0EEDA8DA0274}"/>
              </a:ext>
            </a:extLst>
          </p:cNvPr>
          <p:cNvSpPr txBox="1"/>
          <p:nvPr/>
        </p:nvSpPr>
        <p:spPr>
          <a:xfrm>
            <a:off x="2438400" y="3872116"/>
            <a:ext cx="7772400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&gt;case 1</a:t>
            </a:r>
          </a:p>
          <a:p>
            <a:r>
              <a:rPr lang="en-US" sz="1400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CATACTACTACTGAACGTTTGCTCCTGCtactatctctctctctctctctttctctctctctctctCATGC &gt;case 2</a:t>
            </a:r>
          </a:p>
          <a:p>
            <a:r>
              <a:rPr lang="en-US" sz="1400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AGTTGACTACTGCATACTCGTGCTAGCTGACTGTCGTACGTACGTAGCTAGTGATCGATCGATGCTAGCTA&gt;case 3</a:t>
            </a:r>
          </a:p>
          <a:p>
            <a:r>
              <a:rPr lang="en-US" sz="1400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CATACTACTACTGAACGTTTGCTCCTGCtactatctctctctctctctctttctctctctctctctCATGC &gt;control 1</a:t>
            </a:r>
          </a:p>
          <a:p>
            <a:r>
              <a:rPr lang="en-US" sz="1400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AGTTGACTACTGCATACTCGTGCTAGCTGACTGTCGTACGTACGTAGCTAGTGATCGATCGATGCTAGCTA&gt;control 2</a:t>
            </a:r>
          </a:p>
          <a:p>
            <a:r>
              <a:rPr lang="en-US" sz="1400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CATACTACTACTGAACGTTTGCTCCTGCtactatctctctctctctctctttctctctctctctctCATGC &gt;control 3</a:t>
            </a:r>
          </a:p>
          <a:p>
            <a:r>
              <a:rPr lang="en-US" sz="1400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AGTTGACTACTGCATACTCGTGCTAGCTGACTGTCGTACGTACGTAGCTAGTGATCGATCGATGCTAGCTA</a:t>
            </a:r>
          </a:p>
          <a:p>
            <a:endParaRPr lang="en-US" sz="1400" dirty="0">
              <a:latin typeface="Courier New" panose="02070309020205020404" pitchFamily="49" charset="0"/>
              <a:ea typeface="Arial Unicode MS" panose="020B0604020202020204" pitchFamily="34" charset="-128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0926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C0BBE3C-59E5-F448-8B16-6573F317B827}"/>
              </a:ext>
            </a:extLst>
          </p:cNvPr>
          <p:cNvSpPr txBox="1"/>
          <p:nvPr/>
        </p:nvSpPr>
        <p:spPr>
          <a:xfrm>
            <a:off x="0" y="-1"/>
            <a:ext cx="12192000" cy="83099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endParaRPr lang="en-US" sz="1000" dirty="0"/>
          </a:p>
          <a:p>
            <a:pPr algn="ctr"/>
            <a:r>
              <a:rPr lang="en-US" sz="2800" b="1" dirty="0">
                <a:solidFill>
                  <a:schemeClr val="bg1"/>
                </a:solidFill>
              </a:rPr>
              <a:t>GWAS – Continuous trait</a:t>
            </a:r>
          </a:p>
          <a:p>
            <a:endParaRPr lang="en-US" sz="1000" dirty="0"/>
          </a:p>
        </p:txBody>
      </p:sp>
      <p:sp>
        <p:nvSpPr>
          <p:cNvPr id="2" name="Parallelogram 1">
            <a:extLst>
              <a:ext uri="{FF2B5EF4-FFF2-40B4-BE49-F238E27FC236}">
                <a16:creationId xmlns:a16="http://schemas.microsoft.com/office/drawing/2014/main" id="{8DD63625-EACA-AD4A-8C7F-045DEBEDAC0D}"/>
              </a:ext>
            </a:extLst>
          </p:cNvPr>
          <p:cNvSpPr/>
          <p:nvPr/>
        </p:nvSpPr>
        <p:spPr>
          <a:xfrm>
            <a:off x="4937760" y="2425566"/>
            <a:ext cx="2387065" cy="914400"/>
          </a:xfrm>
          <a:prstGeom prst="parallelogram">
            <a:avLst/>
          </a:prstGeom>
          <a:solidFill>
            <a:schemeClr val="bg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8CC014-7172-0B4E-BDF1-0EEDA8DA0274}"/>
              </a:ext>
            </a:extLst>
          </p:cNvPr>
          <p:cNvSpPr txBox="1"/>
          <p:nvPr/>
        </p:nvSpPr>
        <p:spPr>
          <a:xfrm>
            <a:off x="2438400" y="3872116"/>
            <a:ext cx="7772400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&gt;sample 1</a:t>
            </a:r>
          </a:p>
          <a:p>
            <a:r>
              <a:rPr lang="en-US" sz="1400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CATACTACTACTGAACGTTTGCTCCTGCtactatctctctctctctctctttctctctctctctctCATGC &gt;sample 2</a:t>
            </a:r>
          </a:p>
          <a:p>
            <a:r>
              <a:rPr lang="en-US" sz="1400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AGTTGACTACTGCATACTCGTGCTAGCTGACTGTCGTACGTACGTAGCTAGTGATCGATCGATGCTAGCTA&gt;sample 3</a:t>
            </a:r>
          </a:p>
          <a:p>
            <a:r>
              <a:rPr lang="en-US" sz="1400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CATACTACTACTGAACGTTTGCTCCTGCtactatctctctctctctctctttctctctctctctctCATGC &gt;sample 4</a:t>
            </a:r>
          </a:p>
          <a:p>
            <a:r>
              <a:rPr lang="en-US" sz="1400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AGTTGACTACTGCATACTCGTGCTAGCTGACTGTCGTACGTACGTAGCTAGTGATCGATCGATGCTAGCTA&gt;sample 5</a:t>
            </a:r>
          </a:p>
          <a:p>
            <a:r>
              <a:rPr lang="en-US" sz="1400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CATACTACTACTGAACGTTTGCTCCTGCtactatctctctctctctctctttctctctctctctctCATGC &gt;sample 6</a:t>
            </a:r>
          </a:p>
          <a:p>
            <a:r>
              <a:rPr lang="en-US" sz="1400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AGTTGACTACTGCATACTCGTGCTAGCTGACTGTCGTACGTACGTAGCTAGTGATCGATCGATGCTAGCTA</a:t>
            </a:r>
          </a:p>
          <a:p>
            <a:endParaRPr lang="en-US" sz="1400" dirty="0">
              <a:latin typeface="Courier New" panose="02070309020205020404" pitchFamily="49" charset="0"/>
              <a:ea typeface="Arial Unicode MS" panose="020B0604020202020204" pitchFamily="34" charset="-128"/>
              <a:cs typeface="Courier New" panose="02070309020205020404" pitchFamily="49" charset="0"/>
            </a:endParaRPr>
          </a:p>
        </p:txBody>
      </p:sp>
      <p:pic>
        <p:nvPicPr>
          <p:cNvPr id="6" name="Graphic 5" descr="Cow">
            <a:extLst>
              <a:ext uri="{FF2B5EF4-FFF2-40B4-BE49-F238E27FC236}">
                <a16:creationId xmlns:a16="http://schemas.microsoft.com/office/drawing/2014/main" id="{B9B5825A-9469-0749-B4CE-914750BE37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85117" y="1260028"/>
            <a:ext cx="914400" cy="914400"/>
          </a:xfrm>
          <a:prstGeom prst="rect">
            <a:avLst/>
          </a:prstGeom>
        </p:spPr>
      </p:pic>
      <p:pic>
        <p:nvPicPr>
          <p:cNvPr id="10" name="Graphic 9" descr="Cow">
            <a:extLst>
              <a:ext uri="{FF2B5EF4-FFF2-40B4-BE49-F238E27FC236}">
                <a16:creationId xmlns:a16="http://schemas.microsoft.com/office/drawing/2014/main" id="{88A0277C-B544-8D4B-B2BE-56CB69FAE32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910748" y="2261272"/>
            <a:ext cx="914400" cy="914400"/>
          </a:xfrm>
          <a:prstGeom prst="rect">
            <a:avLst/>
          </a:prstGeom>
        </p:spPr>
      </p:pic>
      <p:pic>
        <p:nvPicPr>
          <p:cNvPr id="11" name="Graphic 10" descr="Cow">
            <a:extLst>
              <a:ext uri="{FF2B5EF4-FFF2-40B4-BE49-F238E27FC236}">
                <a16:creationId xmlns:a16="http://schemas.microsoft.com/office/drawing/2014/main" id="{8189CD77-4201-244D-AD49-8031E612BDF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24600" y="958656"/>
            <a:ext cx="914400" cy="914400"/>
          </a:xfrm>
          <a:prstGeom prst="rect">
            <a:avLst/>
          </a:prstGeom>
        </p:spPr>
      </p:pic>
      <p:pic>
        <p:nvPicPr>
          <p:cNvPr id="12" name="Graphic 11" descr="Cow">
            <a:extLst>
              <a:ext uri="{FF2B5EF4-FFF2-40B4-BE49-F238E27FC236}">
                <a16:creationId xmlns:a16="http://schemas.microsoft.com/office/drawing/2014/main" id="{8EDA1030-E186-3544-87D6-0460FECF473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37760" y="2108872"/>
            <a:ext cx="914400" cy="914400"/>
          </a:xfrm>
          <a:prstGeom prst="rect">
            <a:avLst/>
          </a:prstGeom>
        </p:spPr>
      </p:pic>
      <p:pic>
        <p:nvPicPr>
          <p:cNvPr id="13" name="Graphic 12" descr="Cow">
            <a:extLst>
              <a:ext uri="{FF2B5EF4-FFF2-40B4-BE49-F238E27FC236}">
                <a16:creationId xmlns:a16="http://schemas.microsoft.com/office/drawing/2014/main" id="{EC1AD995-3279-FE40-9C08-D9A58787695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023360" y="958656"/>
            <a:ext cx="914400" cy="914400"/>
          </a:xfrm>
          <a:prstGeom prst="rect">
            <a:avLst/>
          </a:prstGeom>
        </p:spPr>
      </p:pic>
      <p:pic>
        <p:nvPicPr>
          <p:cNvPr id="14" name="Graphic 13" descr="Cow">
            <a:extLst>
              <a:ext uri="{FF2B5EF4-FFF2-40B4-BE49-F238E27FC236}">
                <a16:creationId xmlns:a16="http://schemas.microsoft.com/office/drawing/2014/main" id="{CF784612-7A8B-DD49-B774-DE6A7233643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312324" y="1061600"/>
            <a:ext cx="914400" cy="914400"/>
          </a:xfrm>
          <a:prstGeom prst="rect">
            <a:avLst/>
          </a:prstGeom>
        </p:spPr>
      </p:pic>
      <p:pic>
        <p:nvPicPr>
          <p:cNvPr id="15" name="Graphic 14" descr="Cow">
            <a:extLst>
              <a:ext uri="{FF2B5EF4-FFF2-40B4-BE49-F238E27FC236}">
                <a16:creationId xmlns:a16="http://schemas.microsoft.com/office/drawing/2014/main" id="{213373D8-9EED-0C4A-BF02-75A64716E74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04357" y="1873056"/>
            <a:ext cx="914400" cy="914400"/>
          </a:xfrm>
          <a:prstGeom prst="rect">
            <a:avLst/>
          </a:prstGeom>
        </p:spPr>
      </p:pic>
      <p:pic>
        <p:nvPicPr>
          <p:cNvPr id="16" name="Graphic 15" descr="Cow">
            <a:extLst>
              <a:ext uri="{FF2B5EF4-FFF2-40B4-BE49-F238E27FC236}">
                <a16:creationId xmlns:a16="http://schemas.microsoft.com/office/drawing/2014/main" id="{D3BEAE1B-CDC6-EE41-9E82-5BE80392B94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924254" y="2269912"/>
            <a:ext cx="914400" cy="914400"/>
          </a:xfrm>
          <a:prstGeom prst="rect">
            <a:avLst/>
          </a:prstGeom>
        </p:spPr>
      </p:pic>
      <p:pic>
        <p:nvPicPr>
          <p:cNvPr id="17" name="Graphic 16" descr="Cow">
            <a:extLst>
              <a:ext uri="{FF2B5EF4-FFF2-40B4-BE49-F238E27FC236}">
                <a16:creationId xmlns:a16="http://schemas.microsoft.com/office/drawing/2014/main" id="{76E73B2D-4EDA-2446-9A2E-9477E2C7AB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24052" y="214626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481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C0BBE3C-59E5-F448-8B16-6573F317B827}"/>
              </a:ext>
            </a:extLst>
          </p:cNvPr>
          <p:cNvSpPr txBox="1"/>
          <p:nvPr/>
        </p:nvSpPr>
        <p:spPr>
          <a:xfrm>
            <a:off x="0" y="-1"/>
            <a:ext cx="12192000" cy="83099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endParaRPr lang="en-US" sz="1000" dirty="0"/>
          </a:p>
          <a:p>
            <a:pPr algn="ctr"/>
            <a:r>
              <a:rPr lang="en-US" sz="2800" b="1" dirty="0">
                <a:solidFill>
                  <a:schemeClr val="bg1"/>
                </a:solidFill>
              </a:rPr>
              <a:t>GWAS – Continuous trait</a:t>
            </a:r>
          </a:p>
          <a:p>
            <a:endParaRPr lang="en-US" sz="1000" dirty="0"/>
          </a:p>
        </p:txBody>
      </p:sp>
      <p:sp>
        <p:nvSpPr>
          <p:cNvPr id="2" name="Parallelogram 1">
            <a:extLst>
              <a:ext uri="{FF2B5EF4-FFF2-40B4-BE49-F238E27FC236}">
                <a16:creationId xmlns:a16="http://schemas.microsoft.com/office/drawing/2014/main" id="{8DD63625-EACA-AD4A-8C7F-045DEBEDAC0D}"/>
              </a:ext>
            </a:extLst>
          </p:cNvPr>
          <p:cNvSpPr/>
          <p:nvPr/>
        </p:nvSpPr>
        <p:spPr>
          <a:xfrm>
            <a:off x="4937760" y="2425566"/>
            <a:ext cx="2387065" cy="914400"/>
          </a:xfrm>
          <a:prstGeom prst="parallelogram">
            <a:avLst/>
          </a:prstGeom>
          <a:solidFill>
            <a:schemeClr val="bg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8CC014-7172-0B4E-BDF1-0EEDA8DA0274}"/>
              </a:ext>
            </a:extLst>
          </p:cNvPr>
          <p:cNvSpPr txBox="1"/>
          <p:nvPr/>
        </p:nvSpPr>
        <p:spPr>
          <a:xfrm>
            <a:off x="593767" y="1056625"/>
            <a:ext cx="5054533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AGTTGACTACTGCATACTCGT</a:t>
            </a:r>
          </a:p>
          <a:p>
            <a:r>
              <a:rPr lang="en-US" sz="2800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AGTTGACTACTGCATACTCGT</a:t>
            </a:r>
          </a:p>
          <a:p>
            <a:r>
              <a:rPr lang="en-US" sz="2800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AGTTGACTACTGCATACTCGT</a:t>
            </a:r>
          </a:p>
          <a:p>
            <a:r>
              <a:rPr lang="en-US" sz="2800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AGTTGACTACTGCATACTCGT</a:t>
            </a:r>
          </a:p>
          <a:p>
            <a:r>
              <a:rPr lang="en-US" sz="2800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TGTTGACTACTGCATACTCGT</a:t>
            </a:r>
          </a:p>
          <a:p>
            <a:r>
              <a:rPr lang="en-US" sz="2800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AGTTGACTACTGCATACTCGT</a:t>
            </a:r>
          </a:p>
          <a:p>
            <a:r>
              <a:rPr lang="en-US" sz="2800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TGTTGACTACTGCATACTCGT</a:t>
            </a:r>
          </a:p>
          <a:p>
            <a:r>
              <a:rPr lang="en-US" sz="2800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TGTTGACTACTGCATACTCGT</a:t>
            </a:r>
          </a:p>
          <a:p>
            <a:r>
              <a:rPr lang="en-US" sz="2800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AGTTGACTACTGCATACTCGT</a:t>
            </a:r>
          </a:p>
          <a:p>
            <a:r>
              <a:rPr lang="en-US" sz="2800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TGTTGACTACTGCATACTCGT</a:t>
            </a:r>
          </a:p>
          <a:p>
            <a:r>
              <a:rPr lang="en-US" sz="2800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TGTTGACTACTGCATACTCGT</a:t>
            </a:r>
          </a:p>
          <a:p>
            <a:r>
              <a:rPr lang="en-US" sz="2800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TGTTGACTACTGCATACTCGT</a:t>
            </a:r>
          </a:p>
        </p:txBody>
      </p:sp>
      <p:pic>
        <p:nvPicPr>
          <p:cNvPr id="14" name="Graphic 13" descr="Cow">
            <a:extLst>
              <a:ext uri="{FF2B5EF4-FFF2-40B4-BE49-F238E27FC236}">
                <a16:creationId xmlns:a16="http://schemas.microsoft.com/office/drawing/2014/main" id="{CF784612-7A8B-DD49-B774-DE6A723364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504" y="2974751"/>
            <a:ext cx="338842" cy="338842"/>
          </a:xfrm>
          <a:prstGeom prst="rect">
            <a:avLst/>
          </a:prstGeom>
        </p:spPr>
      </p:pic>
      <p:pic>
        <p:nvPicPr>
          <p:cNvPr id="15" name="Graphic 14" descr="Cow">
            <a:extLst>
              <a:ext uri="{FF2B5EF4-FFF2-40B4-BE49-F238E27FC236}">
                <a16:creationId xmlns:a16="http://schemas.microsoft.com/office/drawing/2014/main" id="{213373D8-9EED-0C4A-BF02-75A64716E74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504" y="1326730"/>
            <a:ext cx="338842" cy="338842"/>
          </a:xfrm>
          <a:prstGeom prst="rect">
            <a:avLst/>
          </a:prstGeom>
        </p:spPr>
      </p:pic>
      <p:pic>
        <p:nvPicPr>
          <p:cNvPr id="17" name="Graphic 16" descr="Cow">
            <a:extLst>
              <a:ext uri="{FF2B5EF4-FFF2-40B4-BE49-F238E27FC236}">
                <a16:creationId xmlns:a16="http://schemas.microsoft.com/office/drawing/2014/main" id="{76E73B2D-4EDA-2446-9A2E-9477E2C7AB3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504" y="2210149"/>
            <a:ext cx="338842" cy="33884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A2F97B6-3119-AA43-B5B0-D323660617A5}"/>
              </a:ext>
            </a:extLst>
          </p:cNvPr>
          <p:cNvSpPr/>
          <p:nvPr/>
        </p:nvSpPr>
        <p:spPr>
          <a:xfrm>
            <a:off x="7493331" y="1479279"/>
            <a:ext cx="3257463" cy="2898339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Graphic 17" descr="Cow">
            <a:extLst>
              <a:ext uri="{FF2B5EF4-FFF2-40B4-BE49-F238E27FC236}">
                <a16:creationId xmlns:a16="http://schemas.microsoft.com/office/drawing/2014/main" id="{075737E2-C1EE-CF40-AFD7-8FC51ACE54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375" y="4778427"/>
            <a:ext cx="338842" cy="338842"/>
          </a:xfrm>
          <a:prstGeom prst="rect">
            <a:avLst/>
          </a:prstGeom>
        </p:spPr>
      </p:pic>
      <p:pic>
        <p:nvPicPr>
          <p:cNvPr id="19" name="Graphic 18" descr="Cow">
            <a:extLst>
              <a:ext uri="{FF2B5EF4-FFF2-40B4-BE49-F238E27FC236}">
                <a16:creationId xmlns:a16="http://schemas.microsoft.com/office/drawing/2014/main" id="{B50CB5B2-F96E-6E4A-8440-51C83B6D4FE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504" y="5596705"/>
            <a:ext cx="338842" cy="338842"/>
          </a:xfrm>
          <a:prstGeom prst="rect">
            <a:avLst/>
          </a:prstGeom>
        </p:spPr>
      </p:pic>
      <p:pic>
        <p:nvPicPr>
          <p:cNvPr id="20" name="Graphic 19" descr="Cow">
            <a:extLst>
              <a:ext uri="{FF2B5EF4-FFF2-40B4-BE49-F238E27FC236}">
                <a16:creationId xmlns:a16="http://schemas.microsoft.com/office/drawing/2014/main" id="{B5C2BF80-AD66-FB48-AFD8-076ACF5F6C5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504" y="3928420"/>
            <a:ext cx="338842" cy="33884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D2FF24C-A651-6246-B47B-BD329A0ED98C}"/>
              </a:ext>
            </a:extLst>
          </p:cNvPr>
          <p:cNvSpPr/>
          <p:nvPr/>
        </p:nvSpPr>
        <p:spPr>
          <a:xfrm>
            <a:off x="593767" y="1056625"/>
            <a:ext cx="4583875" cy="87905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66329D9-1227-7843-AF76-BF12807ACDFF}"/>
              </a:ext>
            </a:extLst>
          </p:cNvPr>
          <p:cNvSpPr/>
          <p:nvPr/>
        </p:nvSpPr>
        <p:spPr>
          <a:xfrm>
            <a:off x="593766" y="1921106"/>
            <a:ext cx="4583875" cy="87905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22EE3E2-F339-064D-AEDB-63A2DC03302A}"/>
              </a:ext>
            </a:extLst>
          </p:cNvPr>
          <p:cNvSpPr/>
          <p:nvPr/>
        </p:nvSpPr>
        <p:spPr>
          <a:xfrm>
            <a:off x="593765" y="2785426"/>
            <a:ext cx="4583875" cy="87905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33AEF3D-BC64-FD45-814E-23231BBA6FA7}"/>
              </a:ext>
            </a:extLst>
          </p:cNvPr>
          <p:cNvSpPr/>
          <p:nvPr/>
        </p:nvSpPr>
        <p:spPr>
          <a:xfrm>
            <a:off x="593764" y="3630190"/>
            <a:ext cx="4583875" cy="87905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EACF5ED-A23A-9540-AD68-50E9E0A74E8E}"/>
              </a:ext>
            </a:extLst>
          </p:cNvPr>
          <p:cNvSpPr/>
          <p:nvPr/>
        </p:nvSpPr>
        <p:spPr>
          <a:xfrm>
            <a:off x="593764" y="4482635"/>
            <a:ext cx="4583875" cy="87905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7C0DE2F-7925-8244-857B-13A3532CA626}"/>
              </a:ext>
            </a:extLst>
          </p:cNvPr>
          <p:cNvSpPr/>
          <p:nvPr/>
        </p:nvSpPr>
        <p:spPr>
          <a:xfrm>
            <a:off x="593763" y="5326600"/>
            <a:ext cx="4583875" cy="87905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2DEFDD-1584-524E-8C05-2D63C38304B6}"/>
              </a:ext>
            </a:extLst>
          </p:cNvPr>
          <p:cNvSpPr txBox="1"/>
          <p:nvPr/>
        </p:nvSpPr>
        <p:spPr>
          <a:xfrm>
            <a:off x="7584846" y="4377618"/>
            <a:ext cx="30744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AA                   AT                      TT</a:t>
            </a:r>
          </a:p>
        </p:txBody>
      </p:sp>
      <p:pic>
        <p:nvPicPr>
          <p:cNvPr id="26" name="Graphic 25" descr="Cow">
            <a:extLst>
              <a:ext uri="{FF2B5EF4-FFF2-40B4-BE49-F238E27FC236}">
                <a16:creationId xmlns:a16="http://schemas.microsoft.com/office/drawing/2014/main" id="{C93891AE-9048-234A-AF49-7939E4D500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23018" y="3994441"/>
            <a:ext cx="338842" cy="338842"/>
          </a:xfrm>
          <a:prstGeom prst="rect">
            <a:avLst/>
          </a:prstGeom>
        </p:spPr>
      </p:pic>
      <p:pic>
        <p:nvPicPr>
          <p:cNvPr id="27" name="Graphic 26" descr="Cow">
            <a:extLst>
              <a:ext uri="{FF2B5EF4-FFF2-40B4-BE49-F238E27FC236}">
                <a16:creationId xmlns:a16="http://schemas.microsoft.com/office/drawing/2014/main" id="{29D8598B-5783-6640-BB49-437DBF6A38C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52312" y="1402254"/>
            <a:ext cx="338842" cy="338842"/>
          </a:xfrm>
          <a:prstGeom prst="rect">
            <a:avLst/>
          </a:prstGeom>
        </p:spPr>
      </p:pic>
      <p:pic>
        <p:nvPicPr>
          <p:cNvPr id="28" name="Graphic 27" descr="Cow">
            <a:extLst>
              <a:ext uri="{FF2B5EF4-FFF2-40B4-BE49-F238E27FC236}">
                <a16:creationId xmlns:a16="http://schemas.microsoft.com/office/drawing/2014/main" id="{EE5E2AC9-8F72-5447-B59C-A04C7396D38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83829" y="2664397"/>
            <a:ext cx="338842" cy="33884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39D3221-4626-A242-9E52-926DB708DC62}"/>
              </a:ext>
            </a:extLst>
          </p:cNvPr>
          <p:cNvSpPr txBox="1"/>
          <p:nvPr/>
        </p:nvSpPr>
        <p:spPr>
          <a:xfrm rot="16200000">
            <a:off x="6752037" y="2649152"/>
            <a:ext cx="11132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coat color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A572D2B-5D70-2F4E-808A-8D854F150189}"/>
              </a:ext>
            </a:extLst>
          </p:cNvPr>
          <p:cNvSpPr/>
          <p:nvPr/>
        </p:nvSpPr>
        <p:spPr>
          <a:xfrm>
            <a:off x="605638" y="1056625"/>
            <a:ext cx="320637" cy="5149028"/>
          </a:xfrm>
          <a:prstGeom prst="rect">
            <a:avLst/>
          </a:prstGeom>
          <a:solidFill>
            <a:srgbClr val="FF2600">
              <a:alpha val="9804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A9508976-1ACE-E642-90A5-140C7BBD666B}"/>
              </a:ext>
            </a:extLst>
          </p:cNvPr>
          <p:cNvSpPr/>
          <p:nvPr/>
        </p:nvSpPr>
        <p:spPr>
          <a:xfrm>
            <a:off x="7677050" y="1571675"/>
            <a:ext cx="193862" cy="190211"/>
          </a:xfrm>
          <a:prstGeom prst="ellipse">
            <a:avLst/>
          </a:prstGeom>
          <a:solidFill>
            <a:schemeClr val="tx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9675608C-F0C4-5F4B-B4F8-ACB6F7106BE9}"/>
              </a:ext>
            </a:extLst>
          </p:cNvPr>
          <p:cNvSpPr/>
          <p:nvPr/>
        </p:nvSpPr>
        <p:spPr>
          <a:xfrm>
            <a:off x="7677050" y="2773028"/>
            <a:ext cx="193862" cy="190211"/>
          </a:xfrm>
          <a:prstGeom prst="ellipse">
            <a:avLst/>
          </a:prstGeom>
          <a:solidFill>
            <a:schemeClr val="tx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133F94CF-76BE-454C-9126-2884279AABD7}"/>
              </a:ext>
            </a:extLst>
          </p:cNvPr>
          <p:cNvSpPr/>
          <p:nvPr/>
        </p:nvSpPr>
        <p:spPr>
          <a:xfrm>
            <a:off x="9053328" y="4071307"/>
            <a:ext cx="193862" cy="190211"/>
          </a:xfrm>
          <a:prstGeom prst="ellipse">
            <a:avLst/>
          </a:prstGeom>
          <a:solidFill>
            <a:schemeClr val="tx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846B36F6-3C9C-AC4A-B670-8F19E2943220}"/>
              </a:ext>
            </a:extLst>
          </p:cNvPr>
          <p:cNvSpPr/>
          <p:nvPr/>
        </p:nvSpPr>
        <p:spPr>
          <a:xfrm>
            <a:off x="10331883" y="2787660"/>
            <a:ext cx="193862" cy="190211"/>
          </a:xfrm>
          <a:prstGeom prst="ellipse">
            <a:avLst/>
          </a:prstGeom>
          <a:solidFill>
            <a:schemeClr val="tx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5DA3ACB1-3244-E44F-8641-F31CA43D09C8}"/>
              </a:ext>
            </a:extLst>
          </p:cNvPr>
          <p:cNvSpPr/>
          <p:nvPr/>
        </p:nvSpPr>
        <p:spPr>
          <a:xfrm>
            <a:off x="8859466" y="4071307"/>
            <a:ext cx="193862" cy="190211"/>
          </a:xfrm>
          <a:prstGeom prst="ellipse">
            <a:avLst/>
          </a:prstGeom>
          <a:solidFill>
            <a:schemeClr val="tx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38689A32-5422-9B42-9931-04FF187361F2}"/>
              </a:ext>
            </a:extLst>
          </p:cNvPr>
          <p:cNvSpPr/>
          <p:nvPr/>
        </p:nvSpPr>
        <p:spPr>
          <a:xfrm>
            <a:off x="10331883" y="1533175"/>
            <a:ext cx="193862" cy="190211"/>
          </a:xfrm>
          <a:prstGeom prst="ellipse">
            <a:avLst/>
          </a:prstGeom>
          <a:solidFill>
            <a:schemeClr val="tx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467398AB-5E5A-DE45-BAF2-8856941C91F4}"/>
              </a:ext>
            </a:extLst>
          </p:cNvPr>
          <p:cNvCxnSpPr/>
          <p:nvPr/>
        </p:nvCxnSpPr>
        <p:spPr>
          <a:xfrm>
            <a:off x="7584846" y="2868133"/>
            <a:ext cx="2940899" cy="0"/>
          </a:xfrm>
          <a:prstGeom prst="line">
            <a:avLst/>
          </a:prstGeom>
          <a:ln w="38100">
            <a:solidFill>
              <a:srgbClr val="C00000"/>
            </a:solidFill>
            <a:prstDash val="sys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F9CAA453-54DB-8F42-B574-589F744F9AB1}"/>
              </a:ext>
            </a:extLst>
          </p:cNvPr>
          <p:cNvSpPr txBox="1"/>
          <p:nvPr/>
        </p:nvSpPr>
        <p:spPr>
          <a:xfrm>
            <a:off x="8793513" y="3294679"/>
            <a:ext cx="15383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 significant</a:t>
            </a:r>
          </a:p>
        </p:txBody>
      </p:sp>
    </p:spTree>
    <p:extLst>
      <p:ext uri="{BB962C8B-B14F-4D97-AF65-F5344CB8AC3E}">
        <p14:creationId xmlns:p14="http://schemas.microsoft.com/office/powerpoint/2010/main" val="2148756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4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C0BBE3C-59E5-F448-8B16-6573F317B827}"/>
              </a:ext>
            </a:extLst>
          </p:cNvPr>
          <p:cNvSpPr txBox="1"/>
          <p:nvPr/>
        </p:nvSpPr>
        <p:spPr>
          <a:xfrm>
            <a:off x="0" y="-1"/>
            <a:ext cx="12192000" cy="83099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endParaRPr lang="en-US" sz="1000" dirty="0"/>
          </a:p>
          <a:p>
            <a:pPr algn="ctr"/>
            <a:r>
              <a:rPr lang="en-US" sz="2800" b="1" dirty="0">
                <a:solidFill>
                  <a:schemeClr val="bg1"/>
                </a:solidFill>
              </a:rPr>
              <a:t>GWAS – Continuous trait</a:t>
            </a:r>
          </a:p>
          <a:p>
            <a:endParaRPr lang="en-US" sz="1000" dirty="0"/>
          </a:p>
        </p:txBody>
      </p:sp>
      <p:sp>
        <p:nvSpPr>
          <p:cNvPr id="2" name="Parallelogram 1">
            <a:extLst>
              <a:ext uri="{FF2B5EF4-FFF2-40B4-BE49-F238E27FC236}">
                <a16:creationId xmlns:a16="http://schemas.microsoft.com/office/drawing/2014/main" id="{8DD63625-EACA-AD4A-8C7F-045DEBEDAC0D}"/>
              </a:ext>
            </a:extLst>
          </p:cNvPr>
          <p:cNvSpPr/>
          <p:nvPr/>
        </p:nvSpPr>
        <p:spPr>
          <a:xfrm>
            <a:off x="4937760" y="2425566"/>
            <a:ext cx="2387065" cy="914400"/>
          </a:xfrm>
          <a:prstGeom prst="parallelogram">
            <a:avLst/>
          </a:prstGeom>
          <a:solidFill>
            <a:schemeClr val="bg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8CC014-7172-0B4E-BDF1-0EEDA8DA0274}"/>
              </a:ext>
            </a:extLst>
          </p:cNvPr>
          <p:cNvSpPr txBox="1"/>
          <p:nvPr/>
        </p:nvSpPr>
        <p:spPr>
          <a:xfrm>
            <a:off x="593767" y="1056625"/>
            <a:ext cx="5054533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AGTTGACTACTGCATACTCGT</a:t>
            </a:r>
          </a:p>
          <a:p>
            <a:r>
              <a:rPr lang="en-US" sz="2800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AGTTGACTACTGCATACTCGT</a:t>
            </a:r>
          </a:p>
          <a:p>
            <a:r>
              <a:rPr lang="en-US" sz="2800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AGTTGACTACTGCATACTCGT</a:t>
            </a:r>
          </a:p>
          <a:p>
            <a:r>
              <a:rPr lang="en-US" sz="2800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AGTAGACTACTGCATACTCGT</a:t>
            </a:r>
          </a:p>
          <a:p>
            <a:r>
              <a:rPr lang="en-US" sz="2800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TGTAGACTACTGCATACTCGT</a:t>
            </a:r>
          </a:p>
          <a:p>
            <a:r>
              <a:rPr lang="en-US" sz="2800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AGTAGACTACTGCATACTCGT</a:t>
            </a:r>
          </a:p>
          <a:p>
            <a:r>
              <a:rPr lang="en-US" sz="2800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TGTAGACTACTGCATACTCGT</a:t>
            </a:r>
          </a:p>
          <a:p>
            <a:r>
              <a:rPr lang="en-US" sz="2800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TGTTGACTACTGCATACTCGT</a:t>
            </a:r>
          </a:p>
          <a:p>
            <a:r>
              <a:rPr lang="en-US" sz="2800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AGTAGACTACTGCATACTCGT</a:t>
            </a:r>
          </a:p>
          <a:p>
            <a:r>
              <a:rPr lang="en-US" sz="2800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TGTAGACTACTGCATACTCGT</a:t>
            </a:r>
          </a:p>
          <a:p>
            <a:r>
              <a:rPr lang="en-US" sz="2800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TGTTGACTACTGCATACTCGT</a:t>
            </a:r>
          </a:p>
          <a:p>
            <a:r>
              <a:rPr lang="en-US" sz="2800" dirty="0">
                <a:latin typeface="Courier New" panose="02070309020205020404" pitchFamily="49" charset="0"/>
                <a:ea typeface="Arial Unicode MS" panose="020B0604020202020204" pitchFamily="34" charset="-128"/>
                <a:cs typeface="Courier New" panose="02070309020205020404" pitchFamily="49" charset="0"/>
              </a:rPr>
              <a:t>TGTTGACTACTGCATACTCGT</a:t>
            </a:r>
          </a:p>
        </p:txBody>
      </p:sp>
      <p:pic>
        <p:nvPicPr>
          <p:cNvPr id="14" name="Graphic 13" descr="Cow">
            <a:extLst>
              <a:ext uri="{FF2B5EF4-FFF2-40B4-BE49-F238E27FC236}">
                <a16:creationId xmlns:a16="http://schemas.microsoft.com/office/drawing/2014/main" id="{CF784612-7A8B-DD49-B774-DE6A723364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504" y="2974751"/>
            <a:ext cx="338842" cy="338842"/>
          </a:xfrm>
          <a:prstGeom prst="rect">
            <a:avLst/>
          </a:prstGeom>
        </p:spPr>
      </p:pic>
      <p:pic>
        <p:nvPicPr>
          <p:cNvPr id="15" name="Graphic 14" descr="Cow">
            <a:extLst>
              <a:ext uri="{FF2B5EF4-FFF2-40B4-BE49-F238E27FC236}">
                <a16:creationId xmlns:a16="http://schemas.microsoft.com/office/drawing/2014/main" id="{213373D8-9EED-0C4A-BF02-75A64716E74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504" y="1326730"/>
            <a:ext cx="338842" cy="338842"/>
          </a:xfrm>
          <a:prstGeom prst="rect">
            <a:avLst/>
          </a:prstGeom>
        </p:spPr>
      </p:pic>
      <p:pic>
        <p:nvPicPr>
          <p:cNvPr id="17" name="Graphic 16" descr="Cow">
            <a:extLst>
              <a:ext uri="{FF2B5EF4-FFF2-40B4-BE49-F238E27FC236}">
                <a16:creationId xmlns:a16="http://schemas.microsoft.com/office/drawing/2014/main" id="{76E73B2D-4EDA-2446-9A2E-9477E2C7AB3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504" y="2210149"/>
            <a:ext cx="338842" cy="33884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A2F97B6-3119-AA43-B5B0-D323660617A5}"/>
              </a:ext>
            </a:extLst>
          </p:cNvPr>
          <p:cNvSpPr/>
          <p:nvPr/>
        </p:nvSpPr>
        <p:spPr>
          <a:xfrm>
            <a:off x="7493331" y="1479279"/>
            <a:ext cx="3257463" cy="2898339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Graphic 17" descr="Cow">
            <a:extLst>
              <a:ext uri="{FF2B5EF4-FFF2-40B4-BE49-F238E27FC236}">
                <a16:creationId xmlns:a16="http://schemas.microsoft.com/office/drawing/2014/main" id="{075737E2-C1EE-CF40-AFD7-8FC51ACE54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375" y="4778427"/>
            <a:ext cx="338842" cy="338842"/>
          </a:xfrm>
          <a:prstGeom prst="rect">
            <a:avLst/>
          </a:prstGeom>
        </p:spPr>
      </p:pic>
      <p:pic>
        <p:nvPicPr>
          <p:cNvPr id="19" name="Graphic 18" descr="Cow">
            <a:extLst>
              <a:ext uri="{FF2B5EF4-FFF2-40B4-BE49-F238E27FC236}">
                <a16:creationId xmlns:a16="http://schemas.microsoft.com/office/drawing/2014/main" id="{B50CB5B2-F96E-6E4A-8440-51C83B6D4FE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504" y="5596705"/>
            <a:ext cx="338842" cy="338842"/>
          </a:xfrm>
          <a:prstGeom prst="rect">
            <a:avLst/>
          </a:prstGeom>
        </p:spPr>
      </p:pic>
      <p:pic>
        <p:nvPicPr>
          <p:cNvPr id="20" name="Graphic 19" descr="Cow">
            <a:extLst>
              <a:ext uri="{FF2B5EF4-FFF2-40B4-BE49-F238E27FC236}">
                <a16:creationId xmlns:a16="http://schemas.microsoft.com/office/drawing/2014/main" id="{B5C2BF80-AD66-FB48-AFD8-076ACF5F6C5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504" y="3928420"/>
            <a:ext cx="338842" cy="33884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D2FF24C-A651-6246-B47B-BD329A0ED98C}"/>
              </a:ext>
            </a:extLst>
          </p:cNvPr>
          <p:cNvSpPr/>
          <p:nvPr/>
        </p:nvSpPr>
        <p:spPr>
          <a:xfrm>
            <a:off x="593767" y="1056625"/>
            <a:ext cx="4583875" cy="87905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66329D9-1227-7843-AF76-BF12807ACDFF}"/>
              </a:ext>
            </a:extLst>
          </p:cNvPr>
          <p:cNvSpPr/>
          <p:nvPr/>
        </p:nvSpPr>
        <p:spPr>
          <a:xfrm>
            <a:off x="593766" y="1921106"/>
            <a:ext cx="4583875" cy="87905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22EE3E2-F339-064D-AEDB-63A2DC03302A}"/>
              </a:ext>
            </a:extLst>
          </p:cNvPr>
          <p:cNvSpPr/>
          <p:nvPr/>
        </p:nvSpPr>
        <p:spPr>
          <a:xfrm>
            <a:off x="593765" y="2785426"/>
            <a:ext cx="4583875" cy="87905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33AEF3D-BC64-FD45-814E-23231BBA6FA7}"/>
              </a:ext>
            </a:extLst>
          </p:cNvPr>
          <p:cNvSpPr/>
          <p:nvPr/>
        </p:nvSpPr>
        <p:spPr>
          <a:xfrm>
            <a:off x="593764" y="3630190"/>
            <a:ext cx="4583875" cy="87905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EACF5ED-A23A-9540-AD68-50E9E0A74E8E}"/>
              </a:ext>
            </a:extLst>
          </p:cNvPr>
          <p:cNvSpPr/>
          <p:nvPr/>
        </p:nvSpPr>
        <p:spPr>
          <a:xfrm>
            <a:off x="593764" y="4482635"/>
            <a:ext cx="4583875" cy="87905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7C0DE2F-7925-8244-857B-13A3532CA626}"/>
              </a:ext>
            </a:extLst>
          </p:cNvPr>
          <p:cNvSpPr/>
          <p:nvPr/>
        </p:nvSpPr>
        <p:spPr>
          <a:xfrm>
            <a:off x="593763" y="5326600"/>
            <a:ext cx="4583875" cy="87905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2DEFDD-1584-524E-8C05-2D63C38304B6}"/>
              </a:ext>
            </a:extLst>
          </p:cNvPr>
          <p:cNvSpPr txBox="1"/>
          <p:nvPr/>
        </p:nvSpPr>
        <p:spPr>
          <a:xfrm>
            <a:off x="7584846" y="4377618"/>
            <a:ext cx="30744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AA                   AT                      TT</a:t>
            </a:r>
          </a:p>
        </p:txBody>
      </p:sp>
      <p:pic>
        <p:nvPicPr>
          <p:cNvPr id="26" name="Graphic 25" descr="Cow">
            <a:extLst>
              <a:ext uri="{FF2B5EF4-FFF2-40B4-BE49-F238E27FC236}">
                <a16:creationId xmlns:a16="http://schemas.microsoft.com/office/drawing/2014/main" id="{C93891AE-9048-234A-AF49-7939E4D500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23018" y="3994441"/>
            <a:ext cx="338842" cy="338842"/>
          </a:xfrm>
          <a:prstGeom prst="rect">
            <a:avLst/>
          </a:prstGeom>
        </p:spPr>
      </p:pic>
      <p:pic>
        <p:nvPicPr>
          <p:cNvPr id="27" name="Graphic 26" descr="Cow">
            <a:extLst>
              <a:ext uri="{FF2B5EF4-FFF2-40B4-BE49-F238E27FC236}">
                <a16:creationId xmlns:a16="http://schemas.microsoft.com/office/drawing/2014/main" id="{29D8598B-5783-6640-BB49-437DBF6A38C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52312" y="1402254"/>
            <a:ext cx="338842" cy="338842"/>
          </a:xfrm>
          <a:prstGeom prst="rect">
            <a:avLst/>
          </a:prstGeom>
        </p:spPr>
      </p:pic>
      <p:pic>
        <p:nvPicPr>
          <p:cNvPr id="28" name="Graphic 27" descr="Cow">
            <a:extLst>
              <a:ext uri="{FF2B5EF4-FFF2-40B4-BE49-F238E27FC236}">
                <a16:creationId xmlns:a16="http://schemas.microsoft.com/office/drawing/2014/main" id="{EE5E2AC9-8F72-5447-B59C-A04C7396D38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83829" y="2664397"/>
            <a:ext cx="338842" cy="33884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39D3221-4626-A242-9E52-926DB708DC62}"/>
              </a:ext>
            </a:extLst>
          </p:cNvPr>
          <p:cNvSpPr txBox="1"/>
          <p:nvPr/>
        </p:nvSpPr>
        <p:spPr>
          <a:xfrm rot="16200000">
            <a:off x="6752037" y="2649152"/>
            <a:ext cx="11132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coat color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A572D2B-5D70-2F4E-808A-8D854F150189}"/>
              </a:ext>
            </a:extLst>
          </p:cNvPr>
          <p:cNvSpPr/>
          <p:nvPr/>
        </p:nvSpPr>
        <p:spPr>
          <a:xfrm>
            <a:off x="1280887" y="1062231"/>
            <a:ext cx="320637" cy="5149028"/>
          </a:xfrm>
          <a:prstGeom prst="rect">
            <a:avLst/>
          </a:prstGeom>
          <a:solidFill>
            <a:srgbClr val="FF2600">
              <a:alpha val="9804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A9508976-1ACE-E642-90A5-140C7BBD666B}"/>
              </a:ext>
            </a:extLst>
          </p:cNvPr>
          <p:cNvSpPr/>
          <p:nvPr/>
        </p:nvSpPr>
        <p:spPr>
          <a:xfrm>
            <a:off x="10322572" y="1540446"/>
            <a:ext cx="193862" cy="190211"/>
          </a:xfrm>
          <a:prstGeom prst="ellipse">
            <a:avLst/>
          </a:prstGeom>
          <a:solidFill>
            <a:schemeClr val="tx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9675608C-F0C4-5F4B-B4F8-ACB6F7106BE9}"/>
              </a:ext>
            </a:extLst>
          </p:cNvPr>
          <p:cNvSpPr/>
          <p:nvPr/>
        </p:nvSpPr>
        <p:spPr>
          <a:xfrm>
            <a:off x="8906912" y="2793481"/>
            <a:ext cx="193862" cy="190211"/>
          </a:xfrm>
          <a:prstGeom prst="ellipse">
            <a:avLst/>
          </a:prstGeom>
          <a:solidFill>
            <a:schemeClr val="tx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133F94CF-76BE-454C-9126-2884279AABD7}"/>
              </a:ext>
            </a:extLst>
          </p:cNvPr>
          <p:cNvSpPr/>
          <p:nvPr/>
        </p:nvSpPr>
        <p:spPr>
          <a:xfrm>
            <a:off x="9100774" y="2793481"/>
            <a:ext cx="193862" cy="190211"/>
          </a:xfrm>
          <a:prstGeom prst="ellipse">
            <a:avLst/>
          </a:prstGeom>
          <a:solidFill>
            <a:schemeClr val="tx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846B36F6-3C9C-AC4A-B670-8F19E2943220}"/>
              </a:ext>
            </a:extLst>
          </p:cNvPr>
          <p:cNvSpPr/>
          <p:nvPr/>
        </p:nvSpPr>
        <p:spPr>
          <a:xfrm>
            <a:off x="7803465" y="4089098"/>
            <a:ext cx="193862" cy="190211"/>
          </a:xfrm>
          <a:prstGeom prst="ellipse">
            <a:avLst/>
          </a:prstGeom>
          <a:solidFill>
            <a:schemeClr val="tx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5DA3ACB1-3244-E44F-8641-F31CA43D09C8}"/>
              </a:ext>
            </a:extLst>
          </p:cNvPr>
          <p:cNvSpPr/>
          <p:nvPr/>
        </p:nvSpPr>
        <p:spPr>
          <a:xfrm>
            <a:off x="7624200" y="4092302"/>
            <a:ext cx="193862" cy="190211"/>
          </a:xfrm>
          <a:prstGeom prst="ellipse">
            <a:avLst/>
          </a:prstGeom>
          <a:solidFill>
            <a:schemeClr val="tx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38689A32-5422-9B42-9931-04FF187361F2}"/>
              </a:ext>
            </a:extLst>
          </p:cNvPr>
          <p:cNvSpPr/>
          <p:nvPr/>
        </p:nvSpPr>
        <p:spPr>
          <a:xfrm>
            <a:off x="10514764" y="1533175"/>
            <a:ext cx="193862" cy="190211"/>
          </a:xfrm>
          <a:prstGeom prst="ellipse">
            <a:avLst/>
          </a:prstGeom>
          <a:solidFill>
            <a:schemeClr val="tx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467398AB-5E5A-DE45-BAF2-8856941C91F4}"/>
              </a:ext>
            </a:extLst>
          </p:cNvPr>
          <p:cNvCxnSpPr>
            <a:cxnSpLocks/>
            <a:stCxn id="36" idx="7"/>
            <a:endCxn id="37" idx="2"/>
          </p:cNvCxnSpPr>
          <p:nvPr/>
        </p:nvCxnSpPr>
        <p:spPr>
          <a:xfrm flipV="1">
            <a:off x="7789672" y="1628281"/>
            <a:ext cx="2725092" cy="2491877"/>
          </a:xfrm>
          <a:prstGeom prst="line">
            <a:avLst/>
          </a:prstGeom>
          <a:ln w="38100">
            <a:solidFill>
              <a:srgbClr val="C00000"/>
            </a:solidFill>
            <a:prstDash val="sys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DE384BB-1384-CF45-A070-859FF17D4A22}"/>
              </a:ext>
            </a:extLst>
          </p:cNvPr>
          <p:cNvSpPr txBox="1"/>
          <p:nvPr/>
        </p:nvSpPr>
        <p:spPr>
          <a:xfrm>
            <a:off x="8749364" y="3542097"/>
            <a:ext cx="1850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Highly significant!</a:t>
            </a:r>
          </a:p>
        </p:txBody>
      </p:sp>
    </p:spTree>
    <p:extLst>
      <p:ext uri="{BB962C8B-B14F-4D97-AF65-F5344CB8AC3E}">
        <p14:creationId xmlns:p14="http://schemas.microsoft.com/office/powerpoint/2010/main" val="1285600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C0BBE3C-59E5-F448-8B16-6573F317B827}"/>
              </a:ext>
            </a:extLst>
          </p:cNvPr>
          <p:cNvSpPr txBox="1"/>
          <p:nvPr/>
        </p:nvSpPr>
        <p:spPr>
          <a:xfrm>
            <a:off x="0" y="-1"/>
            <a:ext cx="12192000" cy="677108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endParaRPr lang="en-US" sz="1000" dirty="0"/>
          </a:p>
          <a:p>
            <a:pPr algn="ctr"/>
            <a:r>
              <a:rPr lang="en-US" sz="2800" b="1" dirty="0">
                <a:solidFill>
                  <a:schemeClr val="bg1"/>
                </a:solidFill>
              </a:rPr>
              <a:t>GWAS - Problems </a:t>
            </a:r>
            <a:endParaRPr lang="en-US" sz="1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5311012-32F9-3442-98AD-056B8611C318}"/>
              </a:ext>
            </a:extLst>
          </p:cNvPr>
          <p:cNvSpPr txBox="1"/>
          <p:nvPr/>
        </p:nvSpPr>
        <p:spPr>
          <a:xfrm>
            <a:off x="344384" y="772388"/>
            <a:ext cx="11503232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What is the problem with doing this across the whole genome?</a:t>
            </a:r>
          </a:p>
          <a:p>
            <a:endParaRPr lang="en-US" sz="2400" b="1" dirty="0"/>
          </a:p>
          <a:p>
            <a:r>
              <a:rPr lang="en-US" sz="2400" b="1" dirty="0"/>
              <a:t>Multiple tests lead to more false positives!</a:t>
            </a:r>
          </a:p>
          <a:p>
            <a:endParaRPr lang="en-US" sz="2400" b="1" dirty="0"/>
          </a:p>
          <a:p>
            <a:pPr marL="342900" indent="-342900">
              <a:buAutoNum type="arabicParenR"/>
            </a:pPr>
            <a:r>
              <a:rPr lang="en-US" sz="2400" dirty="0"/>
              <a:t>require a higher level of significance 5x10</a:t>
            </a:r>
            <a:r>
              <a:rPr lang="en-US" sz="2400" baseline="30000" dirty="0"/>
              <a:t>-8</a:t>
            </a:r>
          </a:p>
          <a:p>
            <a:pPr marL="342900" indent="-342900">
              <a:buAutoNum type="arabicParenR"/>
            </a:pPr>
            <a:r>
              <a:rPr lang="en-US" sz="2400" dirty="0"/>
              <a:t>only look at the very most significant</a:t>
            </a:r>
          </a:p>
          <a:p>
            <a:pPr marL="342900" indent="-342900">
              <a:buAutoNum type="arabicParenR"/>
            </a:pPr>
            <a:r>
              <a:rPr lang="en-US" sz="2400" dirty="0"/>
              <a:t>lots of more complicated approaches too!</a:t>
            </a:r>
          </a:p>
          <a:p>
            <a:pPr marL="342900" indent="-342900">
              <a:buAutoNum type="arabicParenR"/>
            </a:pPr>
            <a:endParaRPr lang="en-US" sz="2400" dirty="0"/>
          </a:p>
          <a:p>
            <a:r>
              <a:rPr lang="en-US" sz="2400" b="1" dirty="0"/>
              <a:t>What is one of the most basic requirements of almost all statistical tests?</a:t>
            </a:r>
          </a:p>
          <a:p>
            <a:endParaRPr lang="en-US" sz="2400" dirty="0"/>
          </a:p>
          <a:p>
            <a:r>
              <a:rPr lang="en-US" sz="2400" b="1" dirty="0"/>
              <a:t>Tests normally assume independence of the data points!</a:t>
            </a:r>
          </a:p>
          <a:p>
            <a:endParaRPr lang="en-US" sz="2400" b="1" dirty="0"/>
          </a:p>
          <a:p>
            <a:pPr marL="457200" indent="-457200">
              <a:buAutoNum type="arabicParenR"/>
            </a:pPr>
            <a:r>
              <a:rPr lang="en-US" sz="2400" dirty="0"/>
              <a:t>Samples from a population will be related to each other due to ancestry (trees!)</a:t>
            </a:r>
          </a:p>
          <a:p>
            <a:pPr marL="457200" indent="-457200">
              <a:buAutoNum type="arabicParenR"/>
            </a:pPr>
            <a:r>
              <a:rPr lang="en-US" sz="2400" dirty="0"/>
              <a:t>DNA sequencing is not done equally in all groups of people (western samples are usually over represented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175113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C0BBE3C-59E5-F448-8B16-6573F317B827}"/>
              </a:ext>
            </a:extLst>
          </p:cNvPr>
          <p:cNvSpPr txBox="1"/>
          <p:nvPr/>
        </p:nvSpPr>
        <p:spPr>
          <a:xfrm>
            <a:off x="0" y="-1"/>
            <a:ext cx="12192000" cy="677108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endParaRPr lang="en-US" sz="1000" dirty="0"/>
          </a:p>
          <a:p>
            <a:pPr algn="ctr"/>
            <a:r>
              <a:rPr lang="en-US" sz="2800" b="1" dirty="0">
                <a:solidFill>
                  <a:schemeClr val="bg1"/>
                </a:solidFill>
              </a:rPr>
              <a:t>GWAS - Problems </a:t>
            </a:r>
            <a:endParaRPr lang="en-US" sz="1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5311012-32F9-3442-98AD-056B8611C318}"/>
              </a:ext>
            </a:extLst>
          </p:cNvPr>
          <p:cNvSpPr txBox="1"/>
          <p:nvPr/>
        </p:nvSpPr>
        <p:spPr>
          <a:xfrm>
            <a:off x="344384" y="772388"/>
            <a:ext cx="7156974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What is epistasis?</a:t>
            </a:r>
          </a:p>
          <a:p>
            <a:endParaRPr lang="en-US" sz="2400" b="1" dirty="0"/>
          </a:p>
          <a:p>
            <a:r>
              <a:rPr lang="en-US" sz="2400" b="1" dirty="0"/>
              <a:t>It is the case where the impact of a genotype at one locus depend on the genotype at another locus!</a:t>
            </a:r>
          </a:p>
          <a:p>
            <a:endParaRPr lang="en-US" sz="2400" b="1" dirty="0"/>
          </a:p>
          <a:p>
            <a:r>
              <a:rPr lang="en-US" sz="2400" dirty="0"/>
              <a:t>To find this type of effect you would need to look at all pairs of genotypes. How many tests would we need to do then?</a:t>
            </a:r>
          </a:p>
          <a:p>
            <a:pPr marL="457200" indent="-457200">
              <a:buAutoNum type="arabicParenR"/>
            </a:pPr>
            <a:endParaRPr lang="en-US" sz="2400" dirty="0"/>
          </a:p>
          <a:p>
            <a:r>
              <a:rPr lang="en-US" sz="2400" dirty="0"/>
              <a:t>About 6 orders of magnitude more tests would be required.</a:t>
            </a:r>
          </a:p>
          <a:p>
            <a:endParaRPr lang="en-US" sz="2400" dirty="0"/>
          </a:p>
          <a:p>
            <a:r>
              <a:rPr lang="en-US" sz="2400" dirty="0"/>
              <a:t>Humans have around 4,000,000 sites that are variable like this which equates to 7,999,998,000,000</a:t>
            </a:r>
            <a:endParaRPr lang="en-US" sz="24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endParaRPr lang="en-US" sz="2400" dirty="0"/>
          </a:p>
          <a:p>
            <a:endParaRPr lang="en-US" sz="2400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30E7400-7DDF-E447-B893-8D2EF24AE5CF}"/>
              </a:ext>
            </a:extLst>
          </p:cNvPr>
          <p:cNvGrpSpPr/>
          <p:nvPr/>
        </p:nvGrpSpPr>
        <p:grpSpPr>
          <a:xfrm>
            <a:off x="7547115" y="874869"/>
            <a:ext cx="3779632" cy="3267672"/>
            <a:chOff x="6383333" y="3428999"/>
            <a:chExt cx="3779632" cy="3267672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5E4B0F3-33A8-6142-830B-6D01B1776169}"/>
                </a:ext>
              </a:extLst>
            </p:cNvPr>
            <p:cNvSpPr/>
            <p:nvPr/>
          </p:nvSpPr>
          <p:spPr>
            <a:xfrm>
              <a:off x="6905502" y="3429000"/>
              <a:ext cx="3257463" cy="2898339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ABBF505-B813-F147-9CF5-1F1252B4792A}"/>
                </a:ext>
              </a:extLst>
            </p:cNvPr>
            <p:cNvSpPr txBox="1"/>
            <p:nvPr/>
          </p:nvSpPr>
          <p:spPr>
            <a:xfrm>
              <a:off x="6997017" y="6327339"/>
              <a:ext cx="30744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AA                   AT                    TT</a:t>
              </a:r>
            </a:p>
          </p:txBody>
        </p:sp>
        <p:pic>
          <p:nvPicPr>
            <p:cNvPr id="7" name="Graphic 6" descr="Cow">
              <a:extLst>
                <a:ext uri="{FF2B5EF4-FFF2-40B4-BE49-F238E27FC236}">
                  <a16:creationId xmlns:a16="http://schemas.microsoft.com/office/drawing/2014/main" id="{21A0C142-82E4-7A4C-8781-A6268B085AC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989296" y="5509965"/>
              <a:ext cx="708167" cy="708167"/>
            </a:xfrm>
            <a:prstGeom prst="rect">
              <a:avLst/>
            </a:prstGeom>
          </p:spPr>
        </p:pic>
        <p:pic>
          <p:nvPicPr>
            <p:cNvPr id="8" name="Graphic 7" descr="Cow">
              <a:extLst>
                <a:ext uri="{FF2B5EF4-FFF2-40B4-BE49-F238E27FC236}">
                  <a16:creationId xmlns:a16="http://schemas.microsoft.com/office/drawing/2014/main" id="{094EBD3C-C967-F746-B6CC-81F48F100B1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997017" y="3429000"/>
              <a:ext cx="708167" cy="708167"/>
            </a:xfrm>
            <a:prstGeom prst="rect">
              <a:avLst/>
            </a:prstGeom>
          </p:spPr>
        </p:pic>
        <p:pic>
          <p:nvPicPr>
            <p:cNvPr id="9" name="Graphic 8" descr="Cow">
              <a:extLst>
                <a:ext uri="{FF2B5EF4-FFF2-40B4-BE49-F238E27FC236}">
                  <a16:creationId xmlns:a16="http://schemas.microsoft.com/office/drawing/2014/main" id="{5B4C7497-3504-1C49-BFE8-2F41BCAA73C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997017" y="4495253"/>
              <a:ext cx="708167" cy="708167"/>
            </a:xfrm>
            <a:prstGeom prst="rect">
              <a:avLst/>
            </a:prstGeom>
          </p:spPr>
        </p:pic>
        <p:pic>
          <p:nvPicPr>
            <p:cNvPr id="20" name="Graphic 19" descr="Cow">
              <a:extLst>
                <a:ext uri="{FF2B5EF4-FFF2-40B4-BE49-F238E27FC236}">
                  <a16:creationId xmlns:a16="http://schemas.microsoft.com/office/drawing/2014/main" id="{34A1B64B-0C56-E247-8C21-BC1F3692BEB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363281" y="3428999"/>
              <a:ext cx="708167" cy="708167"/>
            </a:xfrm>
            <a:prstGeom prst="rect">
              <a:avLst/>
            </a:prstGeom>
          </p:spPr>
        </p:pic>
        <p:pic>
          <p:nvPicPr>
            <p:cNvPr id="21" name="Graphic 20" descr="Cow">
              <a:extLst>
                <a:ext uri="{FF2B5EF4-FFF2-40B4-BE49-F238E27FC236}">
                  <a16:creationId xmlns:a16="http://schemas.microsoft.com/office/drawing/2014/main" id="{D6E74739-F3B3-EC4E-AED3-C7253A605A6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363281" y="5509965"/>
              <a:ext cx="708167" cy="708167"/>
            </a:xfrm>
            <a:prstGeom prst="rect">
              <a:avLst/>
            </a:prstGeom>
          </p:spPr>
        </p:pic>
        <p:pic>
          <p:nvPicPr>
            <p:cNvPr id="22" name="Graphic 21" descr="Cow">
              <a:extLst>
                <a:ext uri="{FF2B5EF4-FFF2-40B4-BE49-F238E27FC236}">
                  <a16:creationId xmlns:a16="http://schemas.microsoft.com/office/drawing/2014/main" id="{D5CC10BE-E1D8-404C-A6C2-5F724BA965F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9363280" y="4471689"/>
              <a:ext cx="708167" cy="708167"/>
            </a:xfrm>
            <a:prstGeom prst="rect">
              <a:avLst/>
            </a:prstGeom>
          </p:spPr>
        </p:pic>
        <p:pic>
          <p:nvPicPr>
            <p:cNvPr id="23" name="Graphic 22" descr="Cow">
              <a:extLst>
                <a:ext uri="{FF2B5EF4-FFF2-40B4-BE49-F238E27FC236}">
                  <a16:creationId xmlns:a16="http://schemas.microsoft.com/office/drawing/2014/main" id="{1E74C2B3-6EF1-A247-B795-B921D1B1C06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8185705" y="5509965"/>
              <a:ext cx="708167" cy="708167"/>
            </a:xfrm>
            <a:prstGeom prst="rect">
              <a:avLst/>
            </a:prstGeom>
          </p:spPr>
        </p:pic>
        <p:pic>
          <p:nvPicPr>
            <p:cNvPr id="24" name="Graphic 23" descr="Cow">
              <a:extLst>
                <a:ext uri="{FF2B5EF4-FFF2-40B4-BE49-F238E27FC236}">
                  <a16:creationId xmlns:a16="http://schemas.microsoft.com/office/drawing/2014/main" id="{E9BFDECE-87F0-5542-8B8E-F32D86A95F6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8180149" y="3428999"/>
              <a:ext cx="708167" cy="708167"/>
            </a:xfrm>
            <a:prstGeom prst="rect">
              <a:avLst/>
            </a:prstGeom>
          </p:spPr>
        </p:pic>
        <p:pic>
          <p:nvPicPr>
            <p:cNvPr id="25" name="Graphic 24" descr="Cow">
              <a:extLst>
                <a:ext uri="{FF2B5EF4-FFF2-40B4-BE49-F238E27FC236}">
                  <a16:creationId xmlns:a16="http://schemas.microsoft.com/office/drawing/2014/main" id="{95308BB2-1AA3-FA40-AF5D-7E6792FE2AF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8180148" y="4471689"/>
              <a:ext cx="708167" cy="708167"/>
            </a:xfrm>
            <a:prstGeom prst="rect">
              <a:avLst/>
            </a:prstGeom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9BCAB15A-352B-814F-84CF-1D3FA62FD757}"/>
                </a:ext>
              </a:extLst>
            </p:cNvPr>
            <p:cNvSpPr txBox="1"/>
            <p:nvPr/>
          </p:nvSpPr>
          <p:spPr>
            <a:xfrm>
              <a:off x="6383333" y="3595253"/>
              <a:ext cx="476412" cy="258532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GG</a:t>
              </a:r>
            </a:p>
            <a:p>
              <a:endParaRPr lang="en-US" dirty="0"/>
            </a:p>
            <a:p>
              <a:endParaRPr lang="en-US" dirty="0"/>
            </a:p>
            <a:p>
              <a:endParaRPr lang="en-US" dirty="0"/>
            </a:p>
            <a:p>
              <a:r>
                <a:rPr lang="en-US" dirty="0"/>
                <a:t>GT</a:t>
              </a:r>
            </a:p>
            <a:p>
              <a:endParaRPr lang="en-US" dirty="0"/>
            </a:p>
            <a:p>
              <a:endParaRPr lang="en-US" dirty="0"/>
            </a:p>
            <a:p>
              <a:endParaRPr lang="en-US" sz="1200" dirty="0"/>
            </a:p>
            <a:p>
              <a:r>
                <a:rPr lang="en-US" dirty="0"/>
                <a:t>TT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78581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C0BBE3C-59E5-F448-8B16-6573F317B827}"/>
              </a:ext>
            </a:extLst>
          </p:cNvPr>
          <p:cNvSpPr txBox="1"/>
          <p:nvPr/>
        </p:nvSpPr>
        <p:spPr>
          <a:xfrm>
            <a:off x="0" y="-1"/>
            <a:ext cx="12192000" cy="677108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endParaRPr lang="en-US" sz="1000" dirty="0"/>
          </a:p>
          <a:p>
            <a:pPr algn="ctr"/>
            <a:r>
              <a:rPr lang="en-US" sz="2800" b="1" dirty="0">
                <a:solidFill>
                  <a:schemeClr val="bg1"/>
                </a:solidFill>
              </a:rPr>
              <a:t>GWAS - Problems </a:t>
            </a:r>
            <a:endParaRPr lang="en-US" sz="1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5311012-32F9-3442-98AD-056B8611C318}"/>
              </a:ext>
            </a:extLst>
          </p:cNvPr>
          <p:cNvSpPr txBox="1"/>
          <p:nvPr/>
        </p:nvSpPr>
        <p:spPr>
          <a:xfrm>
            <a:off x="344383" y="772388"/>
            <a:ext cx="1061654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What about the environment?</a:t>
            </a:r>
          </a:p>
          <a:p>
            <a:endParaRPr lang="en-US" sz="2400" b="1" dirty="0"/>
          </a:p>
          <a:p>
            <a:r>
              <a:rPr lang="en-US" sz="2400" b="1" dirty="0"/>
              <a:t>Many diseases have a strong environmental component (heart disease, diabetes, cancer, etc.)</a:t>
            </a:r>
          </a:p>
          <a:p>
            <a:endParaRPr lang="en-US" sz="2400" b="1" dirty="0"/>
          </a:p>
          <a:p>
            <a:r>
              <a:rPr lang="en-US" sz="2400" dirty="0"/>
              <a:t>If these are left out of the study often what is discovered is actually genetic variation that happens to coincide with environmental factors?</a:t>
            </a:r>
          </a:p>
          <a:p>
            <a:pPr marL="457200" indent="-457200">
              <a:buAutoNum type="arabicParenR"/>
            </a:pPr>
            <a:endParaRPr lang="en-US" sz="2400" dirty="0"/>
          </a:p>
          <a:p>
            <a:r>
              <a:rPr lang="en-US" sz="2400" dirty="0"/>
              <a:t>If a disease is more common in Europeans than Africans or Asians but it is because of a lifestyle characteristic any genetic variation that is common in Europeans but rare in Africans and Asians could appear associated with the disease.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77838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12700">
          <a:solidFill>
            <a:schemeClr val="tx1"/>
          </a:solidFill>
        </a:ln>
        <a:effectLst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17329</TotalTime>
  <Words>469</Words>
  <Application>Microsoft Macintosh PowerPoint</Application>
  <PresentationFormat>Widescreen</PresentationFormat>
  <Paragraphs>114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Probability and Bayes Theorem Biology 683  Lecture 3   Heath Blackmon</dc:title>
  <dc:creator>Heath Blackmon</dc:creator>
  <cp:lastModifiedBy>Blackmon, Heath L</cp:lastModifiedBy>
  <cp:revision>193</cp:revision>
  <cp:lastPrinted>2018-01-03T17:27:34Z</cp:lastPrinted>
  <dcterms:created xsi:type="dcterms:W3CDTF">2018-01-03T17:15:04Z</dcterms:created>
  <dcterms:modified xsi:type="dcterms:W3CDTF">2025-11-04T16:11:13Z</dcterms:modified>
</cp:coreProperties>
</file>